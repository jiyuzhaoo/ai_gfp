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Lst>
  <p:notesMasterIdLst>
    <p:notesMasterId r:id="rId24"/>
  </p:notesMasterIdLst>
  <p:sldIdLst>
    <p:sldId id="331" r:id="rId3"/>
    <p:sldId id="322" r:id="rId4"/>
    <p:sldId id="326" r:id="rId5"/>
    <p:sldId id="291" r:id="rId6"/>
    <p:sldId id="294" r:id="rId7"/>
    <p:sldId id="293" r:id="rId8"/>
    <p:sldId id="339" r:id="rId9"/>
    <p:sldId id="280" r:id="rId10"/>
    <p:sldId id="347" r:id="rId11"/>
    <p:sldId id="308" r:id="rId12"/>
    <p:sldId id="281" r:id="rId13"/>
    <p:sldId id="283" r:id="rId14"/>
    <p:sldId id="340" r:id="rId15"/>
    <p:sldId id="295" r:id="rId16"/>
    <p:sldId id="343" r:id="rId17"/>
    <p:sldId id="305" r:id="rId18"/>
    <p:sldId id="346" r:id="rId19"/>
    <p:sldId id="341" r:id="rId20"/>
    <p:sldId id="348" r:id="rId21"/>
    <p:sldId id="344" r:id="rId22"/>
    <p:sldId id="33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2EAEE"/>
    <a:srgbClr val="6B799C"/>
    <a:srgbClr val="A6C1CC"/>
    <a:srgbClr val="4E5976"/>
    <a:srgbClr val="F4D973"/>
    <a:srgbClr val="D1DFE5"/>
    <a:srgbClr val="E9C57B"/>
    <a:srgbClr val="9B8E95"/>
    <a:srgbClr val="E4B7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showGuides="1">
      <p:cViewPr varScale="1">
        <p:scale>
          <a:sx n="78" d="100"/>
          <a:sy n="78" d="100"/>
        </p:scale>
        <p:origin x="672" y="43"/>
      </p:cViewPr>
      <p:guideLst>
        <p:guide orient="horz" pos="2251"/>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7559313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22509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Tree>
    <p:extLst>
      <p:ext uri="{BB962C8B-B14F-4D97-AF65-F5344CB8AC3E}">
        <p14:creationId xmlns:p14="http://schemas.microsoft.com/office/powerpoint/2010/main" val="847995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7D45-2109-D5EC-3476-BCE037E787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E73CA4-DBBE-B3F2-ACE5-A9CE1BDB3D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E6E53C-FA71-C126-1236-E88718E14652}"/>
              </a:ext>
            </a:extLst>
          </p:cNvPr>
          <p:cNvSpPr>
            <a:spLocks noGrp="1"/>
          </p:cNvSpPr>
          <p:nvPr>
            <p:ph type="body" idx="1"/>
          </p:nvPr>
        </p:nvSpPr>
        <p:spPr/>
        <p:txBody>
          <a:bodyPr/>
          <a:lstStyle/>
          <a:p>
            <a:r>
              <a:rPr lang="en-US" altLang="zh-CN" dirty="0"/>
              <a:t>https://www.ypppt.com/</a:t>
            </a:r>
            <a:endParaRPr lang="zh-CN" altLang="en-US" dirty="0"/>
          </a:p>
        </p:txBody>
      </p:sp>
    </p:spTree>
    <p:extLst>
      <p:ext uri="{BB962C8B-B14F-4D97-AF65-F5344CB8AC3E}">
        <p14:creationId xmlns:p14="http://schemas.microsoft.com/office/powerpoint/2010/main" val="821968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773748006"/>
      </p:ext>
    </p:extLst>
  </p:cSld>
  <p:clrMapOvr>
    <a:masterClrMapping/>
  </p:clrMapOvr>
  <p:transition spd="slow" advTm="0">
    <p:fade/>
  </p:transition>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569221561"/>
      </p:ext>
    </p:extLst>
  </p:cSld>
  <p:clrMapOvr>
    <a:masterClrMapping/>
  </p:clrMapOvr>
  <p:transition spd="slow" advTm="0">
    <p:fade/>
  </p:transition>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763607509"/>
      </p:ext>
    </p:extLst>
  </p:cSld>
  <p:clrMapOvr>
    <a:masterClrMapping/>
  </p:clrMapOvr>
  <p:transition spd="slow" advTm="0">
    <p:fade/>
  </p:transition>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4195943986"/>
      </p:ext>
    </p:extLst>
  </p:cSld>
  <p:clrMapOvr>
    <a:masterClrMapping/>
  </p:clrMapOvr>
  <p:transition spd="slow" advTm="0">
    <p:fade/>
  </p:transition>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009271976"/>
      </p:ext>
    </p:extLst>
  </p:cSld>
  <p:clrMapOvr>
    <a:masterClrMapping/>
  </p:clrMapOvr>
  <p:transition spd="slow" advTm="0">
    <p:fade/>
  </p:transition>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155262763"/>
      </p:ext>
    </p:extLst>
  </p:cSld>
  <p:clrMapOvr>
    <a:masterClrMapping/>
  </p:clrMapOvr>
  <p:transition spd="slow" advTm="0">
    <p:fade/>
  </p:transition>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976435147"/>
      </p:ext>
    </p:extLst>
  </p:cSld>
  <p:clrMapOvr>
    <a:masterClrMapping/>
  </p:clrMapOvr>
  <p:transition spd="slow" advTm="0">
    <p:fade/>
  </p:transition>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450806756"/>
      </p:ext>
    </p:extLst>
  </p:cSld>
  <p:clrMapOvr>
    <a:masterClrMapping/>
  </p:clrMapOvr>
  <p:transition spd="slow" advTm="0">
    <p:fade/>
  </p:transition>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998624772"/>
      </p:ext>
    </p:extLst>
  </p:cSld>
  <p:clrMapOvr>
    <a:masterClrMapping/>
  </p:clrMapOvr>
  <p:transition spd="slow" advTm="0">
    <p:fade/>
  </p:transition>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684696527"/>
      </p:ext>
    </p:extLst>
  </p:cSld>
  <p:clrMapOvr>
    <a:masterClrMapping/>
  </p:clrMapOvr>
  <p:transition spd="slow" advTm="0">
    <p:fade/>
  </p:transition>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1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150586955"/>
      </p:ext>
    </p:extLst>
  </p:cSld>
  <p:clrMapOvr>
    <a:masterClrMapping/>
  </p:clrMapOvr>
  <p:transition spd="slow" advTm="0">
    <p:fade/>
  </p:transition>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1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905747598"/>
      </p:ext>
    </p:extLst>
  </p:cSld>
  <p:clrMapOvr>
    <a:masterClrMapping/>
  </p:clrMapOvr>
  <p:transition spd="slow" advTm="0">
    <p:fade/>
  </p:transition>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1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375090263"/>
      </p:ext>
    </p:extLst>
  </p:cSld>
  <p:clrMapOvr>
    <a:masterClrMapping/>
  </p:clrMapOvr>
  <p:transition spd="slow" advTm="0">
    <p:fade/>
  </p:transition>
  <p:hf sldNum="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1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259429623"/>
      </p:ext>
    </p:extLst>
  </p:cSld>
  <p:clrMapOvr>
    <a:masterClrMapping/>
  </p:clrMapOvr>
  <p:transition spd="slow" advTm="0">
    <p:fade/>
  </p:transition>
  <p:hf sldNum="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1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99502386"/>
      </p:ext>
    </p:extLst>
  </p:cSld>
  <p:clrMapOvr>
    <a:masterClrMapping/>
  </p:clrMapOvr>
  <p:transition spd="slow" advTm="0">
    <p:fade/>
  </p:transition>
  <p:hf sldNum="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545507688"/>
      </p:ext>
    </p:extLst>
  </p:cSld>
  <p:clrMapOvr>
    <a:masterClrMapping/>
  </p:clrMapOvr>
  <p:transition spd="slow" advTm="0">
    <p:fade/>
  </p:transition>
  <p:hf sldNum="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1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387770381"/>
      </p:ext>
    </p:extLst>
  </p:cSld>
  <p:clrMapOvr>
    <a:masterClrMapping/>
  </p:clrMapOvr>
  <p:transition spd="slow" advTm="0">
    <p:fade/>
  </p:transition>
  <p:hf sldNum="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1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733456728"/>
      </p:ext>
    </p:extLst>
  </p:cSld>
  <p:clrMapOvr>
    <a:masterClrMapping/>
  </p:clrMapOvr>
  <p:transition spd="slow" advTm="0">
    <p:fade/>
  </p:transition>
  <p:hf sldNum="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1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584235984"/>
      </p:ext>
    </p:extLst>
  </p:cSld>
  <p:clrMapOvr>
    <a:masterClrMapping/>
  </p:clrMapOvr>
  <p:transition spd="slow" advTm="0">
    <p:fade/>
  </p:transition>
  <p:hf sldNum="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2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905753051"/>
      </p:ext>
    </p:extLst>
  </p:cSld>
  <p:clrMapOvr>
    <a:masterClrMapping/>
  </p:clrMapOvr>
  <p:transition spd="slow" advTm="0">
    <p:fade/>
  </p:transition>
  <p:hf sldNum="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2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031430431"/>
      </p:ext>
    </p:extLst>
  </p:cSld>
  <p:clrMapOvr>
    <a:masterClrMapping/>
  </p:clrMapOvr>
  <p:transition spd="slow" advTm="0">
    <p:fade/>
  </p:transition>
  <p:hf sldNum="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2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399693400"/>
      </p:ext>
    </p:extLst>
  </p:cSld>
  <p:clrMapOvr>
    <a:masterClrMapping/>
  </p:clrMapOvr>
  <p:transition spd="slow" advTm="0">
    <p:fade/>
  </p:transition>
  <p:hf sldNum="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2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025132396"/>
      </p:ext>
    </p:extLst>
  </p:cSld>
  <p:clrMapOvr>
    <a:masterClrMapping/>
  </p:clrMapOvr>
  <p:transition spd="slow" advTm="0">
    <p:fade/>
  </p:transition>
  <p:hf sldNum="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2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275242766"/>
      </p:ext>
    </p:extLst>
  </p:cSld>
  <p:clrMapOvr>
    <a:masterClrMapping/>
  </p:clrMapOvr>
  <p:transition spd="slow" advTm="0">
    <p:fade/>
  </p:transition>
  <p:hf sldNum="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2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1573202522"/>
      </p:ext>
    </p:extLst>
  </p:cSld>
  <p:clrMapOvr>
    <a:masterClrMapping/>
  </p:clrMapOvr>
  <p:transition spd="slow" advTm="0">
    <p:fade/>
  </p:transition>
  <p:hf sldNum="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2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582197605"/>
      </p:ext>
    </p:extLst>
  </p:cSld>
  <p:clrMapOvr>
    <a:masterClrMapping/>
  </p:clrMapOvr>
  <p:transition spd="slow" advTm="0">
    <p:fade/>
  </p:transition>
  <p:hf sldNum="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2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399635342"/>
      </p:ext>
    </p:extLst>
  </p:cSld>
  <p:clrMapOvr>
    <a:masterClrMapping/>
  </p:clrMapOvr>
  <p:transition spd="slow" advTm="0">
    <p:fade/>
  </p:transition>
  <p:hf sldNum="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2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619835788"/>
      </p:ext>
    </p:extLst>
  </p:cSld>
  <p:clrMapOvr>
    <a:masterClrMapping/>
  </p:clrMapOvr>
  <p:transition spd="slow" advTm="0">
    <p:fade/>
  </p:transition>
  <p:hf sldNum="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2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4269653125"/>
      </p:ext>
    </p:extLst>
  </p:cSld>
  <p:clrMapOvr>
    <a:masterClrMapping/>
  </p:clrMapOvr>
  <p:transition spd="slow" advTm="0">
    <p:fade/>
  </p:transition>
  <p:hf sldNum="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30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757323079"/>
      </p:ext>
    </p:extLst>
  </p:cSld>
  <p:clrMapOvr>
    <a:masterClrMapping/>
  </p:clrMapOvr>
  <p:transition spd="slow" advTm="0">
    <p:fade/>
  </p:transition>
  <p:hf sldNum="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3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527974101"/>
      </p:ext>
    </p:extLst>
  </p:cSld>
  <p:clrMapOvr>
    <a:masterClrMapping/>
  </p:clrMapOvr>
  <p:transition spd="slow" advTm="0">
    <p:fade/>
  </p:transition>
  <p:hf sldNum="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3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597685131"/>
      </p:ext>
    </p:extLst>
  </p:cSld>
  <p:clrMapOvr>
    <a:masterClrMapping/>
  </p:clrMapOvr>
  <p:transition spd="slow" advTm="0">
    <p:fade/>
  </p:transition>
  <p:hf sldNum="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3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643181157"/>
      </p:ext>
    </p:extLst>
  </p:cSld>
  <p:clrMapOvr>
    <a:masterClrMapping/>
  </p:clrMapOvr>
  <p:transition spd="slow" advTm="0">
    <p:fade/>
  </p:transition>
  <p:hf sldNum="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34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291811229"/>
      </p:ext>
    </p:extLst>
  </p:cSld>
  <p:clrMapOvr>
    <a:masterClrMapping/>
  </p:clrMapOvr>
  <p:transition spd="slow" advTm="0">
    <p:fade/>
  </p:transition>
  <p:hf sldNum="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35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822288328"/>
      </p:ext>
    </p:extLst>
  </p:cSld>
  <p:clrMapOvr>
    <a:masterClrMapping/>
  </p:clrMapOvr>
  <p:transition spd="slow" advTm="0">
    <p:fade/>
  </p:transition>
  <p:hf sldNum="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36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381726412"/>
      </p:ext>
    </p:extLst>
  </p:cSld>
  <p:clrMapOvr>
    <a:masterClrMapping/>
  </p:clrMapOvr>
  <p:transition spd="slow" advTm="0">
    <p:fade/>
  </p:transition>
  <p:hf sldNum="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37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864451366"/>
      </p:ext>
    </p:extLst>
  </p:cSld>
  <p:clrMapOvr>
    <a:masterClrMapping/>
  </p:clrMapOvr>
  <p:transition spd="slow" advTm="0">
    <p:fade/>
  </p:transition>
  <p:hf sldNum="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3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Tree>
    <p:extLst>
      <p:ext uri="{BB962C8B-B14F-4D97-AF65-F5344CB8AC3E}">
        <p14:creationId xmlns:p14="http://schemas.microsoft.com/office/powerpoint/2010/main" val="2731612174"/>
      </p:ext>
    </p:extLst>
  </p:cSld>
  <p:clrMapOvr>
    <a:masterClrMapping/>
  </p:clrMapOvr>
  <p:transition spd="slow" advTm="0">
    <p:fade/>
  </p:transition>
  <p:hf sldNum="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39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5CD576-8431-4E6B-AEC4-8EFFDAD12AA0}" type="slidenum">
              <a:rPr lang="zh-CN" altLang="en-US" smtClean="0"/>
              <a:t>‹#›</a:t>
            </a:fld>
            <a:endParaRPr lang="zh-CN" altLang="en-US"/>
          </a:p>
        </p:txBody>
      </p:sp>
      <p:sp>
        <p:nvSpPr>
          <p:cNvPr id="10" name="TextBox 9"/>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672118305"/>
      </p:ext>
    </p:extLst>
  </p:cSld>
  <p:clrMapOvr>
    <a:masterClrMapping/>
  </p:clrMapOvr>
  <p:transition spd="slow" advTm="0">
    <p:fade/>
  </p:transition>
  <p:hf sldNum="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5CD576-8431-4E6B-AEC4-8EFFDAD12AA0}" type="slidenum">
              <a:rPr lang="zh-CN" altLang="en-US" smtClean="0"/>
              <a:t>‹#›</a:t>
            </a:fld>
            <a:endParaRPr lang="zh-CN" altLang="en-US"/>
          </a:p>
        </p:txBody>
      </p:sp>
    </p:spTree>
  </p:cSld>
  <p:clrMapOvr>
    <a:masterClrMapping/>
  </p:clrMapOvr>
  <p:transition spd="slow" advTm="0">
    <p:fade/>
  </p:transition>
  <p:hf sldNum="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2025/5/23</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248965504"/>
      </p:ext>
    </p:extLst>
  </p:cSld>
  <p:clrMapOvr>
    <a:masterClrMapping/>
  </p:clrMapOvr>
  <p:transition spd="slow" advTm="0">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2025/5/23</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36584252"/>
      </p:ext>
    </p:extLst>
  </p:cSld>
  <p:clrMapOvr>
    <a:masterClrMapping/>
  </p:clrMapOvr>
  <p:transition spd="slow" advTm="0">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8089006"/>
      </p:ext>
    </p:extLst>
  </p:cSld>
  <p:clrMapOvr>
    <a:masterClrMapping/>
  </p:clrMapOvr>
  <p:transition spd="slow" advTm="0">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FCDECF-DF34-4B68-9452-F3DE9B32C1C4}" type="datetimeFigureOut">
              <a:rPr lang="zh-CN" altLang="en-US" smtClean="0"/>
              <a:t>2025/5/23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CD576-8431-4E6B-AEC4-8EFFDAD12AA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 id="2147483695" r:id="rId41"/>
    <p:sldLayoutId id="2147483696" r:id="rId42"/>
    <p:sldLayoutId id="2147483697" r:id="rId43"/>
    <p:sldLayoutId id="2147483698" r:id="rId44"/>
    <p:sldLayoutId id="2147483654" r:id="rId45"/>
    <p:sldLayoutId id="2147483655" r:id="rId46"/>
    <p:sldLayoutId id="2147483656" r:id="rId47"/>
    <p:sldLayoutId id="2147483657" r:id="rId48"/>
    <p:sldLayoutId id="2147483658" r:id="rId49"/>
    <p:sldLayoutId id="2147483659" r:id="rId50"/>
  </p:sldLayoutIdLst>
  <p:transition spd="slow" advTm="0">
    <p:fade/>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668017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Lst>
  <p:transition spd="slow" advTm="0">
    <p:fad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6.xml"/><Relationship Id="rId6" Type="http://schemas.openxmlformats.org/officeDocument/2006/relationships/image" Target="../media/image5.jpg"/><Relationship Id="rId5" Type="http://schemas.microsoft.com/office/2007/relationships/hdphoto" Target="../media/hdphoto1.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46.xml"/><Relationship Id="rId1" Type="http://schemas.openxmlformats.org/officeDocument/2006/relationships/tags" Target="../tags/tag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6.xml"/><Relationship Id="rId5" Type="http://schemas.openxmlformats.org/officeDocument/2006/relationships/image" Target="../media/image22.gif"/><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46.xml"/><Relationship Id="rId6" Type="http://schemas.openxmlformats.org/officeDocument/2006/relationships/image" Target="../media/image27.png"/><Relationship Id="rId5" Type="http://schemas.openxmlformats.org/officeDocument/2006/relationships/image" Target="../media/image26.jpg"/><Relationship Id="rId4" Type="http://schemas.openxmlformats.org/officeDocument/2006/relationships/image" Target="../media/image2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0464800" y="1077368"/>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9323522" y="80428"/>
            <a:ext cx="268536" cy="268536"/>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9456891" y="-132488"/>
            <a:ext cx="447040" cy="44704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0274265" y="94323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957752" y="1435249"/>
            <a:ext cx="10338292" cy="4524315"/>
          </a:xfrm>
          <a:prstGeom prst="rect">
            <a:avLst/>
          </a:prstGeom>
          <a:noFill/>
        </p:spPr>
        <p:txBody>
          <a:bodyPr wrap="square" rtlCol="0">
            <a:spAutoFit/>
          </a:bodyPr>
          <a:lstStyle/>
          <a:p>
            <a:pPr algn="ctr"/>
            <a:r>
              <a:rPr lang="zh-CN" altLang="en-US" sz="7200" spc="600" dirty="0">
                <a:solidFill>
                  <a:srgbClr val="6B799C"/>
                </a:solidFill>
                <a:latin typeface="宋体" panose="02010600030101010101" pitchFamily="2" charset="-122"/>
                <a:ea typeface="宋体" panose="02010600030101010101" pitchFamily="2" charset="-122"/>
                <a:cs typeface="+mn-ea"/>
                <a:sym typeface="+mn-lt"/>
              </a:rPr>
              <a:t>荧算未来</a:t>
            </a:r>
            <a:endParaRPr lang="en-US" altLang="zh-CN" sz="7200" spc="600" dirty="0">
              <a:solidFill>
                <a:srgbClr val="6B799C"/>
              </a:solidFill>
              <a:latin typeface="宋体" panose="02010600030101010101" pitchFamily="2" charset="-122"/>
              <a:ea typeface="宋体" panose="02010600030101010101" pitchFamily="2" charset="-122"/>
              <a:cs typeface="+mn-ea"/>
              <a:sym typeface="+mn-lt"/>
            </a:endParaRPr>
          </a:p>
          <a:p>
            <a:pPr algn="ctr"/>
            <a:r>
              <a:rPr lang="en-US" altLang="zh-CN" sz="7200" spc="600" dirty="0">
                <a:solidFill>
                  <a:srgbClr val="6B799C"/>
                </a:solidFill>
                <a:latin typeface="宋体" panose="02010600030101010101" pitchFamily="2" charset="-122"/>
                <a:ea typeface="宋体" panose="02010600030101010101" pitchFamily="2" charset="-122"/>
                <a:cs typeface="+mn-ea"/>
                <a:sym typeface="+mn-lt"/>
              </a:rPr>
              <a:t>—AI</a:t>
            </a:r>
            <a:r>
              <a:rPr lang="zh-CN" altLang="en-US" sz="7200" spc="600" dirty="0">
                <a:solidFill>
                  <a:srgbClr val="6B799C"/>
                </a:solidFill>
                <a:latin typeface="宋体" panose="02010600030101010101" pitchFamily="2" charset="-122"/>
                <a:ea typeface="宋体" panose="02010600030101010101" pitchFamily="2" charset="-122"/>
                <a:cs typeface="+mn-ea"/>
                <a:sym typeface="+mn-lt"/>
              </a:rPr>
              <a:t>蛋白设计竞赛（“贝克曼”杯）</a:t>
            </a:r>
          </a:p>
          <a:p>
            <a:pPr algn="ctr"/>
            <a:endParaRPr lang="zh-CN" altLang="en-US" sz="7200" spc="600" dirty="0">
              <a:solidFill>
                <a:srgbClr val="6B799C"/>
              </a:solidFill>
              <a:cs typeface="+mn-ea"/>
              <a:sym typeface="+mn-lt"/>
            </a:endParaRPr>
          </a:p>
        </p:txBody>
      </p:sp>
      <p:grpSp>
        <p:nvGrpSpPr>
          <p:cNvPr id="13" name="组合 12"/>
          <p:cNvGrpSpPr/>
          <p:nvPr/>
        </p:nvGrpSpPr>
        <p:grpSpPr>
          <a:xfrm>
            <a:off x="4292448" y="5122227"/>
            <a:ext cx="3668901" cy="505060"/>
            <a:chOff x="6126238" y="4571512"/>
            <a:chExt cx="2707044" cy="505060"/>
          </a:xfrm>
        </p:grpSpPr>
        <p:sp>
          <p:nvSpPr>
            <p:cNvPr id="14" name="矩形: 圆角 13"/>
            <p:cNvSpPr/>
            <p:nvPr/>
          </p:nvSpPr>
          <p:spPr>
            <a:xfrm>
              <a:off x="6126238" y="4571512"/>
              <a:ext cx="2707044" cy="505060"/>
            </a:xfrm>
            <a:prstGeom prst="roundRect">
              <a:avLst>
                <a:gd name="adj" fmla="val 50000"/>
              </a:avLst>
            </a:prstGeom>
            <a:solidFill>
              <a:srgbClr val="6B799C"/>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15" name="文本框 14"/>
            <p:cNvSpPr txBox="1"/>
            <p:nvPr/>
          </p:nvSpPr>
          <p:spPr>
            <a:xfrm>
              <a:off x="6155409" y="4670294"/>
              <a:ext cx="2578360" cy="400110"/>
            </a:xfrm>
            <a:prstGeom prst="rect">
              <a:avLst/>
            </a:prstGeom>
            <a:noFill/>
          </p:spPr>
          <p:txBody>
            <a:bodyPr wrap="square" rtlCol="0">
              <a:spAutoFit/>
            </a:bodyPr>
            <a:lstStyle>
              <a:defPPr>
                <a:defRPr lang="zh-CN"/>
              </a:defPPr>
              <a:lvl1pPr algn="ctr">
                <a:defRPr sz="6600" spc="300">
                  <a:solidFill>
                    <a:schemeClr val="tx2">
                      <a:lumMod val="75000"/>
                    </a:schemeClr>
                  </a:solidFill>
                  <a:latin typeface="思源宋体 CN Medium" panose="02020500000000000000" pitchFamily="18" charset="-122"/>
                  <a:ea typeface="思源宋体 CN Medium" panose="02020500000000000000" pitchFamily="18" charset="-122"/>
                </a:defRPr>
              </a:lvl1pPr>
            </a:lstStyle>
            <a:p>
              <a:r>
                <a:rPr lang="zh-CN" altLang="en-US" sz="2000" dirty="0">
                  <a:solidFill>
                    <a:schemeClr val="bg1"/>
                  </a:solidFill>
                  <a:latin typeface="+mn-lt"/>
                  <a:ea typeface="+mn-ea"/>
                  <a:cs typeface="+mn-ea"/>
                  <a:sym typeface="+mn-lt"/>
                </a:rPr>
                <a:t>汇报人：荧光蛋白设计队</a:t>
              </a:r>
            </a:p>
          </p:txBody>
        </p:sp>
      </p:grpSp>
      <p:sp>
        <p:nvSpPr>
          <p:cNvPr id="16" name="矩形 1"/>
          <p:cNvSpPr/>
          <p:nvPr/>
        </p:nvSpPr>
        <p:spPr>
          <a:xfrm>
            <a:off x="0" y="-60959"/>
            <a:ext cx="7826476" cy="5061117"/>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4D973"/>
              </a:solidFill>
              <a:cs typeface="+mn-ea"/>
              <a:sym typeface="+mn-lt"/>
            </a:endParaRPr>
          </a:p>
        </p:txBody>
      </p:sp>
      <p:sp>
        <p:nvSpPr>
          <p:cNvPr id="17" name="矩形 1"/>
          <p:cNvSpPr/>
          <p:nvPr/>
        </p:nvSpPr>
        <p:spPr>
          <a:xfrm>
            <a:off x="-713057" y="-48065"/>
            <a:ext cx="8411553" cy="4124959"/>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noFill/>
          <a:ln w="3810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21"/>
          <p:cNvSpPr/>
          <p:nvPr/>
        </p:nvSpPr>
        <p:spPr>
          <a:xfrm>
            <a:off x="4714867" y="3811696"/>
            <a:ext cx="7477132" cy="3046303"/>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p:cNvSpPr/>
          <p:nvPr/>
        </p:nvSpPr>
        <p:spPr>
          <a:xfrm>
            <a:off x="8411553" y="2899547"/>
            <a:ext cx="4814550" cy="4445359"/>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椭圆 19"/>
          <p:cNvSpPr/>
          <p:nvPr/>
        </p:nvSpPr>
        <p:spPr>
          <a:xfrm>
            <a:off x="797030" y="1893210"/>
            <a:ext cx="690880" cy="69088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8266411" y="6130238"/>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nvSpPr>
        <p:spPr>
          <a:xfrm>
            <a:off x="1742755" y="6431280"/>
            <a:ext cx="690880" cy="6908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401892" y="4826000"/>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7" name="直接连接符 6"/>
          <p:cNvCxnSpPr/>
          <p:nvPr/>
        </p:nvCxnSpPr>
        <p:spPr>
          <a:xfrm>
            <a:off x="3006868" y="4842444"/>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8E0C7709-F55F-3FE6-824B-0DBB8E5946DA}"/>
              </a:ext>
            </a:extLst>
          </p:cNvPr>
          <p:cNvSpPr txBox="1"/>
          <p:nvPr/>
        </p:nvSpPr>
        <p:spPr>
          <a:xfrm>
            <a:off x="-21906" y="5627287"/>
            <a:ext cx="6743700" cy="922020"/>
          </a:xfrm>
          <a:prstGeom prst="rect">
            <a:avLst/>
          </a:prstGeom>
          <a:noFill/>
        </p:spPr>
        <p:txBody>
          <a:bodyPr wrap="square" rtlCol="0">
            <a:spAutoFit/>
          </a:bodyPr>
          <a:lstStyle/>
          <a:p>
            <a:r>
              <a:rPr lang="zh-CN" altLang="en-US" b="1" dirty="0">
                <a:solidFill>
                  <a:schemeClr val="tx1"/>
                </a:solidFill>
              </a:rPr>
              <a:t>主办：杨晓锋实验室、</a:t>
            </a:r>
          </a:p>
          <a:p>
            <a:r>
              <a:rPr lang="zh-CN" altLang="en-US" b="1" dirty="0">
                <a:solidFill>
                  <a:schemeClr val="tx1"/>
                </a:solidFill>
              </a:rPr>
              <a:t> </a:t>
            </a:r>
            <a:r>
              <a:rPr lang="en-US" altLang="zh-CN" b="1" dirty="0">
                <a:solidFill>
                  <a:schemeClr val="tx1"/>
                </a:solidFill>
              </a:rPr>
              <a:t>         </a:t>
            </a:r>
            <a:r>
              <a:rPr lang="zh-CN" altLang="en-US" b="1" dirty="0">
                <a:solidFill>
                  <a:schemeClr val="tx1"/>
                </a:solidFill>
              </a:rPr>
              <a:t>普罗希</a:t>
            </a:r>
            <a:r>
              <a:rPr lang="en-US" altLang="zh-CN" b="1" dirty="0">
                <a:solidFill>
                  <a:schemeClr val="tx1"/>
                </a:solidFill>
              </a:rPr>
              <a:t>(</a:t>
            </a:r>
            <a:r>
              <a:rPr lang="zh-CN" altLang="en-US" b="1" dirty="0">
                <a:solidFill>
                  <a:schemeClr val="tx1"/>
                </a:solidFill>
              </a:rPr>
              <a:t>广州</a:t>
            </a:r>
            <a:r>
              <a:rPr lang="en-US" altLang="zh-CN" b="1" dirty="0">
                <a:solidFill>
                  <a:schemeClr val="tx1"/>
                </a:solidFill>
              </a:rPr>
              <a:t>)</a:t>
            </a:r>
            <a:r>
              <a:rPr lang="zh-CN" altLang="en-US" b="1" dirty="0">
                <a:solidFill>
                  <a:schemeClr val="tx1"/>
                </a:solidFill>
              </a:rPr>
              <a:t>科技有限公司</a:t>
            </a:r>
          </a:p>
          <a:p>
            <a:r>
              <a:rPr lang="zh-CN" altLang="en-US" b="1" dirty="0">
                <a:solidFill>
                  <a:schemeClr val="tx1"/>
                </a:solidFill>
              </a:rPr>
              <a:t>承办：生物科学与工程学院团委学术科技部</a:t>
            </a:r>
          </a:p>
          <a:p>
            <a:r>
              <a:rPr lang="zh-CN" altLang="en-US" b="1" dirty="0">
                <a:solidFill>
                  <a:schemeClr val="tx1"/>
                </a:solidFill>
              </a:rPr>
              <a:t> </a:t>
            </a:r>
            <a:r>
              <a:rPr lang="en-US" altLang="zh-CN" b="1" dirty="0">
                <a:solidFill>
                  <a:schemeClr val="tx1"/>
                </a:solidFill>
              </a:rPr>
              <a:t>         2023 </a:t>
            </a:r>
            <a:r>
              <a:rPr lang="zh-CN" altLang="en-US" b="1" dirty="0">
                <a:solidFill>
                  <a:schemeClr val="tx1"/>
                </a:solidFill>
              </a:rPr>
              <a:t>级生物技术（强基计划）班</a:t>
            </a:r>
          </a:p>
        </p:txBody>
      </p:sp>
      <p:pic>
        <p:nvPicPr>
          <p:cNvPr id="10" name="图片 9">
            <a:extLst>
              <a:ext uri="{FF2B5EF4-FFF2-40B4-BE49-F238E27FC236}">
                <a16:creationId xmlns:a16="http://schemas.microsoft.com/office/drawing/2014/main" id="{1E77AB6C-C665-C65A-CF5D-E95B3DF972CF}"/>
              </a:ext>
            </a:extLst>
          </p:cNvPr>
          <p:cNvPicPr>
            <a:picLocks noChangeAspect="1"/>
          </p:cNvPicPr>
          <p:nvPr/>
        </p:nvPicPr>
        <p:blipFill>
          <a:blip r:embed="rId2"/>
          <a:stretch>
            <a:fillRect/>
          </a:stretch>
        </p:blipFill>
        <p:spPr>
          <a:xfrm>
            <a:off x="10913806" y="17837"/>
            <a:ext cx="1294132" cy="1035154"/>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文本框 24"/>
          <p:cNvSpPr txBox="1"/>
          <p:nvPr/>
        </p:nvSpPr>
        <p:spPr>
          <a:xfrm>
            <a:off x="3020412" y="2001498"/>
            <a:ext cx="1244824" cy="2554545"/>
          </a:xfrm>
          <a:prstGeom prst="rect">
            <a:avLst/>
          </a:prstGeom>
          <a:noFill/>
        </p:spPr>
        <p:txBody>
          <a:bodyPr wrap="square" rtlCol="0">
            <a:spAutoFit/>
          </a:bodyPr>
          <a:lstStyle/>
          <a:p>
            <a:pPr algn="ctr"/>
            <a:r>
              <a:rPr lang="zh-CN" altLang="en-US" sz="8000" b="1" spc="300" dirty="0">
                <a:solidFill>
                  <a:srgbClr val="6B799C"/>
                </a:solidFill>
                <a:cs typeface="+mn-ea"/>
                <a:sym typeface="+mn-lt"/>
              </a:rPr>
              <a:t>目录</a:t>
            </a:r>
          </a:p>
        </p:txBody>
      </p:sp>
      <p:grpSp>
        <p:nvGrpSpPr>
          <p:cNvPr id="11" name="组合 10"/>
          <p:cNvGrpSpPr/>
          <p:nvPr/>
        </p:nvGrpSpPr>
        <p:grpSpPr>
          <a:xfrm>
            <a:off x="4939064" y="1372332"/>
            <a:ext cx="685800" cy="581891"/>
            <a:chOff x="6492086" y="1689959"/>
            <a:chExt cx="685800" cy="581891"/>
          </a:xfrm>
        </p:grpSpPr>
        <p:sp>
          <p:nvSpPr>
            <p:cNvPr id="9" name="椭圆 8"/>
            <p:cNvSpPr/>
            <p:nvPr/>
          </p:nvSpPr>
          <p:spPr>
            <a:xfrm>
              <a:off x="6544041" y="1689959"/>
              <a:ext cx="581891" cy="581891"/>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0" name="文本框 9"/>
            <p:cNvSpPr txBox="1"/>
            <p:nvPr/>
          </p:nvSpPr>
          <p:spPr>
            <a:xfrm>
              <a:off x="6492086" y="1750072"/>
              <a:ext cx="685800" cy="461665"/>
            </a:xfrm>
            <a:prstGeom prst="rect">
              <a:avLst/>
            </a:prstGeom>
            <a:noFill/>
          </p:spPr>
          <p:txBody>
            <a:bodyPr wrap="square" rtlCol="0">
              <a:spAutoFit/>
            </a:bodyPr>
            <a:lstStyle/>
            <a:p>
              <a:pPr algn="ctr"/>
              <a:r>
                <a:rPr lang="en-US" altLang="zh-CN" sz="2400" b="1" dirty="0">
                  <a:solidFill>
                    <a:schemeClr val="bg1">
                      <a:lumMod val="95000"/>
                    </a:schemeClr>
                  </a:solidFill>
                  <a:cs typeface="+mn-ea"/>
                  <a:sym typeface="+mn-lt"/>
                </a:rPr>
                <a:t>1</a:t>
              </a:r>
              <a:endParaRPr lang="zh-CN" altLang="en-US" sz="2400" b="1" dirty="0">
                <a:solidFill>
                  <a:schemeClr val="bg1">
                    <a:lumMod val="95000"/>
                  </a:schemeClr>
                </a:solidFill>
                <a:cs typeface="+mn-ea"/>
                <a:sym typeface="+mn-lt"/>
              </a:endParaRPr>
            </a:p>
          </p:txBody>
        </p:sp>
      </p:grpSp>
      <p:sp>
        <p:nvSpPr>
          <p:cNvPr id="14" name="文本框 13"/>
          <p:cNvSpPr txBox="1"/>
          <p:nvPr/>
        </p:nvSpPr>
        <p:spPr>
          <a:xfrm>
            <a:off x="5656037" y="1052431"/>
            <a:ext cx="3304310" cy="646331"/>
          </a:xfrm>
          <a:prstGeom prst="rect">
            <a:avLst/>
          </a:prstGeom>
          <a:noFill/>
        </p:spPr>
        <p:txBody>
          <a:bodyPr wrap="square" rtlCol="0">
            <a:spAutoFit/>
          </a:bodyPr>
          <a:lstStyle/>
          <a:p>
            <a:r>
              <a:rPr lang="zh-CN" altLang="en-US" sz="3600" dirty="0">
                <a:solidFill>
                  <a:srgbClr val="4E5976"/>
                </a:solidFill>
                <a:cs typeface="+mn-ea"/>
                <a:sym typeface="+mn-lt"/>
              </a:rPr>
              <a:t>引言与背景</a:t>
            </a:r>
          </a:p>
        </p:txBody>
      </p:sp>
      <p:sp>
        <p:nvSpPr>
          <p:cNvPr id="15" name="文本框 14"/>
          <p:cNvSpPr txBox="1"/>
          <p:nvPr/>
        </p:nvSpPr>
        <p:spPr>
          <a:xfrm>
            <a:off x="5624864" y="1625881"/>
            <a:ext cx="5001804" cy="338554"/>
          </a:xfrm>
          <a:prstGeom prst="rect">
            <a:avLst/>
          </a:prstGeom>
          <a:noFill/>
        </p:spPr>
        <p:txBody>
          <a:bodyPr wrap="square" rtlCol="0">
            <a:spAutoFit/>
          </a:bodyPr>
          <a:lstStyle/>
          <a:p>
            <a:r>
              <a:rPr lang="en-US" altLang="zh-CN" sz="1600" dirty="0">
                <a:solidFill>
                  <a:srgbClr val="A6C1CC"/>
                </a:solidFill>
                <a:cs typeface="+mn-ea"/>
                <a:sym typeface="+mn-lt"/>
              </a:rPr>
              <a:t>Introduction &amp; Background</a:t>
            </a:r>
            <a:endParaRPr lang="zh-CN" altLang="en-US" sz="1600" dirty="0">
              <a:solidFill>
                <a:srgbClr val="A6C1CC"/>
              </a:solidFill>
              <a:cs typeface="+mn-ea"/>
              <a:sym typeface="+mn-lt"/>
            </a:endParaRPr>
          </a:p>
        </p:txBody>
      </p:sp>
      <p:grpSp>
        <p:nvGrpSpPr>
          <p:cNvPr id="61" name="组合 60"/>
          <p:cNvGrpSpPr/>
          <p:nvPr/>
        </p:nvGrpSpPr>
        <p:grpSpPr>
          <a:xfrm>
            <a:off x="4939064" y="2636786"/>
            <a:ext cx="685800" cy="581891"/>
            <a:chOff x="6492086" y="1689959"/>
            <a:chExt cx="685800" cy="581891"/>
          </a:xfrm>
        </p:grpSpPr>
        <p:sp>
          <p:nvSpPr>
            <p:cNvPr id="64" name="椭圆 63"/>
            <p:cNvSpPr/>
            <p:nvPr/>
          </p:nvSpPr>
          <p:spPr>
            <a:xfrm>
              <a:off x="6544041" y="1689959"/>
              <a:ext cx="581891" cy="581891"/>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65" name="文本框 64"/>
            <p:cNvSpPr txBox="1"/>
            <p:nvPr/>
          </p:nvSpPr>
          <p:spPr>
            <a:xfrm>
              <a:off x="6492086" y="1750072"/>
              <a:ext cx="685800" cy="461665"/>
            </a:xfrm>
            <a:prstGeom prst="rect">
              <a:avLst/>
            </a:prstGeom>
            <a:noFill/>
          </p:spPr>
          <p:txBody>
            <a:bodyPr wrap="square" rtlCol="0">
              <a:spAutoFit/>
            </a:bodyPr>
            <a:lstStyle/>
            <a:p>
              <a:pPr algn="ctr"/>
              <a:r>
                <a:rPr lang="en-US" altLang="zh-CN" sz="2400" b="1" dirty="0">
                  <a:solidFill>
                    <a:schemeClr val="bg1">
                      <a:lumMod val="95000"/>
                    </a:schemeClr>
                  </a:solidFill>
                  <a:cs typeface="+mn-ea"/>
                  <a:sym typeface="+mn-lt"/>
                </a:rPr>
                <a:t>2</a:t>
              </a:r>
              <a:endParaRPr lang="zh-CN" altLang="en-US" sz="2400" b="1" dirty="0">
                <a:solidFill>
                  <a:schemeClr val="bg1">
                    <a:lumMod val="95000"/>
                  </a:schemeClr>
                </a:solidFill>
                <a:cs typeface="+mn-ea"/>
                <a:sym typeface="+mn-lt"/>
              </a:endParaRPr>
            </a:p>
          </p:txBody>
        </p:sp>
      </p:grpSp>
      <p:sp>
        <p:nvSpPr>
          <p:cNvPr id="62" name="文本框 61"/>
          <p:cNvSpPr txBox="1"/>
          <p:nvPr/>
        </p:nvSpPr>
        <p:spPr>
          <a:xfrm>
            <a:off x="5656037" y="2316885"/>
            <a:ext cx="3304310" cy="646331"/>
          </a:xfrm>
          <a:prstGeom prst="rect">
            <a:avLst/>
          </a:prstGeom>
          <a:noFill/>
        </p:spPr>
        <p:txBody>
          <a:bodyPr wrap="square" rtlCol="0">
            <a:spAutoFit/>
          </a:bodyPr>
          <a:lstStyle/>
          <a:p>
            <a:r>
              <a:rPr lang="zh-CN" altLang="en-US" sz="3600" dirty="0">
                <a:solidFill>
                  <a:srgbClr val="4E5976"/>
                </a:solidFill>
                <a:cs typeface="+mn-ea"/>
                <a:sym typeface="+mn-lt"/>
              </a:rPr>
              <a:t>模型设计</a:t>
            </a:r>
          </a:p>
        </p:txBody>
      </p:sp>
      <p:sp>
        <p:nvSpPr>
          <p:cNvPr id="63" name="文本框 62"/>
          <p:cNvSpPr txBox="1"/>
          <p:nvPr/>
        </p:nvSpPr>
        <p:spPr>
          <a:xfrm>
            <a:off x="5624864" y="2890335"/>
            <a:ext cx="5001804" cy="338554"/>
          </a:xfrm>
          <a:prstGeom prst="rect">
            <a:avLst/>
          </a:prstGeom>
          <a:noFill/>
        </p:spPr>
        <p:txBody>
          <a:bodyPr wrap="square" rtlCol="0">
            <a:spAutoFit/>
          </a:bodyPr>
          <a:lstStyle/>
          <a:p>
            <a:r>
              <a:rPr lang="en-US" altLang="zh-CN" sz="1600" dirty="0">
                <a:solidFill>
                  <a:srgbClr val="A6C1CC"/>
                </a:solidFill>
                <a:cs typeface="+mn-ea"/>
                <a:sym typeface="+mn-lt"/>
              </a:rPr>
              <a:t>Model Design</a:t>
            </a:r>
            <a:endParaRPr lang="zh-CN" altLang="en-US" sz="1600" dirty="0">
              <a:solidFill>
                <a:srgbClr val="A6C1CC"/>
              </a:solidFill>
              <a:cs typeface="+mn-ea"/>
              <a:sym typeface="+mn-lt"/>
            </a:endParaRPr>
          </a:p>
        </p:txBody>
      </p:sp>
      <p:grpSp>
        <p:nvGrpSpPr>
          <p:cNvPr id="67" name="组合 66"/>
          <p:cNvGrpSpPr/>
          <p:nvPr/>
        </p:nvGrpSpPr>
        <p:grpSpPr>
          <a:xfrm>
            <a:off x="4939064" y="3901240"/>
            <a:ext cx="685800" cy="581891"/>
            <a:chOff x="6492086" y="1689959"/>
            <a:chExt cx="685800" cy="581891"/>
          </a:xfrm>
        </p:grpSpPr>
        <p:sp>
          <p:nvSpPr>
            <p:cNvPr id="70" name="椭圆 69"/>
            <p:cNvSpPr/>
            <p:nvPr/>
          </p:nvSpPr>
          <p:spPr>
            <a:xfrm>
              <a:off x="6544041" y="1689959"/>
              <a:ext cx="581891" cy="581891"/>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71" name="文本框 70"/>
            <p:cNvSpPr txBox="1"/>
            <p:nvPr/>
          </p:nvSpPr>
          <p:spPr>
            <a:xfrm>
              <a:off x="6492086" y="1750072"/>
              <a:ext cx="685800" cy="461665"/>
            </a:xfrm>
            <a:prstGeom prst="rect">
              <a:avLst/>
            </a:prstGeom>
            <a:noFill/>
          </p:spPr>
          <p:txBody>
            <a:bodyPr wrap="square" rtlCol="0">
              <a:spAutoFit/>
            </a:bodyPr>
            <a:lstStyle/>
            <a:p>
              <a:pPr algn="ctr"/>
              <a:r>
                <a:rPr lang="en-US" altLang="zh-CN" sz="2400" b="1" dirty="0">
                  <a:solidFill>
                    <a:schemeClr val="bg1">
                      <a:lumMod val="95000"/>
                    </a:schemeClr>
                  </a:solidFill>
                  <a:cs typeface="+mn-ea"/>
                  <a:sym typeface="+mn-lt"/>
                </a:rPr>
                <a:t>3</a:t>
              </a:r>
              <a:endParaRPr lang="zh-CN" altLang="en-US" sz="2400" b="1" dirty="0">
                <a:solidFill>
                  <a:schemeClr val="bg1">
                    <a:lumMod val="95000"/>
                  </a:schemeClr>
                </a:solidFill>
                <a:cs typeface="+mn-ea"/>
                <a:sym typeface="+mn-lt"/>
              </a:endParaRPr>
            </a:p>
          </p:txBody>
        </p:sp>
      </p:grpSp>
      <p:sp>
        <p:nvSpPr>
          <p:cNvPr id="68" name="文本框 67"/>
          <p:cNvSpPr txBox="1"/>
          <p:nvPr/>
        </p:nvSpPr>
        <p:spPr>
          <a:xfrm>
            <a:off x="5656037" y="3584294"/>
            <a:ext cx="3304310" cy="646331"/>
          </a:xfrm>
          <a:prstGeom prst="rect">
            <a:avLst/>
          </a:prstGeom>
          <a:noFill/>
        </p:spPr>
        <p:txBody>
          <a:bodyPr wrap="square" rtlCol="0">
            <a:spAutoFit/>
          </a:bodyPr>
          <a:lstStyle/>
          <a:p>
            <a:r>
              <a:rPr lang="zh-CN" altLang="en-US" sz="3600" dirty="0">
                <a:solidFill>
                  <a:srgbClr val="4E5976"/>
                </a:solidFill>
                <a:cs typeface="+mn-ea"/>
                <a:sym typeface="+mn-lt"/>
              </a:rPr>
              <a:t>模型改进</a:t>
            </a:r>
          </a:p>
        </p:txBody>
      </p:sp>
      <p:sp>
        <p:nvSpPr>
          <p:cNvPr id="69" name="文本框 68"/>
          <p:cNvSpPr txBox="1"/>
          <p:nvPr/>
        </p:nvSpPr>
        <p:spPr>
          <a:xfrm>
            <a:off x="5624864" y="4154789"/>
            <a:ext cx="5001804" cy="338554"/>
          </a:xfrm>
          <a:prstGeom prst="rect">
            <a:avLst/>
          </a:prstGeom>
          <a:noFill/>
        </p:spPr>
        <p:txBody>
          <a:bodyPr wrap="square" rtlCol="0">
            <a:spAutoFit/>
          </a:bodyPr>
          <a:lstStyle/>
          <a:p>
            <a:r>
              <a:rPr lang="en-US" altLang="zh-CN" sz="1600" dirty="0">
                <a:solidFill>
                  <a:srgbClr val="A6C1CC"/>
                </a:solidFill>
                <a:cs typeface="+mn-ea"/>
                <a:sym typeface="+mn-lt"/>
              </a:rPr>
              <a:t>Model Improvement Strategies</a:t>
            </a:r>
            <a:endParaRPr lang="zh-CN" altLang="en-US" sz="1600" dirty="0">
              <a:solidFill>
                <a:srgbClr val="A6C1CC"/>
              </a:solidFill>
              <a:cs typeface="+mn-ea"/>
              <a:sym typeface="+mn-lt"/>
            </a:endParaRPr>
          </a:p>
        </p:txBody>
      </p:sp>
      <p:grpSp>
        <p:nvGrpSpPr>
          <p:cNvPr id="73" name="组合 72"/>
          <p:cNvGrpSpPr/>
          <p:nvPr/>
        </p:nvGrpSpPr>
        <p:grpSpPr>
          <a:xfrm>
            <a:off x="4939064" y="5165695"/>
            <a:ext cx="685800" cy="581891"/>
            <a:chOff x="6492086" y="1689959"/>
            <a:chExt cx="685800" cy="581891"/>
          </a:xfrm>
        </p:grpSpPr>
        <p:sp>
          <p:nvSpPr>
            <p:cNvPr id="76" name="椭圆 75"/>
            <p:cNvSpPr/>
            <p:nvPr/>
          </p:nvSpPr>
          <p:spPr>
            <a:xfrm>
              <a:off x="6544041" y="1689959"/>
              <a:ext cx="581891" cy="581891"/>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77" name="文本框 76"/>
            <p:cNvSpPr txBox="1"/>
            <p:nvPr/>
          </p:nvSpPr>
          <p:spPr>
            <a:xfrm>
              <a:off x="6492086" y="1750072"/>
              <a:ext cx="685800" cy="461665"/>
            </a:xfrm>
            <a:prstGeom prst="rect">
              <a:avLst/>
            </a:prstGeom>
            <a:noFill/>
          </p:spPr>
          <p:txBody>
            <a:bodyPr wrap="square" rtlCol="0">
              <a:spAutoFit/>
            </a:bodyPr>
            <a:lstStyle/>
            <a:p>
              <a:pPr algn="ctr"/>
              <a:r>
                <a:rPr lang="en-US" altLang="zh-CN" sz="2400" b="1" dirty="0">
                  <a:solidFill>
                    <a:schemeClr val="bg1">
                      <a:lumMod val="95000"/>
                    </a:schemeClr>
                  </a:solidFill>
                  <a:cs typeface="+mn-ea"/>
                  <a:sym typeface="+mn-lt"/>
                </a:rPr>
                <a:t>4</a:t>
              </a:r>
              <a:endParaRPr lang="zh-CN" altLang="en-US" sz="2400" b="1" dirty="0">
                <a:solidFill>
                  <a:schemeClr val="bg1">
                    <a:lumMod val="95000"/>
                  </a:schemeClr>
                </a:solidFill>
                <a:cs typeface="+mn-ea"/>
                <a:sym typeface="+mn-lt"/>
              </a:endParaRPr>
            </a:p>
          </p:txBody>
        </p:sp>
      </p:grpSp>
      <p:sp>
        <p:nvSpPr>
          <p:cNvPr id="74" name="文本框 73"/>
          <p:cNvSpPr txBox="1"/>
          <p:nvPr/>
        </p:nvSpPr>
        <p:spPr>
          <a:xfrm>
            <a:off x="5656037" y="4848749"/>
            <a:ext cx="3304310" cy="646331"/>
          </a:xfrm>
          <a:prstGeom prst="rect">
            <a:avLst/>
          </a:prstGeom>
          <a:noFill/>
        </p:spPr>
        <p:txBody>
          <a:bodyPr wrap="square" rtlCol="0">
            <a:spAutoFit/>
          </a:bodyPr>
          <a:lstStyle/>
          <a:p>
            <a:r>
              <a:rPr lang="zh-CN" altLang="en-US" sz="3600" dirty="0">
                <a:solidFill>
                  <a:srgbClr val="4E5976"/>
                </a:solidFill>
                <a:cs typeface="+mn-ea"/>
                <a:sym typeface="+mn-lt"/>
              </a:rPr>
              <a:t>总结</a:t>
            </a:r>
          </a:p>
        </p:txBody>
      </p:sp>
      <p:sp>
        <p:nvSpPr>
          <p:cNvPr id="75" name="文本框 74"/>
          <p:cNvSpPr txBox="1"/>
          <p:nvPr/>
        </p:nvSpPr>
        <p:spPr>
          <a:xfrm>
            <a:off x="5624864" y="5419244"/>
            <a:ext cx="5001804" cy="338554"/>
          </a:xfrm>
          <a:prstGeom prst="rect">
            <a:avLst/>
          </a:prstGeom>
          <a:noFill/>
        </p:spPr>
        <p:txBody>
          <a:bodyPr wrap="square" rtlCol="0">
            <a:spAutoFit/>
          </a:bodyPr>
          <a:lstStyle/>
          <a:p>
            <a:r>
              <a:rPr lang="en-US" altLang="zh-CN" sz="1600" dirty="0">
                <a:solidFill>
                  <a:srgbClr val="A6C1CC"/>
                </a:solidFill>
                <a:cs typeface="+mn-ea"/>
                <a:sym typeface="+mn-lt"/>
              </a:rPr>
              <a:t>Conclusion</a:t>
            </a:r>
            <a:endParaRPr lang="zh-CN" altLang="en-US" sz="1600" dirty="0">
              <a:solidFill>
                <a:srgbClr val="A6C1CC"/>
              </a:solidFill>
              <a:cs typeface="+mn-ea"/>
              <a:sym typeface="+mn-lt"/>
            </a:endParaRPr>
          </a:p>
        </p:txBody>
      </p:sp>
      <p:cxnSp>
        <p:nvCxnSpPr>
          <p:cNvPr id="3" name="直接连接符 2"/>
          <p:cNvCxnSpPr/>
          <p:nvPr/>
        </p:nvCxnSpPr>
        <p:spPr>
          <a:xfrm>
            <a:off x="4364975" y="2430382"/>
            <a:ext cx="0" cy="1583549"/>
          </a:xfrm>
          <a:prstGeom prst="line">
            <a:avLst/>
          </a:prstGeom>
          <a:ln w="15875">
            <a:solidFill>
              <a:srgbClr val="E9C57B"/>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flipH="1">
            <a:off x="3056545" y="-73785"/>
            <a:ext cx="9140537" cy="2572626"/>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1"/>
          <p:cNvSpPr/>
          <p:nvPr/>
        </p:nvSpPr>
        <p:spPr>
          <a:xfrm flipH="1">
            <a:off x="1122680" y="-106679"/>
            <a:ext cx="11175999" cy="2204690"/>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noFill/>
          <a:ln w="3810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21"/>
          <p:cNvSpPr/>
          <p:nvPr/>
        </p:nvSpPr>
        <p:spPr>
          <a:xfrm flipH="1">
            <a:off x="2648" y="3234318"/>
            <a:ext cx="7784993" cy="3623682"/>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矩形 21"/>
          <p:cNvSpPr/>
          <p:nvPr/>
        </p:nvSpPr>
        <p:spPr>
          <a:xfrm flipH="1">
            <a:off x="-106679" y="3836976"/>
            <a:ext cx="8971280" cy="3127703"/>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椭圆 7"/>
          <p:cNvSpPr/>
          <p:nvPr/>
        </p:nvSpPr>
        <p:spPr>
          <a:xfrm>
            <a:off x="4105891" y="5840511"/>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a:off x="9827228" y="357219"/>
            <a:ext cx="690880" cy="690880"/>
          </a:xfrm>
          <a:prstGeom prst="ellipse">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2544898" y="163163"/>
            <a:ext cx="388111" cy="388111"/>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197620" y="893741"/>
            <a:ext cx="690880" cy="690880"/>
          </a:xfrm>
          <a:prstGeom prst="ellipse">
            <a:avLst/>
          </a:prstGeom>
          <a:noFill/>
          <a:ln w="31750">
            <a:solidFill>
              <a:srgbClr val="6B79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11537742" y="5840511"/>
            <a:ext cx="268536" cy="268536"/>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11224970" y="5860492"/>
            <a:ext cx="447040" cy="44704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cs typeface="+mn-ea"/>
                <a:sym typeface="+mn-lt"/>
              </a:rPr>
              <a:t>行业</a:t>
            </a:r>
            <a:r>
              <a:rPr lang="en-US" altLang="zh-CN" sz="100" dirty="0">
                <a:solidFill>
                  <a:schemeClr val="tx1">
                    <a:alpha val="0"/>
                  </a:schemeClr>
                </a:solidFill>
                <a:cs typeface="+mn-ea"/>
                <a:sym typeface="+mn-lt"/>
              </a:rPr>
              <a:t>PPT</a:t>
            </a:r>
            <a:r>
              <a:rPr lang="zh-CN" altLang="en-US" sz="100" dirty="0">
                <a:solidFill>
                  <a:schemeClr val="tx1">
                    <a:alpha val="0"/>
                  </a:schemeClr>
                </a:solidFill>
                <a:cs typeface="+mn-ea"/>
                <a:sym typeface="+mn-lt"/>
              </a:rPr>
              <a:t>模板</a:t>
            </a:r>
            <a:r>
              <a:rPr lang="en-US" altLang="zh-CN" sz="100" dirty="0">
                <a:solidFill>
                  <a:schemeClr val="tx1">
                    <a:alpha val="0"/>
                  </a:schemeClr>
                </a:solidFill>
                <a:cs typeface="+mn-ea"/>
                <a:sym typeface="+mn-lt"/>
              </a:rPr>
              <a:t>http://www.1ppt.com/hangye/</a:t>
            </a:r>
          </a:p>
        </p:txBody>
      </p:sp>
      <p:sp>
        <p:nvSpPr>
          <p:cNvPr id="7" name="文本框 6"/>
          <p:cNvSpPr txBox="1"/>
          <p:nvPr/>
        </p:nvSpPr>
        <p:spPr>
          <a:xfrm>
            <a:off x="1312752" y="1140737"/>
            <a:ext cx="1457608" cy="215444"/>
          </a:xfrm>
          <a:prstGeom prst="rect">
            <a:avLst/>
          </a:prstGeom>
          <a:noFill/>
        </p:spPr>
        <p:txBody>
          <a:bodyPr wrap="square" rtlCol="0">
            <a:spAutoFit/>
          </a:bodyPr>
          <a:lstStyle/>
          <a:p>
            <a:r>
              <a:rPr lang="en-US" altLang="zh-CN" sz="800" dirty="0">
                <a:solidFill>
                  <a:srgbClr val="FFFFFF"/>
                </a:solidFill>
              </a:rPr>
              <a:t>https://www.ypppt.com/</a:t>
            </a:r>
            <a:endParaRPr lang="zh-CN" altLang="en-US" sz="800" dirty="0">
              <a:solidFill>
                <a:srgbClr val="FFFFFF"/>
              </a:solidFill>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
          <p:cNvSpPr/>
          <p:nvPr/>
        </p:nvSpPr>
        <p:spPr>
          <a:xfrm flipH="1">
            <a:off x="5953638" y="0"/>
            <a:ext cx="6238362" cy="5961618"/>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4311849" y="5757029"/>
            <a:ext cx="409180" cy="409180"/>
          </a:xfrm>
          <a:prstGeom prst="ellipse">
            <a:avLst/>
          </a:prstGeom>
          <a:noFill/>
          <a:ln w="31750">
            <a:solidFill>
              <a:srgbClr val="9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8512638" y="1209922"/>
            <a:ext cx="2956560" cy="295656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21"/>
          <p:cNvSpPr/>
          <p:nvPr/>
        </p:nvSpPr>
        <p:spPr>
          <a:xfrm flipV="1">
            <a:off x="5557520" y="-121920"/>
            <a:ext cx="6736080" cy="561515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p:cNvSpPr txBox="1"/>
          <p:nvPr/>
        </p:nvSpPr>
        <p:spPr>
          <a:xfrm>
            <a:off x="8688594" y="1364763"/>
            <a:ext cx="2604648" cy="2646878"/>
          </a:xfrm>
          <a:prstGeom prst="rect">
            <a:avLst/>
          </a:prstGeom>
          <a:noFill/>
        </p:spPr>
        <p:txBody>
          <a:bodyPr wrap="square" rtlCol="0">
            <a:spAutoFit/>
          </a:bodyPr>
          <a:lstStyle>
            <a:defPPr>
              <a:defRPr lang="zh-CN"/>
            </a:defPPr>
            <a:lvl1pPr algn="ctr">
              <a:defRPr sz="16600" b="1" spc="600">
                <a:solidFill>
                  <a:schemeClr val="bg1"/>
                </a:solidFill>
                <a:latin typeface="Arial"/>
                <a:ea typeface="微软雅黑"/>
                <a:cs typeface="Arial" panose="020B0604020202020204" pitchFamily="34" charset="0"/>
              </a:defRPr>
            </a:lvl1pPr>
          </a:lstStyle>
          <a:p>
            <a:r>
              <a:rPr lang="en-US" altLang="zh-CN" dirty="0">
                <a:latin typeface="+mn-lt"/>
                <a:ea typeface="+mn-ea"/>
                <a:cs typeface="+mn-ea"/>
                <a:sym typeface="+mn-lt"/>
              </a:rPr>
              <a:t>1</a:t>
            </a:r>
            <a:endParaRPr lang="zh-CN" altLang="en-US" dirty="0">
              <a:latin typeface="+mn-lt"/>
              <a:ea typeface="+mn-ea"/>
              <a:cs typeface="+mn-ea"/>
              <a:sym typeface="+mn-lt"/>
            </a:endParaRPr>
          </a:p>
        </p:txBody>
      </p:sp>
      <p:sp>
        <p:nvSpPr>
          <p:cNvPr id="8" name="文本框 7"/>
          <p:cNvSpPr txBox="1"/>
          <p:nvPr/>
        </p:nvSpPr>
        <p:spPr>
          <a:xfrm>
            <a:off x="1060581" y="2766564"/>
            <a:ext cx="6736080" cy="1200329"/>
          </a:xfrm>
          <a:prstGeom prst="rect">
            <a:avLst/>
          </a:prstGeom>
          <a:noFill/>
        </p:spPr>
        <p:txBody>
          <a:bodyPr wrap="square" rtlCol="0">
            <a:spAutoFit/>
          </a:bodyPr>
          <a:lstStyle/>
          <a:p>
            <a:pPr algn="r"/>
            <a:r>
              <a:rPr lang="zh-CN" altLang="en-US" sz="7200" b="1" spc="600" dirty="0">
                <a:solidFill>
                  <a:srgbClr val="4E5976"/>
                </a:solidFill>
                <a:cs typeface="+mn-ea"/>
                <a:sym typeface="+mn-lt"/>
              </a:rPr>
              <a:t>引言与背景</a:t>
            </a:r>
          </a:p>
        </p:txBody>
      </p:sp>
      <p:sp>
        <p:nvSpPr>
          <p:cNvPr id="9" name="文本框 8"/>
          <p:cNvSpPr txBox="1"/>
          <p:nvPr/>
        </p:nvSpPr>
        <p:spPr>
          <a:xfrm>
            <a:off x="671929" y="4156120"/>
            <a:ext cx="7134564" cy="338554"/>
          </a:xfrm>
          <a:prstGeom prst="rect">
            <a:avLst/>
          </a:prstGeom>
          <a:noFill/>
        </p:spPr>
        <p:txBody>
          <a:bodyPr wrap="square" rtlCol="0">
            <a:spAutoFit/>
          </a:bodyPr>
          <a:lstStyle/>
          <a:p>
            <a:pPr algn="r"/>
            <a:r>
              <a:rPr lang="en-US" altLang="zh-CN" sz="1600" dirty="0">
                <a:solidFill>
                  <a:srgbClr val="A6C1CC"/>
                </a:solidFill>
                <a:cs typeface="+mn-ea"/>
                <a:sym typeface="+mn-lt"/>
              </a:rPr>
              <a:t>Introduction &amp; Background</a:t>
            </a:r>
          </a:p>
        </p:txBody>
      </p:sp>
      <p:sp>
        <p:nvSpPr>
          <p:cNvPr id="10" name="文本框 9"/>
          <p:cNvSpPr txBox="1"/>
          <p:nvPr/>
        </p:nvSpPr>
        <p:spPr>
          <a:xfrm>
            <a:off x="4562168" y="1940692"/>
            <a:ext cx="3132565" cy="707886"/>
          </a:xfrm>
          <a:prstGeom prst="rect">
            <a:avLst/>
          </a:prstGeom>
          <a:noFill/>
          <a:ln>
            <a:noFill/>
          </a:ln>
        </p:spPr>
        <p:txBody>
          <a:bodyPr wrap="square" rtlCol="0">
            <a:spAutoFit/>
          </a:bodyPr>
          <a:lstStyle/>
          <a:p>
            <a:pPr algn="r"/>
            <a:r>
              <a:rPr lang="en-US" altLang="zh-CN" sz="4000" dirty="0">
                <a:solidFill>
                  <a:srgbClr val="A6C1CC"/>
                </a:solidFill>
                <a:cs typeface="+mn-ea"/>
                <a:sym typeface="+mn-lt"/>
              </a:rPr>
              <a:t>PART   ONE</a:t>
            </a:r>
            <a:endParaRPr lang="zh-CN" altLang="en-US" sz="4000" dirty="0">
              <a:solidFill>
                <a:srgbClr val="A6C1CC"/>
              </a:solidFill>
              <a:cs typeface="+mn-ea"/>
              <a:sym typeface="+mn-lt"/>
            </a:endParaRPr>
          </a:p>
        </p:txBody>
      </p:sp>
      <p:sp>
        <p:nvSpPr>
          <p:cNvPr id="14" name="椭圆 13"/>
          <p:cNvSpPr/>
          <p:nvPr/>
        </p:nvSpPr>
        <p:spPr>
          <a:xfrm>
            <a:off x="7997714" y="5961619"/>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10716627" y="648351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4330818" y="838680"/>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1625600" y="350894"/>
            <a:ext cx="686280" cy="6862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237318" y="985323"/>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1665304" y="715448"/>
            <a:ext cx="411078" cy="411078"/>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9921927" y="4403649"/>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6" name="直接连接符 25"/>
          <p:cNvCxnSpPr/>
          <p:nvPr/>
        </p:nvCxnSpPr>
        <p:spPr>
          <a:xfrm>
            <a:off x="1625600" y="4003922"/>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6" name="矩形 21"/>
          <p:cNvSpPr/>
          <p:nvPr/>
        </p:nvSpPr>
        <p:spPr>
          <a:xfrm flipH="1">
            <a:off x="-69411" y="5152103"/>
            <a:ext cx="9006244" cy="170589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21"/>
          <p:cNvSpPr/>
          <p:nvPr/>
        </p:nvSpPr>
        <p:spPr>
          <a:xfrm flipH="1">
            <a:off x="-91440" y="4589270"/>
            <a:ext cx="6688885" cy="240764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FDB3C7C-FEBD-EE08-71A6-AE03D0F34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506" y="4814664"/>
            <a:ext cx="2737194" cy="2052895"/>
          </a:xfrm>
          <a:prstGeom prst="rect">
            <a:avLst/>
          </a:prstGeom>
          <a:ln>
            <a:noFill/>
          </a:ln>
          <a:effectLst>
            <a:softEdge rad="112500"/>
          </a:effectLst>
        </p:spPr>
      </p:pic>
      <p:pic>
        <p:nvPicPr>
          <p:cNvPr id="10" name="图片 9">
            <a:extLst>
              <a:ext uri="{FF2B5EF4-FFF2-40B4-BE49-F238E27FC236}">
                <a16:creationId xmlns:a16="http://schemas.microsoft.com/office/drawing/2014/main" id="{6662A7E3-B5FA-4015-1952-BBFCA0848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3412" y="5189194"/>
            <a:ext cx="3986302" cy="1668806"/>
          </a:xfrm>
          <a:prstGeom prst="rect">
            <a:avLst/>
          </a:prstGeom>
        </p:spPr>
      </p:pic>
      <p:sp>
        <p:nvSpPr>
          <p:cNvPr id="26" name="箭头: 左弧形 25"/>
          <p:cNvSpPr/>
          <p:nvPr/>
        </p:nvSpPr>
        <p:spPr>
          <a:xfrm flipH="1" flipV="1">
            <a:off x="6266659" y="2363784"/>
            <a:ext cx="1026321" cy="2426258"/>
          </a:xfrm>
          <a:prstGeom prst="curvedRightArrow">
            <a:avLst>
              <a:gd name="adj1" fmla="val 14489"/>
              <a:gd name="adj2" fmla="val 33614"/>
              <a:gd name="adj3" fmla="val 25000"/>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8" name="箭头: 左弧形 27"/>
          <p:cNvSpPr/>
          <p:nvPr/>
        </p:nvSpPr>
        <p:spPr>
          <a:xfrm>
            <a:off x="4899020" y="2433718"/>
            <a:ext cx="1026321" cy="2426258"/>
          </a:xfrm>
          <a:prstGeom prst="curvedRightArrow">
            <a:avLst>
              <a:gd name="adj1" fmla="val 14489"/>
              <a:gd name="adj2" fmla="val 33614"/>
              <a:gd name="adj3" fmla="val 25000"/>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pic>
        <p:nvPicPr>
          <p:cNvPr id="30" name="图片 29"/>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5553941" y="2946326"/>
            <a:ext cx="1084118" cy="1084118"/>
          </a:xfrm>
          <a:prstGeom prst="rect">
            <a:avLst/>
          </a:prstGeom>
        </p:spPr>
      </p:pic>
      <p:sp>
        <p:nvSpPr>
          <p:cNvPr id="31" name="文本框 30"/>
          <p:cNvSpPr txBox="1"/>
          <p:nvPr/>
        </p:nvSpPr>
        <p:spPr>
          <a:xfrm>
            <a:off x="710430" y="1374338"/>
            <a:ext cx="3527273" cy="523220"/>
          </a:xfrm>
          <a:prstGeom prst="rect">
            <a:avLst/>
          </a:prstGeom>
          <a:noFill/>
        </p:spPr>
        <p:txBody>
          <a:bodyPr wrap="square" rtlCol="0">
            <a:spAutoFit/>
          </a:bodyPr>
          <a:lstStyle/>
          <a:p>
            <a:r>
              <a:rPr lang="en-US" altLang="zh-CN" sz="2800" b="1" dirty="0">
                <a:solidFill>
                  <a:srgbClr val="4E5976"/>
                </a:solidFill>
                <a:cs typeface="+mn-ea"/>
                <a:sym typeface="+mn-lt"/>
              </a:rPr>
              <a:t>1. GFP</a:t>
            </a:r>
            <a:r>
              <a:rPr lang="zh-CN" altLang="en-US" sz="2800" b="1" dirty="0">
                <a:solidFill>
                  <a:srgbClr val="4E5976"/>
                </a:solidFill>
                <a:cs typeface="+mn-ea"/>
                <a:sym typeface="+mn-lt"/>
              </a:rPr>
              <a:t>的重要性回顾</a:t>
            </a:r>
          </a:p>
        </p:txBody>
      </p:sp>
      <p:sp>
        <p:nvSpPr>
          <p:cNvPr id="33" name="文本框 32"/>
          <p:cNvSpPr txBox="1"/>
          <p:nvPr/>
        </p:nvSpPr>
        <p:spPr>
          <a:xfrm>
            <a:off x="710431" y="1775549"/>
            <a:ext cx="3603857" cy="4323812"/>
          </a:xfrm>
          <a:prstGeom prst="rect">
            <a:avLst/>
          </a:prstGeom>
          <a:noFill/>
        </p:spPr>
        <p:txBody>
          <a:bodyPr wrap="square" rtlCol="0">
            <a:spAutoFit/>
          </a:bodyPr>
          <a:lstStyle/>
          <a:p>
            <a:pPr indent="457200">
              <a:lnSpc>
                <a:spcPct val="200000"/>
              </a:lnSpc>
            </a:pPr>
            <a:r>
              <a:rPr lang="zh-CN" altLang="en-US" sz="1400" dirty="0">
                <a:latin typeface="宋体" panose="02010600030101010101" pitchFamily="2" charset="-122"/>
                <a:ea typeface="宋体" panose="02010600030101010101" pitchFamily="2" charset="-122"/>
              </a:rPr>
              <a:t>绿色荧光蛋白</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GFP</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）作为“生命科学的荧光灯塔”，因其自发荧光特性及在载体标记中的广泛应用，获得</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2008</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年诺贝尔化学奖肯定。</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GFP</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具有典型的</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β</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桶状折叠结构，内部由</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Ser–Tyr–Gly</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三肽自发形成共轭发色团，实现无需外源底物即可发光。其优异的光稳定性和可遗传性，使</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GFP</a:t>
            </a:r>
            <a:r>
              <a:rPr lang="zh-CN" altLang="en-US" sz="1400" dirty="0">
                <a:latin typeface="宋体" panose="02010600030101010101" pitchFamily="2" charset="-122"/>
                <a:ea typeface="宋体" panose="02010600030101010101" pitchFamily="2" charset="-122"/>
              </a:rPr>
              <a:t>成为活细胞成像、蛋白相互作用监测和基因表达定量分析的核心分子探针，极大推动了细胞与分子生物学研究进程。</a:t>
            </a:r>
            <a:endParaRPr lang="zh-CN" altLang="en-US" sz="1400"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sp>
        <p:nvSpPr>
          <p:cNvPr id="42" name="文本框 41"/>
          <p:cNvSpPr txBox="1"/>
          <p:nvPr/>
        </p:nvSpPr>
        <p:spPr>
          <a:xfrm>
            <a:off x="7808786" y="1333188"/>
            <a:ext cx="3517975" cy="523220"/>
          </a:xfrm>
          <a:prstGeom prst="rect">
            <a:avLst/>
          </a:prstGeom>
          <a:noFill/>
        </p:spPr>
        <p:txBody>
          <a:bodyPr wrap="square" rtlCol="0">
            <a:spAutoFit/>
          </a:bodyPr>
          <a:lstStyle/>
          <a:p>
            <a:pPr algn="r"/>
            <a:r>
              <a:rPr lang="en-US" altLang="zh-CN" sz="2800" b="1" dirty="0">
                <a:solidFill>
                  <a:srgbClr val="4E5976"/>
                </a:solidFill>
                <a:cs typeface="+mn-ea"/>
                <a:sym typeface="+mn-lt"/>
              </a:rPr>
              <a:t>2. </a:t>
            </a:r>
            <a:r>
              <a:rPr lang="zh-CN" altLang="en-US" sz="2800" b="1" dirty="0">
                <a:solidFill>
                  <a:srgbClr val="4E5976"/>
                </a:solidFill>
                <a:cs typeface="+mn-ea"/>
                <a:sym typeface="+mn-lt"/>
              </a:rPr>
              <a:t>传统蛋白设计痛点</a:t>
            </a:r>
          </a:p>
        </p:txBody>
      </p:sp>
      <p:sp>
        <p:nvSpPr>
          <p:cNvPr id="46" name="文本框 45"/>
          <p:cNvSpPr txBox="1"/>
          <p:nvPr/>
        </p:nvSpPr>
        <p:spPr>
          <a:xfrm>
            <a:off x="7634298" y="1774448"/>
            <a:ext cx="3850219" cy="3462038"/>
          </a:xfrm>
          <a:prstGeom prst="rect">
            <a:avLst/>
          </a:prstGeom>
          <a:noFill/>
        </p:spPr>
        <p:txBody>
          <a:bodyPr wrap="square" rtlCol="0">
            <a:spAutoFit/>
          </a:bodyPr>
          <a:lstStyle/>
          <a:p>
            <a:pPr indent="457200">
              <a:lnSpc>
                <a:spcPct val="200000"/>
              </a:lnSpc>
              <a:spcBef>
                <a:spcPts val="600"/>
              </a:spcBef>
            </a:pPr>
            <a:r>
              <a:rPr lang="zh-CN" altLang="en-US" sz="1400" dirty="0">
                <a:latin typeface="宋体" panose="02010600030101010101" pitchFamily="2" charset="-122"/>
                <a:ea typeface="宋体" panose="02010600030101010101" pitchFamily="2" charset="-122"/>
              </a:rPr>
              <a:t>传统</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蛋白质</a:t>
            </a:r>
            <a:r>
              <a:rPr lang="zh-CN" altLang="en-US" sz="1400" dirty="0">
                <a:latin typeface="宋体" panose="02010600030101010101" pitchFamily="2" charset="-122"/>
                <a:ea typeface="宋体" panose="02010600030101010101" pitchFamily="2" charset="-122"/>
              </a:rPr>
              <a:t>改造多依赖高通量实验筛选，需构建和测试成千上万种突变体，耗材、人工及仪器成本居高不下，周期往往长达数年。同时，单点或少量多点突变的试错策略，对复杂共突变的协同效应洞察不足，难以精准捕捉变异对折叠稳定性和荧光性能的交互影响。此外，实验数据局限与模型化分析工具缺失，制约了蛋白设计效率与成功率。</a:t>
            </a:r>
            <a:endParaRPr lang="zh-CN" altLang="en-US" sz="1400"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grpSp>
        <p:nvGrpSpPr>
          <p:cNvPr id="22" name="组合 21"/>
          <p:cNvGrpSpPr/>
          <p:nvPr/>
        </p:nvGrpSpPr>
        <p:grpSpPr>
          <a:xfrm rot="10800000">
            <a:off x="0" y="0"/>
            <a:ext cx="1413169" cy="1257302"/>
            <a:chOff x="4729271" y="2720371"/>
            <a:chExt cx="7462734" cy="4137630"/>
          </a:xfrm>
        </p:grpSpPr>
        <p:sp>
          <p:nvSpPr>
            <p:cNvPr id="23"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7" name="组合 26"/>
          <p:cNvGrpSpPr/>
          <p:nvPr/>
        </p:nvGrpSpPr>
        <p:grpSpPr>
          <a:xfrm rot="10800000" flipH="1" flipV="1">
            <a:off x="10778838" y="5600698"/>
            <a:ext cx="1413169" cy="1257302"/>
            <a:chOff x="4729271" y="2720371"/>
            <a:chExt cx="7462734" cy="4137630"/>
          </a:xfrm>
        </p:grpSpPr>
        <p:sp>
          <p:nvSpPr>
            <p:cNvPr id="29"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5"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694793"/>
            <a:chOff x="672787" y="101730"/>
            <a:chExt cx="4803219" cy="694793"/>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引言与背景</a:t>
              </a:r>
            </a:p>
          </p:txBody>
        </p:sp>
        <p:sp>
          <p:nvSpPr>
            <p:cNvPr id="4" name="文本框 3"/>
            <p:cNvSpPr txBox="1"/>
            <p:nvPr/>
          </p:nvSpPr>
          <p:spPr>
            <a:xfrm>
              <a:off x="672787" y="365636"/>
              <a:ext cx="4803219" cy="430887"/>
            </a:xfrm>
            <a:prstGeom prst="rect">
              <a:avLst/>
            </a:prstGeom>
            <a:noFill/>
          </p:spPr>
          <p:txBody>
            <a:bodyPr wrap="square" rtlCol="0">
              <a:spAutoFit/>
            </a:bodyPr>
            <a:lstStyle/>
            <a:p>
              <a:r>
                <a:rPr lang="en-US" altLang="zh-CN" sz="1100" dirty="0">
                  <a:solidFill>
                    <a:srgbClr val="A6C1CC"/>
                  </a:solidFill>
                  <a:cs typeface="+mn-ea"/>
                  <a:sym typeface="+mn-lt"/>
                </a:rPr>
                <a:t>Introduction &amp; Background</a:t>
              </a:r>
            </a:p>
            <a:p>
              <a:endParaRPr lang="zh-CN" altLang="en-US" sz="1100" dirty="0">
                <a:solidFill>
                  <a:srgbClr val="A6C1CC"/>
                </a:solidFill>
                <a:cs typeface="+mn-ea"/>
                <a:sym typeface="+mn-lt"/>
              </a:endParaRPr>
            </a:p>
          </p:txBody>
        </p:sp>
      </p:grpSp>
      <p:pic>
        <p:nvPicPr>
          <p:cNvPr id="6" name="图片 5">
            <a:extLst>
              <a:ext uri="{FF2B5EF4-FFF2-40B4-BE49-F238E27FC236}">
                <a16:creationId xmlns:a16="http://schemas.microsoft.com/office/drawing/2014/main" id="{BE1EA2E5-EAB8-4784-9A35-53ED345DA5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037407" y="34289"/>
            <a:ext cx="1971675" cy="2314575"/>
          </a:xfrm>
          <a:prstGeom prst="rect">
            <a:avLst/>
          </a:prstGeom>
          <a:ln>
            <a:noFill/>
          </a:ln>
          <a:effectLst>
            <a:softEdge rad="112500"/>
          </a:effec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2159521" y="4750622"/>
            <a:ext cx="1596402" cy="461665"/>
          </a:xfrm>
          <a:prstGeom prst="rect">
            <a:avLst/>
          </a:prstGeom>
          <a:noFill/>
        </p:spPr>
        <p:txBody>
          <a:bodyPr wrap="square" rtlCol="0">
            <a:spAutoFit/>
          </a:bodyPr>
          <a:lstStyle/>
          <a:p>
            <a:pPr algn="ctr"/>
            <a:r>
              <a:rPr lang="en-US" altLang="zh-CN" sz="2400" b="1" dirty="0">
                <a:solidFill>
                  <a:srgbClr val="4E5976"/>
                </a:solidFill>
                <a:cs typeface="+mn-ea"/>
                <a:sym typeface="+mn-lt"/>
              </a:rPr>
              <a:t>2024 </a:t>
            </a:r>
            <a:r>
              <a:rPr lang="zh-CN" altLang="en-US" sz="2400" b="1" dirty="0">
                <a:solidFill>
                  <a:srgbClr val="4E5976"/>
                </a:solidFill>
                <a:cs typeface="+mn-ea"/>
                <a:sym typeface="+mn-lt"/>
              </a:rPr>
              <a:t>诺奖</a:t>
            </a:r>
          </a:p>
        </p:txBody>
      </p:sp>
      <p:sp>
        <p:nvSpPr>
          <p:cNvPr id="16" name="文本框 15"/>
          <p:cNvSpPr txBox="1"/>
          <p:nvPr/>
        </p:nvSpPr>
        <p:spPr>
          <a:xfrm>
            <a:off x="782507" y="5096054"/>
            <a:ext cx="4350430" cy="1654748"/>
          </a:xfrm>
          <a:prstGeom prst="rect">
            <a:avLst/>
          </a:prstGeom>
          <a:noFill/>
        </p:spPr>
        <p:txBody>
          <a:bodyPr wrap="square" rtlCol="0">
            <a:spAutoFit/>
          </a:bodyPr>
          <a:lstStyle/>
          <a:p>
            <a:pPr algn="ctr">
              <a:lnSpc>
                <a:spcPct val="200000"/>
              </a:lnSpc>
            </a:pPr>
            <a:r>
              <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rPr>
              <a:t>诺贝尔三大科学奖两项颁给了</a:t>
            </a:r>
            <a:r>
              <a:rPr lang="en-US" altLang="zh-CN" dirty="0">
                <a:solidFill>
                  <a:schemeClr val="tx2">
                    <a:lumMod val="50000"/>
                  </a:schemeClr>
                </a:solidFill>
                <a:latin typeface="宋体" panose="02010600030101010101" pitchFamily="2" charset="-122"/>
                <a:ea typeface="宋体" panose="02010600030101010101" pitchFamily="2" charset="-122"/>
                <a:cs typeface="+mn-ea"/>
                <a:sym typeface="+mn-lt"/>
              </a:rPr>
              <a:t>AI</a:t>
            </a:r>
            <a:r>
              <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rPr>
              <a:t>，深刻反映出</a:t>
            </a:r>
            <a:r>
              <a:rPr lang="en-US" altLang="zh-CN" dirty="0">
                <a:solidFill>
                  <a:schemeClr val="tx2">
                    <a:lumMod val="50000"/>
                  </a:schemeClr>
                </a:solidFill>
                <a:latin typeface="宋体" panose="02010600030101010101" pitchFamily="2" charset="-122"/>
                <a:ea typeface="宋体" panose="02010600030101010101" pitchFamily="2" charset="-122"/>
                <a:cs typeface="+mn-ea"/>
                <a:sym typeface="+mn-lt"/>
              </a:rPr>
              <a:t>AI</a:t>
            </a:r>
            <a:r>
              <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rPr>
              <a:t>技术作为一股不可忽视的力量，在全球科研舞台上的崛起与影响。</a:t>
            </a:r>
          </a:p>
        </p:txBody>
      </p:sp>
      <p:grpSp>
        <p:nvGrpSpPr>
          <p:cNvPr id="21" name="组合 20"/>
          <p:cNvGrpSpPr/>
          <p:nvPr/>
        </p:nvGrpSpPr>
        <p:grpSpPr>
          <a:xfrm>
            <a:off x="5436315" y="764554"/>
            <a:ext cx="295822" cy="376517"/>
            <a:chOff x="8057478" y="2323652"/>
            <a:chExt cx="295822" cy="376517"/>
          </a:xfrm>
        </p:grpSpPr>
        <p:sp>
          <p:nvSpPr>
            <p:cNvPr id="19" name="箭头: V 形 18"/>
            <p:cNvSpPr/>
            <p:nvPr/>
          </p:nvSpPr>
          <p:spPr>
            <a:xfrm>
              <a:off x="8057478" y="2323652"/>
              <a:ext cx="225903" cy="376517"/>
            </a:xfrm>
            <a:prstGeom prst="chevron">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20" name="箭头: V 形 19"/>
            <p:cNvSpPr/>
            <p:nvPr/>
          </p:nvSpPr>
          <p:spPr>
            <a:xfrm>
              <a:off x="8127397" y="2323652"/>
              <a:ext cx="225903" cy="376517"/>
            </a:xfrm>
            <a:prstGeom prst="chevron">
              <a:avLst/>
            </a:prstGeom>
            <a:solidFill>
              <a:srgbClr val="4E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grpSp>
      <p:sp>
        <p:nvSpPr>
          <p:cNvPr id="22" name="文本框 21"/>
          <p:cNvSpPr txBox="1"/>
          <p:nvPr/>
        </p:nvSpPr>
        <p:spPr>
          <a:xfrm>
            <a:off x="5860117" y="719548"/>
            <a:ext cx="3667341" cy="523220"/>
          </a:xfrm>
          <a:prstGeom prst="rect">
            <a:avLst/>
          </a:prstGeom>
          <a:noFill/>
        </p:spPr>
        <p:txBody>
          <a:bodyPr wrap="square" rtlCol="0">
            <a:spAutoFit/>
          </a:bodyPr>
          <a:lstStyle/>
          <a:p>
            <a:r>
              <a:rPr lang="en-US" altLang="zh-CN" sz="2800" b="1" dirty="0">
                <a:solidFill>
                  <a:srgbClr val="4E5976"/>
                </a:solidFill>
                <a:cs typeface="+mn-ea"/>
                <a:sym typeface="+mn-lt"/>
              </a:rPr>
              <a:t>3. AI</a:t>
            </a:r>
            <a:r>
              <a:rPr lang="zh-CN" altLang="en-US" sz="2800" b="1" dirty="0">
                <a:solidFill>
                  <a:srgbClr val="4E5976"/>
                </a:solidFill>
                <a:cs typeface="+mn-ea"/>
                <a:sym typeface="+mn-lt"/>
              </a:rPr>
              <a:t>赋能蛋白质设计</a:t>
            </a:r>
          </a:p>
        </p:txBody>
      </p:sp>
      <p:sp>
        <p:nvSpPr>
          <p:cNvPr id="23" name="文本框 22"/>
          <p:cNvSpPr txBox="1"/>
          <p:nvPr/>
        </p:nvSpPr>
        <p:spPr>
          <a:xfrm>
            <a:off x="5506234" y="1149281"/>
            <a:ext cx="6341637" cy="2948243"/>
          </a:xfrm>
          <a:prstGeom prst="rect">
            <a:avLst/>
          </a:prstGeom>
          <a:noFill/>
        </p:spPr>
        <p:txBody>
          <a:bodyPr wrap="square" rtlCol="0">
            <a:spAutoFit/>
          </a:bodyPr>
          <a:lstStyle/>
          <a:p>
            <a:pPr indent="306070">
              <a:lnSpc>
                <a:spcPct val="150000"/>
              </a:lnSpc>
              <a:buNone/>
            </a:pPr>
            <a:r>
              <a:rPr lang="zh-CN" altLang="zh-CN" sz="1800" b="1" kern="100" dirty="0">
                <a:solidFill>
                  <a:srgbClr val="000000"/>
                </a:solidFill>
                <a:effectLst/>
                <a:latin typeface="Times New Roman" panose="02020603050405020304" pitchFamily="18" charset="0"/>
                <a:ea typeface="宋体" panose="02010600030101010101" pitchFamily="2" charset="-122"/>
              </a:rPr>
              <a:t>数据驱动</a:t>
            </a:r>
            <a:r>
              <a:rPr lang="en-US" altLang="zh-CN" sz="1800" b="1" kern="100" dirty="0">
                <a:solidFill>
                  <a:srgbClr val="000000"/>
                </a:solidFill>
                <a:effectLst/>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rPr>
              <a:t>利用海量蛋白序列与功能数据深度学习，挖掘潜在规律并构建可靠预测模型，提高预测准确性与泛化能力。</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indent="306070">
              <a:lnSpc>
                <a:spcPct val="150000"/>
              </a:lnSpc>
              <a:buNone/>
            </a:pPr>
            <a:r>
              <a:rPr lang="zh-CN" altLang="zh-CN" sz="1800" b="1" kern="100" dirty="0">
                <a:solidFill>
                  <a:srgbClr val="000000"/>
                </a:solidFill>
                <a:effectLst/>
                <a:latin typeface="Times New Roman" panose="02020603050405020304" pitchFamily="18" charset="0"/>
                <a:ea typeface="宋体" panose="02010600030101010101" pitchFamily="2" charset="-122"/>
              </a:rPr>
              <a:t>高效预测</a:t>
            </a:r>
            <a:r>
              <a:rPr lang="en-US" altLang="zh-CN" b="1" kern="100" dirty="0">
                <a:solidFill>
                  <a:srgbClr val="000000"/>
                </a:solidFill>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rPr>
              <a:t>通过训练好的模型快速评估突变体性能，缩短从设计到验证的周期，大幅降低实验成本并加速候选筛选。</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indent="306070">
              <a:lnSpc>
                <a:spcPct val="150000"/>
              </a:lnSpc>
              <a:buNone/>
            </a:pPr>
            <a:r>
              <a:rPr lang="zh-CN" altLang="zh-CN" sz="1800" b="1" kern="100" dirty="0">
                <a:solidFill>
                  <a:srgbClr val="000000"/>
                </a:solidFill>
                <a:effectLst/>
                <a:latin typeface="Times New Roman" panose="02020603050405020304" pitchFamily="18" charset="0"/>
                <a:ea typeface="宋体" panose="02010600030101010101" pitchFamily="2" charset="-122"/>
              </a:rPr>
              <a:t>从</a:t>
            </a:r>
            <a:r>
              <a:rPr lang="en-US" altLang="zh-CN" sz="1800" b="1" kern="100" dirty="0">
                <a:solidFill>
                  <a:srgbClr val="000000"/>
                </a:solidFill>
                <a:effectLst/>
                <a:latin typeface="Times New Roman" panose="02020603050405020304" pitchFamily="18" charset="0"/>
                <a:ea typeface="宋体" panose="02010600030101010101" pitchFamily="2" charset="-122"/>
              </a:rPr>
              <a:t>“</a:t>
            </a:r>
            <a:r>
              <a:rPr lang="zh-CN" altLang="zh-CN" sz="1800" b="1" kern="100" dirty="0">
                <a:solidFill>
                  <a:srgbClr val="000000"/>
                </a:solidFill>
                <a:effectLst/>
                <a:latin typeface="Times New Roman" panose="02020603050405020304" pitchFamily="18" charset="0"/>
                <a:ea typeface="宋体" panose="02010600030101010101" pitchFamily="2" charset="-122"/>
              </a:rPr>
              <a:t>自然馈赠</a:t>
            </a:r>
            <a:r>
              <a:rPr lang="en-US" altLang="zh-CN" sz="1800" b="1" kern="100" dirty="0">
                <a:solidFill>
                  <a:srgbClr val="000000"/>
                </a:solidFill>
                <a:effectLst/>
                <a:latin typeface="Times New Roman" panose="02020603050405020304" pitchFamily="18" charset="0"/>
                <a:ea typeface="宋体" panose="02010600030101010101" pitchFamily="2" charset="-122"/>
              </a:rPr>
              <a:t>”</a:t>
            </a:r>
            <a:r>
              <a:rPr lang="zh-CN" altLang="zh-CN" sz="1800" b="1" kern="100" dirty="0">
                <a:solidFill>
                  <a:srgbClr val="000000"/>
                </a:solidFill>
                <a:effectLst/>
                <a:latin typeface="Times New Roman" panose="02020603050405020304" pitchFamily="18" charset="0"/>
                <a:ea typeface="宋体" panose="02010600030101010101" pitchFamily="2" charset="-122"/>
              </a:rPr>
              <a:t>到</a:t>
            </a:r>
            <a:r>
              <a:rPr lang="en-US" altLang="zh-CN" sz="1800" b="1" kern="100" dirty="0">
                <a:solidFill>
                  <a:srgbClr val="000000"/>
                </a:solidFill>
                <a:effectLst/>
                <a:latin typeface="Times New Roman" panose="02020603050405020304" pitchFamily="18" charset="0"/>
                <a:ea typeface="宋体" panose="02010600030101010101" pitchFamily="2" charset="-122"/>
              </a:rPr>
              <a:t>“</a:t>
            </a:r>
            <a:r>
              <a:rPr lang="zh-CN" altLang="zh-CN" sz="1800" b="1" kern="100" dirty="0">
                <a:solidFill>
                  <a:srgbClr val="000000"/>
                </a:solidFill>
                <a:effectLst/>
                <a:latin typeface="Times New Roman" panose="02020603050405020304" pitchFamily="18" charset="0"/>
                <a:ea typeface="宋体" panose="02010600030101010101" pitchFamily="2" charset="-122"/>
              </a:rPr>
              <a:t>人类定制</a:t>
            </a:r>
            <a:r>
              <a:rPr lang="en-US" altLang="zh-CN" sz="1800" b="1" kern="100" dirty="0">
                <a:solidFill>
                  <a:srgbClr val="000000"/>
                </a:solidFill>
                <a:effectLst/>
                <a:latin typeface="Times New Roman" panose="02020603050405020304" pitchFamily="18" charset="0"/>
                <a:ea typeface="宋体" panose="02010600030101010101" pitchFamily="2" charset="-122"/>
              </a:rPr>
              <a:t>”:</a:t>
            </a:r>
            <a:r>
              <a:rPr lang="en-US" altLang="zh-CN" sz="1800" kern="100" dirty="0">
                <a:solidFill>
                  <a:srgbClr val="000000"/>
                </a:solidFill>
                <a:effectLst/>
                <a:latin typeface="Times New Roman" panose="02020603050405020304" pitchFamily="18" charset="0"/>
                <a:ea typeface="宋体" panose="02010600030101010101" pitchFamily="2" charset="-122"/>
              </a:rPr>
              <a:t>AI</a:t>
            </a:r>
            <a:r>
              <a:rPr lang="zh-CN" altLang="zh-CN" sz="1800" kern="100" dirty="0">
                <a:solidFill>
                  <a:srgbClr val="000000"/>
                </a:solidFill>
                <a:effectLst/>
                <a:latin typeface="Times New Roman" panose="02020603050405020304" pitchFamily="18" charset="0"/>
                <a:ea typeface="宋体" panose="02010600030101010101" pitchFamily="2" charset="-122"/>
              </a:rPr>
              <a:t>加速了天然蛋白向定制化分子设计的转变，使我们能按需设计新功能蛋白，开辟更广泛的生物工程应用场景。</a:t>
            </a:r>
            <a:endParaRPr lang="zh-CN" altLang="zh-CN" sz="1800" kern="100" dirty="0">
              <a:effectLst/>
              <a:latin typeface="Times New Roman" panose="02020603050405020304" pitchFamily="18" charset="0"/>
              <a:ea typeface="宋体" panose="02010600030101010101" pitchFamily="2" charset="-122"/>
            </a:endParaRPr>
          </a:p>
        </p:txBody>
      </p:sp>
      <p:grpSp>
        <p:nvGrpSpPr>
          <p:cNvPr id="37" name="组合 36"/>
          <p:cNvGrpSpPr/>
          <p:nvPr/>
        </p:nvGrpSpPr>
        <p:grpSpPr>
          <a:xfrm>
            <a:off x="5366396" y="4284335"/>
            <a:ext cx="295822" cy="376517"/>
            <a:chOff x="8057478" y="2323652"/>
            <a:chExt cx="295822" cy="376517"/>
          </a:xfrm>
        </p:grpSpPr>
        <p:sp>
          <p:nvSpPr>
            <p:cNvPr id="40" name="箭头: V 形 39"/>
            <p:cNvSpPr/>
            <p:nvPr/>
          </p:nvSpPr>
          <p:spPr>
            <a:xfrm>
              <a:off x="8057478" y="2323652"/>
              <a:ext cx="225903" cy="376517"/>
            </a:xfrm>
            <a:prstGeom prst="chevron">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41" name="箭头: V 形 40"/>
            <p:cNvSpPr/>
            <p:nvPr/>
          </p:nvSpPr>
          <p:spPr>
            <a:xfrm>
              <a:off x="8127397" y="2323652"/>
              <a:ext cx="225903" cy="376517"/>
            </a:xfrm>
            <a:prstGeom prst="chevron">
              <a:avLst/>
            </a:prstGeom>
            <a:solidFill>
              <a:srgbClr val="4E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grpSp>
      <p:sp>
        <p:nvSpPr>
          <p:cNvPr id="39" name="文本框 38"/>
          <p:cNvSpPr txBox="1"/>
          <p:nvPr/>
        </p:nvSpPr>
        <p:spPr>
          <a:xfrm>
            <a:off x="5542907" y="4610959"/>
            <a:ext cx="5351237" cy="2117246"/>
          </a:xfrm>
          <a:prstGeom prst="rect">
            <a:avLst/>
          </a:prstGeom>
          <a:noFill/>
        </p:spPr>
        <p:txBody>
          <a:bodyPr wrap="square" rtlCol="0">
            <a:spAutoFit/>
          </a:bodyPr>
          <a:lstStyle/>
          <a:p>
            <a:pPr indent="306070">
              <a:lnSpc>
                <a:spcPct val="150000"/>
              </a:lnSpc>
              <a:buNone/>
            </a:pPr>
            <a:r>
              <a:rPr lang="zh-CN" altLang="zh-CN" sz="1800" kern="100" dirty="0">
                <a:solidFill>
                  <a:srgbClr val="000000"/>
                </a:solidFill>
                <a:effectLst/>
                <a:latin typeface="Times New Roman" panose="02020603050405020304" pitchFamily="18" charset="0"/>
                <a:ea typeface="宋体" panose="02010600030101010101" pitchFamily="2" charset="-122"/>
              </a:rPr>
              <a:t>模型训练依赖高质量标注数据，需持续扩充与修正数据库，采用交叉验证、多模型融合等方法评估可靠性。</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indent="306070">
              <a:lnSpc>
                <a:spcPct val="150000"/>
              </a:lnSpc>
              <a:buNone/>
            </a:pPr>
            <a:r>
              <a:rPr lang="en-US" altLang="zh-CN" sz="1800" kern="100" dirty="0">
                <a:solidFill>
                  <a:srgbClr val="000000"/>
                </a:solidFill>
                <a:effectLst/>
                <a:latin typeface="Times New Roman" panose="02020603050405020304" pitchFamily="18" charset="0"/>
                <a:ea typeface="宋体" panose="02010600030101010101" pitchFamily="2" charset="-122"/>
              </a:rPr>
              <a:t>AI</a:t>
            </a:r>
            <a:r>
              <a:rPr lang="zh-CN" altLang="zh-CN" sz="1800" kern="100" dirty="0">
                <a:solidFill>
                  <a:srgbClr val="000000"/>
                </a:solidFill>
                <a:effectLst/>
                <a:latin typeface="Times New Roman" panose="02020603050405020304" pitchFamily="18" charset="0"/>
                <a:ea typeface="宋体" panose="02010600030101010101" pitchFamily="2" charset="-122"/>
              </a:rPr>
              <a:t>可显著辅助设计与筛选，但仍需湿实验验证其生物学效应；二者协同才能确保结果真实可靠。</a:t>
            </a:r>
            <a:endParaRPr lang="zh-CN" altLang="zh-CN" sz="1800" kern="100" dirty="0">
              <a:effectLst/>
              <a:latin typeface="Times New Roman" panose="02020603050405020304" pitchFamily="18" charset="0"/>
              <a:ea typeface="宋体" panose="02010600030101010101" pitchFamily="2" charset="-122"/>
            </a:endParaRPr>
          </a:p>
        </p:txBody>
      </p:sp>
      <p:grpSp>
        <p:nvGrpSpPr>
          <p:cNvPr id="28" name="组合 27"/>
          <p:cNvGrpSpPr/>
          <p:nvPr/>
        </p:nvGrpSpPr>
        <p:grpSpPr>
          <a:xfrm rot="10800000">
            <a:off x="0" y="0"/>
            <a:ext cx="1413169" cy="1257302"/>
            <a:chOff x="4729271" y="2720371"/>
            <a:chExt cx="7462734" cy="4137630"/>
          </a:xfrm>
        </p:grpSpPr>
        <p:sp>
          <p:nvSpPr>
            <p:cNvPr id="29"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0"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6"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42" name="组合 41"/>
          <p:cNvGrpSpPr/>
          <p:nvPr/>
        </p:nvGrpSpPr>
        <p:grpSpPr>
          <a:xfrm rot="10800000" flipH="1" flipV="1">
            <a:off x="10778838" y="5600698"/>
            <a:ext cx="1413169" cy="1257302"/>
            <a:chOff x="4729271" y="2720371"/>
            <a:chExt cx="7462734" cy="4137630"/>
          </a:xfrm>
        </p:grpSpPr>
        <p:sp>
          <p:nvSpPr>
            <p:cNvPr id="43"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5"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en-US" altLang="zh-CN" sz="1600" dirty="0">
                  <a:solidFill>
                    <a:srgbClr val="4E5976"/>
                  </a:solidFill>
                  <a:cs typeface="+mn-ea"/>
                  <a:sym typeface="+mn-lt"/>
                </a:rPr>
                <a:t>AI</a:t>
              </a:r>
              <a:r>
                <a:rPr lang="zh-CN" altLang="en-US" sz="1600" dirty="0">
                  <a:solidFill>
                    <a:srgbClr val="4E5976"/>
                  </a:solidFill>
                  <a:cs typeface="+mn-ea"/>
                  <a:sym typeface="+mn-lt"/>
                </a:rPr>
                <a:t>在蛋白质工程中的革命性潜力</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The revolutionary potential of AI in protein engineering</a:t>
              </a:r>
              <a:endParaRPr lang="zh-CN" altLang="en-US" sz="1100" dirty="0">
                <a:solidFill>
                  <a:srgbClr val="A6C1CC"/>
                </a:solidFill>
                <a:cs typeface="+mn-ea"/>
                <a:sym typeface="+mn-lt"/>
              </a:endParaRPr>
            </a:p>
          </p:txBody>
        </p:sp>
      </p:grpSp>
      <p:pic>
        <p:nvPicPr>
          <p:cNvPr id="10" name="图片 9">
            <a:extLst>
              <a:ext uri="{FF2B5EF4-FFF2-40B4-BE49-F238E27FC236}">
                <a16:creationId xmlns:a16="http://schemas.microsoft.com/office/drawing/2014/main" id="{FBE6903D-C743-B83B-5A0A-BC3692A70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5643" y="904037"/>
            <a:ext cx="3849329" cy="3849329"/>
          </a:xfrm>
          <a:prstGeom prst="rect">
            <a:avLst/>
          </a:prstGeom>
          <a:ln>
            <a:noFill/>
          </a:ln>
          <a:effectLst>
            <a:softEdge rad="112500"/>
          </a:effectLst>
        </p:spPr>
      </p:pic>
      <p:sp>
        <p:nvSpPr>
          <p:cNvPr id="11" name="文本框 10">
            <a:extLst>
              <a:ext uri="{FF2B5EF4-FFF2-40B4-BE49-F238E27FC236}">
                <a16:creationId xmlns:a16="http://schemas.microsoft.com/office/drawing/2014/main" id="{72FFB870-05FC-C527-AD55-18D3741EBD58}"/>
              </a:ext>
            </a:extLst>
          </p:cNvPr>
          <p:cNvSpPr txBox="1"/>
          <p:nvPr/>
        </p:nvSpPr>
        <p:spPr>
          <a:xfrm>
            <a:off x="5860117" y="4198622"/>
            <a:ext cx="2487470" cy="523220"/>
          </a:xfrm>
          <a:prstGeom prst="rect">
            <a:avLst/>
          </a:prstGeom>
          <a:noFill/>
        </p:spPr>
        <p:txBody>
          <a:bodyPr wrap="square" rtlCol="0">
            <a:spAutoFit/>
          </a:bodyPr>
          <a:lstStyle/>
          <a:p>
            <a:r>
              <a:rPr lang="en-US" altLang="zh-CN" sz="2800" b="1" dirty="0">
                <a:solidFill>
                  <a:srgbClr val="4E5976"/>
                </a:solidFill>
                <a:cs typeface="+mn-ea"/>
                <a:sym typeface="+mn-lt"/>
              </a:rPr>
              <a:t>4. </a:t>
            </a:r>
            <a:r>
              <a:rPr lang="zh-CN" altLang="en-US" sz="2800" b="1" dirty="0">
                <a:solidFill>
                  <a:srgbClr val="4E5976"/>
                </a:solidFill>
                <a:cs typeface="+mn-ea"/>
                <a:sym typeface="+mn-lt"/>
              </a:rPr>
              <a:t>挑战与机遇</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箭头: 五边形 17"/>
          <p:cNvSpPr/>
          <p:nvPr/>
        </p:nvSpPr>
        <p:spPr>
          <a:xfrm rot="5400000">
            <a:off x="-52515" y="1878076"/>
            <a:ext cx="3773068" cy="2362102"/>
          </a:xfrm>
          <a:prstGeom prst="homePlate">
            <a:avLst>
              <a:gd name="adj" fmla="val 3178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箭头: 五边形 19"/>
          <p:cNvSpPr/>
          <p:nvPr/>
        </p:nvSpPr>
        <p:spPr>
          <a:xfrm rot="5400000">
            <a:off x="2841244" y="1878076"/>
            <a:ext cx="3773068" cy="2362102"/>
          </a:xfrm>
          <a:prstGeom prst="homePlate">
            <a:avLst>
              <a:gd name="adj" fmla="val 3178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箭头: 五边形 24"/>
          <p:cNvSpPr/>
          <p:nvPr/>
        </p:nvSpPr>
        <p:spPr>
          <a:xfrm rot="5400000">
            <a:off x="5735003" y="1878076"/>
            <a:ext cx="3773068" cy="2362102"/>
          </a:xfrm>
          <a:prstGeom prst="homePlate">
            <a:avLst>
              <a:gd name="adj" fmla="val 3178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箭头: 五边形 28"/>
          <p:cNvSpPr/>
          <p:nvPr/>
        </p:nvSpPr>
        <p:spPr>
          <a:xfrm rot="5400000">
            <a:off x="8628761" y="1878076"/>
            <a:ext cx="3773068" cy="2362102"/>
          </a:xfrm>
          <a:prstGeom prst="homePlate">
            <a:avLst>
              <a:gd name="adj" fmla="val 3178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4" name="组合 33"/>
          <p:cNvGrpSpPr/>
          <p:nvPr/>
        </p:nvGrpSpPr>
        <p:grpSpPr>
          <a:xfrm>
            <a:off x="1488937" y="1470916"/>
            <a:ext cx="690164" cy="523574"/>
            <a:chOff x="1525911" y="2755300"/>
            <a:chExt cx="366740" cy="278217"/>
          </a:xfrm>
        </p:grpSpPr>
        <p:sp>
          <p:nvSpPr>
            <p:cNvPr id="32" name="Freeform 20"/>
            <p:cNvSpPr>
              <a:spLocks noEditPoints="1" noChangeArrowheads="1"/>
            </p:cNvSpPr>
            <p:nvPr/>
          </p:nvSpPr>
          <p:spPr bwMode="auto">
            <a:xfrm>
              <a:off x="1525911" y="2792545"/>
              <a:ext cx="243145" cy="24097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9"/>
                <a:gd name="T145" fmla="*/ 0 h 227"/>
                <a:gd name="T146" fmla="*/ 229 w 229"/>
                <a:gd name="T147" fmla="*/ 227 h 22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solidFill>
              <a:srgbClr val="6B799C"/>
            </a:solidFill>
            <a:ln>
              <a:noFill/>
            </a:ln>
          </p:spPr>
          <p:txBody>
            <a:bodyPr/>
            <a:lstStyle/>
            <a:p>
              <a:endParaRPr lang="zh-CN" altLang="zh-CN" sz="2000">
                <a:solidFill>
                  <a:schemeClr val="bg1"/>
                </a:solidFill>
                <a:cs typeface="+mn-ea"/>
                <a:sym typeface="+mn-lt"/>
              </a:endParaRPr>
            </a:p>
          </p:txBody>
        </p:sp>
        <p:sp>
          <p:nvSpPr>
            <p:cNvPr id="33" name="Freeform 21"/>
            <p:cNvSpPr>
              <a:spLocks noEditPoints="1" noChangeArrowheads="1"/>
            </p:cNvSpPr>
            <p:nvPr/>
          </p:nvSpPr>
          <p:spPr bwMode="auto">
            <a:xfrm>
              <a:off x="1748832" y="2755300"/>
              <a:ext cx="143819" cy="143596"/>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35"/>
                <a:gd name="T145" fmla="*/ 0 h 135"/>
                <a:gd name="T146" fmla="*/ 135 w 135"/>
                <a:gd name="T147" fmla="*/ 135 h 13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solidFill>
              <a:srgbClr val="6B799C"/>
            </a:solidFill>
            <a:ln>
              <a:noFill/>
            </a:ln>
          </p:spPr>
          <p:txBody>
            <a:bodyPr/>
            <a:lstStyle/>
            <a:p>
              <a:endParaRPr lang="zh-CN" altLang="zh-CN" sz="2000">
                <a:solidFill>
                  <a:schemeClr val="bg1"/>
                </a:solidFill>
                <a:cs typeface="+mn-ea"/>
                <a:sym typeface="+mn-lt"/>
              </a:endParaRPr>
            </a:p>
          </p:txBody>
        </p:sp>
      </p:grpSp>
      <p:sp>
        <p:nvSpPr>
          <p:cNvPr id="43" name="MH_Other_16"/>
          <p:cNvSpPr>
            <a:spLocks noChangeArrowheads="1"/>
          </p:cNvSpPr>
          <p:nvPr>
            <p:custDataLst>
              <p:tags r:id="rId1"/>
            </p:custDataLst>
          </p:nvPr>
        </p:nvSpPr>
        <p:spPr bwMode="auto">
          <a:xfrm>
            <a:off x="4522076" y="1474186"/>
            <a:ext cx="411404" cy="517035"/>
          </a:xfrm>
          <a:custGeom>
            <a:avLst/>
            <a:gdLst>
              <a:gd name="connsiteX0" fmla="*/ 7193 w 352425"/>
              <a:gd name="connsiteY0" fmla="*/ 298450 h 442913"/>
              <a:gd name="connsiteX1" fmla="*/ 176213 w 352425"/>
              <a:gd name="connsiteY1" fmla="*/ 352624 h 442913"/>
              <a:gd name="connsiteX2" fmla="*/ 345233 w 352425"/>
              <a:gd name="connsiteY2" fmla="*/ 298450 h 442913"/>
              <a:gd name="connsiteX3" fmla="*/ 352425 w 352425"/>
              <a:gd name="connsiteY3" fmla="*/ 312896 h 442913"/>
              <a:gd name="connsiteX4" fmla="*/ 352425 w 352425"/>
              <a:gd name="connsiteY4" fmla="*/ 367070 h 442913"/>
              <a:gd name="connsiteX5" fmla="*/ 176213 w 352425"/>
              <a:gd name="connsiteY5" fmla="*/ 442913 h 442913"/>
              <a:gd name="connsiteX6" fmla="*/ 0 w 352425"/>
              <a:gd name="connsiteY6" fmla="*/ 367070 h 442913"/>
              <a:gd name="connsiteX7" fmla="*/ 0 w 352425"/>
              <a:gd name="connsiteY7" fmla="*/ 312896 h 442913"/>
              <a:gd name="connsiteX8" fmla="*/ 7193 w 352425"/>
              <a:gd name="connsiteY8" fmla="*/ 298450 h 442913"/>
              <a:gd name="connsiteX9" fmla="*/ 7193 w 352425"/>
              <a:gd name="connsiteY9" fmla="*/ 184150 h 442913"/>
              <a:gd name="connsiteX10" fmla="*/ 176213 w 352425"/>
              <a:gd name="connsiteY10" fmla="*/ 243205 h 442913"/>
              <a:gd name="connsiteX11" fmla="*/ 345233 w 352425"/>
              <a:gd name="connsiteY11" fmla="*/ 184150 h 442913"/>
              <a:gd name="connsiteX12" fmla="*/ 352425 w 352425"/>
              <a:gd name="connsiteY12" fmla="*/ 202605 h 442913"/>
              <a:gd name="connsiteX13" fmla="*/ 352425 w 352425"/>
              <a:gd name="connsiteY13" fmla="*/ 257969 h 442913"/>
              <a:gd name="connsiteX14" fmla="*/ 176213 w 352425"/>
              <a:gd name="connsiteY14" fmla="*/ 331788 h 442913"/>
              <a:gd name="connsiteX15" fmla="*/ 0 w 352425"/>
              <a:gd name="connsiteY15" fmla="*/ 257969 h 442913"/>
              <a:gd name="connsiteX16" fmla="*/ 0 w 352425"/>
              <a:gd name="connsiteY16" fmla="*/ 202605 h 442913"/>
              <a:gd name="connsiteX17" fmla="*/ 7193 w 352425"/>
              <a:gd name="connsiteY17" fmla="*/ 184150 h 442913"/>
              <a:gd name="connsiteX18" fmla="*/ 7193 w 352425"/>
              <a:gd name="connsiteY18" fmla="*/ 76200 h 442913"/>
              <a:gd name="connsiteX19" fmla="*/ 176213 w 352425"/>
              <a:gd name="connsiteY19" fmla="*/ 130795 h 442913"/>
              <a:gd name="connsiteX20" fmla="*/ 345233 w 352425"/>
              <a:gd name="connsiteY20" fmla="*/ 76200 h 442913"/>
              <a:gd name="connsiteX21" fmla="*/ 352425 w 352425"/>
              <a:gd name="connsiteY21" fmla="*/ 94398 h 442913"/>
              <a:gd name="connsiteX22" fmla="*/ 352425 w 352425"/>
              <a:gd name="connsiteY22" fmla="*/ 148993 h 442913"/>
              <a:gd name="connsiteX23" fmla="*/ 176213 w 352425"/>
              <a:gd name="connsiteY23" fmla="*/ 225425 h 442913"/>
              <a:gd name="connsiteX24" fmla="*/ 0 w 352425"/>
              <a:gd name="connsiteY24" fmla="*/ 148993 h 442913"/>
              <a:gd name="connsiteX25" fmla="*/ 0 w 352425"/>
              <a:gd name="connsiteY25" fmla="*/ 94398 h 442913"/>
              <a:gd name="connsiteX26" fmla="*/ 7193 w 352425"/>
              <a:gd name="connsiteY26" fmla="*/ 76200 h 442913"/>
              <a:gd name="connsiteX27" fmla="*/ 177006 w 352425"/>
              <a:gd name="connsiteY27" fmla="*/ 0 h 442913"/>
              <a:gd name="connsiteX28" fmla="*/ 349250 w 352425"/>
              <a:gd name="connsiteY28" fmla="*/ 57944 h 442913"/>
              <a:gd name="connsiteX29" fmla="*/ 177006 w 352425"/>
              <a:gd name="connsiteY29" fmla="*/ 115888 h 442913"/>
              <a:gd name="connsiteX30" fmla="*/ 4762 w 352425"/>
              <a:gd name="connsiteY30" fmla="*/ 57944 h 442913"/>
              <a:gd name="connsiteX31" fmla="*/ 177006 w 352425"/>
              <a:gd name="connsiteY31" fmla="*/ 0 h 442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52425" h="442913">
                <a:moveTo>
                  <a:pt x="7193" y="298450"/>
                </a:moveTo>
                <a:cubicBezTo>
                  <a:pt x="25173" y="330954"/>
                  <a:pt x="93501" y="352624"/>
                  <a:pt x="176213" y="352624"/>
                </a:cubicBezTo>
                <a:cubicBezTo>
                  <a:pt x="258925" y="352624"/>
                  <a:pt x="327252" y="330954"/>
                  <a:pt x="345233" y="298450"/>
                </a:cubicBezTo>
                <a:cubicBezTo>
                  <a:pt x="348829" y="302062"/>
                  <a:pt x="352425" y="309285"/>
                  <a:pt x="352425" y="312896"/>
                </a:cubicBezTo>
                <a:cubicBezTo>
                  <a:pt x="352425" y="312896"/>
                  <a:pt x="352425" y="312896"/>
                  <a:pt x="352425" y="367070"/>
                </a:cubicBezTo>
                <a:cubicBezTo>
                  <a:pt x="352425" y="410409"/>
                  <a:pt x="273309" y="442913"/>
                  <a:pt x="176213" y="442913"/>
                </a:cubicBezTo>
                <a:cubicBezTo>
                  <a:pt x="79116" y="442913"/>
                  <a:pt x="0" y="410409"/>
                  <a:pt x="0" y="367070"/>
                </a:cubicBezTo>
                <a:cubicBezTo>
                  <a:pt x="0" y="367070"/>
                  <a:pt x="0" y="367070"/>
                  <a:pt x="0" y="312896"/>
                </a:cubicBezTo>
                <a:cubicBezTo>
                  <a:pt x="0" y="309285"/>
                  <a:pt x="3596" y="302062"/>
                  <a:pt x="7193" y="298450"/>
                </a:cubicBezTo>
                <a:close/>
                <a:moveTo>
                  <a:pt x="7193" y="184150"/>
                </a:moveTo>
                <a:cubicBezTo>
                  <a:pt x="25173" y="217369"/>
                  <a:pt x="93501" y="243205"/>
                  <a:pt x="176213" y="243205"/>
                </a:cubicBezTo>
                <a:cubicBezTo>
                  <a:pt x="258925" y="243205"/>
                  <a:pt x="327252" y="217369"/>
                  <a:pt x="345233" y="184150"/>
                </a:cubicBezTo>
                <a:cubicBezTo>
                  <a:pt x="348829" y="191532"/>
                  <a:pt x="352425" y="195223"/>
                  <a:pt x="352425" y="202605"/>
                </a:cubicBezTo>
                <a:cubicBezTo>
                  <a:pt x="352425" y="202605"/>
                  <a:pt x="352425" y="202605"/>
                  <a:pt x="352425" y="257969"/>
                </a:cubicBezTo>
                <a:cubicBezTo>
                  <a:pt x="352425" y="298570"/>
                  <a:pt x="273309" y="331788"/>
                  <a:pt x="176213" y="331788"/>
                </a:cubicBezTo>
                <a:cubicBezTo>
                  <a:pt x="79116" y="331788"/>
                  <a:pt x="0" y="298570"/>
                  <a:pt x="0" y="257969"/>
                </a:cubicBezTo>
                <a:cubicBezTo>
                  <a:pt x="0" y="257969"/>
                  <a:pt x="0" y="257969"/>
                  <a:pt x="0" y="202605"/>
                </a:cubicBezTo>
                <a:cubicBezTo>
                  <a:pt x="0" y="195223"/>
                  <a:pt x="3596" y="191532"/>
                  <a:pt x="7193" y="184150"/>
                </a:cubicBezTo>
                <a:close/>
                <a:moveTo>
                  <a:pt x="7193" y="76200"/>
                </a:moveTo>
                <a:cubicBezTo>
                  <a:pt x="10789" y="108957"/>
                  <a:pt x="86308" y="130795"/>
                  <a:pt x="176213" y="130795"/>
                </a:cubicBezTo>
                <a:cubicBezTo>
                  <a:pt x="269713" y="130795"/>
                  <a:pt x="341637" y="108957"/>
                  <a:pt x="345233" y="76200"/>
                </a:cubicBezTo>
                <a:cubicBezTo>
                  <a:pt x="348829" y="83479"/>
                  <a:pt x="352425" y="87119"/>
                  <a:pt x="352425" y="94398"/>
                </a:cubicBezTo>
                <a:cubicBezTo>
                  <a:pt x="352425" y="94398"/>
                  <a:pt x="352425" y="94398"/>
                  <a:pt x="352425" y="148993"/>
                </a:cubicBezTo>
                <a:cubicBezTo>
                  <a:pt x="352425" y="189029"/>
                  <a:pt x="273309" y="225425"/>
                  <a:pt x="176213" y="225425"/>
                </a:cubicBezTo>
                <a:cubicBezTo>
                  <a:pt x="79116" y="225425"/>
                  <a:pt x="0" y="189029"/>
                  <a:pt x="0" y="148993"/>
                </a:cubicBezTo>
                <a:cubicBezTo>
                  <a:pt x="0" y="148993"/>
                  <a:pt x="0" y="148993"/>
                  <a:pt x="0" y="94398"/>
                </a:cubicBezTo>
                <a:cubicBezTo>
                  <a:pt x="0" y="87119"/>
                  <a:pt x="3596" y="83479"/>
                  <a:pt x="7193" y="76200"/>
                </a:cubicBezTo>
                <a:close/>
                <a:moveTo>
                  <a:pt x="177006" y="0"/>
                </a:moveTo>
                <a:cubicBezTo>
                  <a:pt x="272134" y="0"/>
                  <a:pt x="349250" y="25942"/>
                  <a:pt x="349250" y="57944"/>
                </a:cubicBezTo>
                <a:cubicBezTo>
                  <a:pt x="349250" y="89946"/>
                  <a:pt x="272134" y="115888"/>
                  <a:pt x="177006" y="115888"/>
                </a:cubicBezTo>
                <a:cubicBezTo>
                  <a:pt x="81878" y="115888"/>
                  <a:pt x="4762" y="89946"/>
                  <a:pt x="4762" y="57944"/>
                </a:cubicBezTo>
                <a:cubicBezTo>
                  <a:pt x="4762" y="25942"/>
                  <a:pt x="81878" y="0"/>
                  <a:pt x="177006" y="0"/>
                </a:cubicBezTo>
                <a:close/>
              </a:path>
            </a:pathLst>
          </a:custGeom>
          <a:solidFill>
            <a:srgbClr val="6B799C"/>
          </a:solidFill>
          <a:ln w="9525">
            <a:noFill/>
            <a:beve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zh-CN" sz="800" b="0" i="0" u="none" strike="noStrike" kern="0" cap="none" spc="0" normalizeH="0" baseline="0" noProof="0">
              <a:ln>
                <a:noFill/>
              </a:ln>
              <a:solidFill>
                <a:prstClr val="black"/>
              </a:solidFill>
              <a:effectLst/>
              <a:uLnTx/>
              <a:uFillTx/>
              <a:cs typeface="+mn-ea"/>
              <a:sym typeface="+mn-lt"/>
            </a:endParaRPr>
          </a:p>
        </p:txBody>
      </p:sp>
      <p:sp>
        <p:nvSpPr>
          <p:cNvPr id="44" name="Freeform 237"/>
          <p:cNvSpPr>
            <a:spLocks noChangeAspect="1"/>
          </p:cNvSpPr>
          <p:nvPr/>
        </p:nvSpPr>
        <p:spPr bwMode="auto">
          <a:xfrm>
            <a:off x="7339146" y="1482234"/>
            <a:ext cx="564781" cy="500938"/>
          </a:xfrm>
          <a:custGeom>
            <a:avLst/>
            <a:gdLst>
              <a:gd name="T0" fmla="*/ 95 w 95"/>
              <a:gd name="T1" fmla="*/ 85 h 85"/>
              <a:gd name="T2" fmla="*/ 0 w 95"/>
              <a:gd name="T3" fmla="*/ 85 h 85"/>
              <a:gd name="T4" fmla="*/ 0 w 95"/>
              <a:gd name="T5" fmla="*/ 76 h 85"/>
              <a:gd name="T6" fmla="*/ 5 w 95"/>
              <a:gd name="T7" fmla="*/ 67 h 85"/>
              <a:gd name="T8" fmla="*/ 36 w 95"/>
              <a:gd name="T9" fmla="*/ 54 h 85"/>
              <a:gd name="T10" fmla="*/ 38 w 95"/>
              <a:gd name="T11" fmla="*/ 51 h 85"/>
              <a:gd name="T12" fmla="*/ 36 w 95"/>
              <a:gd name="T13" fmla="*/ 47 h 85"/>
              <a:gd name="T14" fmla="*/ 48 w 95"/>
              <a:gd name="T15" fmla="*/ 0 h 85"/>
              <a:gd name="T16" fmla="*/ 59 w 95"/>
              <a:gd name="T17" fmla="*/ 47 h 85"/>
              <a:gd name="T18" fmla="*/ 57 w 95"/>
              <a:gd name="T19" fmla="*/ 51 h 85"/>
              <a:gd name="T20" fmla="*/ 59 w 95"/>
              <a:gd name="T21" fmla="*/ 54 h 85"/>
              <a:gd name="T22" fmla="*/ 91 w 95"/>
              <a:gd name="T23" fmla="*/ 67 h 85"/>
              <a:gd name="T24" fmla="*/ 95 w 95"/>
              <a:gd name="T25" fmla="*/ 76 h 85"/>
              <a:gd name="T26" fmla="*/ 95 w 95"/>
              <a:gd name="T2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 h="85">
                <a:moveTo>
                  <a:pt x="95" y="85"/>
                </a:moveTo>
                <a:cubicBezTo>
                  <a:pt x="0" y="85"/>
                  <a:pt x="0" y="85"/>
                  <a:pt x="0" y="85"/>
                </a:cubicBezTo>
                <a:cubicBezTo>
                  <a:pt x="0" y="82"/>
                  <a:pt x="0" y="79"/>
                  <a:pt x="0" y="76"/>
                </a:cubicBezTo>
                <a:cubicBezTo>
                  <a:pt x="0" y="72"/>
                  <a:pt x="1" y="70"/>
                  <a:pt x="5" y="67"/>
                </a:cubicBezTo>
                <a:cubicBezTo>
                  <a:pt x="12" y="61"/>
                  <a:pt x="24" y="57"/>
                  <a:pt x="36" y="54"/>
                </a:cubicBezTo>
                <a:cubicBezTo>
                  <a:pt x="38" y="53"/>
                  <a:pt x="38" y="53"/>
                  <a:pt x="38" y="51"/>
                </a:cubicBezTo>
                <a:cubicBezTo>
                  <a:pt x="38" y="49"/>
                  <a:pt x="38" y="49"/>
                  <a:pt x="36" y="47"/>
                </a:cubicBezTo>
                <a:cubicBezTo>
                  <a:pt x="23" y="36"/>
                  <a:pt x="24" y="2"/>
                  <a:pt x="48" y="0"/>
                </a:cubicBezTo>
                <a:cubicBezTo>
                  <a:pt x="71" y="2"/>
                  <a:pt x="72" y="36"/>
                  <a:pt x="59" y="47"/>
                </a:cubicBezTo>
                <a:cubicBezTo>
                  <a:pt x="57" y="49"/>
                  <a:pt x="57" y="49"/>
                  <a:pt x="57" y="51"/>
                </a:cubicBezTo>
                <a:cubicBezTo>
                  <a:pt x="57" y="53"/>
                  <a:pt x="57" y="53"/>
                  <a:pt x="59" y="54"/>
                </a:cubicBezTo>
                <a:cubicBezTo>
                  <a:pt x="71" y="57"/>
                  <a:pt x="83" y="61"/>
                  <a:pt x="91" y="67"/>
                </a:cubicBezTo>
                <a:cubicBezTo>
                  <a:pt x="94" y="70"/>
                  <a:pt x="95" y="72"/>
                  <a:pt x="95" y="76"/>
                </a:cubicBezTo>
                <a:cubicBezTo>
                  <a:pt x="95" y="79"/>
                  <a:pt x="95" y="82"/>
                  <a:pt x="95" y="85"/>
                </a:cubicBezTo>
                <a:close/>
              </a:path>
            </a:pathLst>
          </a:custGeom>
          <a:solidFill>
            <a:srgbClr val="6B799C"/>
          </a:solidFill>
          <a:ln w="9525" cap="flat" cmpd="sng" algn="ctr">
            <a:noFill/>
            <a:prstDash val="solid"/>
            <a:headEnd type="none" w="med" len="med"/>
            <a:tailEnd type="none" w="med" len="med"/>
          </a:ln>
          <a:effectLst/>
        </p:spPr>
        <p:txBody>
          <a:bodyPr rot="0" spcFirstLastPara="0" vertOverflow="overflow" horzOverflow="overflow" vert="horz" wrap="square" lIns="69935" tIns="34967" rIns="34967" bIns="69935" numCol="1" spcCol="0" rtlCol="0" fromWordArt="0" anchor="b" anchorCtr="0" forceAA="0" compatLnSpc="1">
            <a:noAutofit/>
          </a:bodyPr>
          <a:lstStyle/>
          <a:p>
            <a:pPr marL="0" marR="0" lvl="0" indent="0" algn="ctr" defTabSz="687070" eaLnBrk="1" fontAlgn="base" latinLnBrk="0" hangingPunct="1">
              <a:lnSpc>
                <a:spcPct val="100000"/>
              </a:lnSpc>
              <a:spcBef>
                <a:spcPct val="0"/>
              </a:spcBef>
              <a:spcAft>
                <a:spcPct val="0"/>
              </a:spcAft>
              <a:buClrTx/>
              <a:buSzTx/>
              <a:buFontTx/>
              <a:buNone/>
              <a:defRPr/>
            </a:pPr>
            <a:endParaRPr kumimoji="0" lang="en-US" b="1" i="0" u="none" strike="noStrike" kern="0" cap="none" spc="-37" normalizeH="0" baseline="0" noProof="0">
              <a:ln>
                <a:noFill/>
              </a:ln>
              <a:solidFill>
                <a:srgbClr val="4F81BD"/>
              </a:solidFill>
              <a:effectLst/>
              <a:uLnTx/>
              <a:uFillTx/>
              <a:cs typeface="+mn-ea"/>
              <a:sym typeface="+mn-lt"/>
            </a:endParaRPr>
          </a:p>
        </p:txBody>
      </p:sp>
      <p:sp>
        <p:nvSpPr>
          <p:cNvPr id="45" name="Freeform 341"/>
          <p:cNvSpPr>
            <a:spLocks noEditPoints="1"/>
          </p:cNvSpPr>
          <p:nvPr/>
        </p:nvSpPr>
        <p:spPr bwMode="auto">
          <a:xfrm>
            <a:off x="10257521" y="1533677"/>
            <a:ext cx="515550" cy="398052"/>
          </a:xfrm>
          <a:custGeom>
            <a:avLst/>
            <a:gdLst>
              <a:gd name="T0" fmla="*/ 33 w 97"/>
              <a:gd name="T1" fmla="*/ 75 h 75"/>
              <a:gd name="T2" fmla="*/ 44 w 97"/>
              <a:gd name="T3" fmla="*/ 75 h 75"/>
              <a:gd name="T4" fmla="*/ 47 w 97"/>
              <a:gd name="T5" fmla="*/ 73 h 75"/>
              <a:gd name="T6" fmla="*/ 47 w 97"/>
              <a:gd name="T7" fmla="*/ 49 h 75"/>
              <a:gd name="T8" fmla="*/ 39 w 97"/>
              <a:gd name="T9" fmla="*/ 45 h 75"/>
              <a:gd name="T10" fmla="*/ 30 w 97"/>
              <a:gd name="T11" fmla="*/ 50 h 75"/>
              <a:gd name="T12" fmla="*/ 30 w 97"/>
              <a:gd name="T13" fmla="*/ 73 h 75"/>
              <a:gd name="T14" fmla="*/ 33 w 97"/>
              <a:gd name="T15" fmla="*/ 75 h 75"/>
              <a:gd name="T16" fmla="*/ 0 w 97"/>
              <a:gd name="T17" fmla="*/ 49 h 75"/>
              <a:gd name="T18" fmla="*/ 37 w 97"/>
              <a:gd name="T19" fmla="*/ 28 h 75"/>
              <a:gd name="T20" fmla="*/ 39 w 97"/>
              <a:gd name="T21" fmla="*/ 26 h 75"/>
              <a:gd name="T22" fmla="*/ 41 w 97"/>
              <a:gd name="T23" fmla="*/ 28 h 75"/>
              <a:gd name="T24" fmla="*/ 52 w 97"/>
              <a:gd name="T25" fmla="*/ 34 h 75"/>
              <a:gd name="T26" fmla="*/ 81 w 97"/>
              <a:gd name="T27" fmla="*/ 9 h 75"/>
              <a:gd name="T28" fmla="*/ 77 w 97"/>
              <a:gd name="T29" fmla="*/ 4 h 75"/>
              <a:gd name="T30" fmla="*/ 87 w 97"/>
              <a:gd name="T31" fmla="*/ 2 h 75"/>
              <a:gd name="T32" fmla="*/ 97 w 97"/>
              <a:gd name="T33" fmla="*/ 0 h 75"/>
              <a:gd name="T34" fmla="*/ 94 w 97"/>
              <a:gd name="T35" fmla="*/ 10 h 75"/>
              <a:gd name="T36" fmla="*/ 91 w 97"/>
              <a:gd name="T37" fmla="*/ 19 h 75"/>
              <a:gd name="T38" fmla="*/ 87 w 97"/>
              <a:gd name="T39" fmla="*/ 15 h 75"/>
              <a:gd name="T40" fmla="*/ 55 w 97"/>
              <a:gd name="T41" fmla="*/ 42 h 75"/>
              <a:gd name="T42" fmla="*/ 53 w 97"/>
              <a:gd name="T43" fmla="*/ 44 h 75"/>
              <a:gd name="T44" fmla="*/ 50 w 97"/>
              <a:gd name="T45" fmla="*/ 43 h 75"/>
              <a:gd name="T46" fmla="*/ 39 w 97"/>
              <a:gd name="T47" fmla="*/ 36 h 75"/>
              <a:gd name="T48" fmla="*/ 5 w 97"/>
              <a:gd name="T49" fmla="*/ 57 h 75"/>
              <a:gd name="T50" fmla="*/ 0 w 97"/>
              <a:gd name="T51" fmla="*/ 49 h 75"/>
              <a:gd name="T52" fmla="*/ 10 w 97"/>
              <a:gd name="T53" fmla="*/ 75 h 75"/>
              <a:gd name="T54" fmla="*/ 21 w 97"/>
              <a:gd name="T55" fmla="*/ 75 h 75"/>
              <a:gd name="T56" fmla="*/ 23 w 97"/>
              <a:gd name="T57" fmla="*/ 73 h 75"/>
              <a:gd name="T58" fmla="*/ 23 w 97"/>
              <a:gd name="T59" fmla="*/ 54 h 75"/>
              <a:gd name="T60" fmla="*/ 7 w 97"/>
              <a:gd name="T61" fmla="*/ 64 h 75"/>
              <a:gd name="T62" fmla="*/ 7 w 97"/>
              <a:gd name="T63" fmla="*/ 73 h 75"/>
              <a:gd name="T64" fmla="*/ 10 w 97"/>
              <a:gd name="T65" fmla="*/ 75 h 75"/>
              <a:gd name="T66" fmla="*/ 56 w 97"/>
              <a:gd name="T67" fmla="*/ 75 h 75"/>
              <a:gd name="T68" fmla="*/ 67 w 97"/>
              <a:gd name="T69" fmla="*/ 75 h 75"/>
              <a:gd name="T70" fmla="*/ 70 w 97"/>
              <a:gd name="T71" fmla="*/ 73 h 75"/>
              <a:gd name="T72" fmla="*/ 70 w 97"/>
              <a:gd name="T73" fmla="*/ 39 h 75"/>
              <a:gd name="T74" fmla="*/ 70 w 97"/>
              <a:gd name="T75" fmla="*/ 39 h 75"/>
              <a:gd name="T76" fmla="*/ 54 w 97"/>
              <a:gd name="T77" fmla="*/ 53 h 75"/>
              <a:gd name="T78" fmla="*/ 53 w 97"/>
              <a:gd name="T79" fmla="*/ 52 h 75"/>
              <a:gd name="T80" fmla="*/ 53 w 97"/>
              <a:gd name="T81" fmla="*/ 73 h 75"/>
              <a:gd name="T82" fmla="*/ 56 w 97"/>
              <a:gd name="T83" fmla="*/ 75 h 75"/>
              <a:gd name="T84" fmla="*/ 79 w 97"/>
              <a:gd name="T85" fmla="*/ 75 h 75"/>
              <a:gd name="T86" fmla="*/ 90 w 97"/>
              <a:gd name="T87" fmla="*/ 75 h 75"/>
              <a:gd name="T88" fmla="*/ 93 w 97"/>
              <a:gd name="T89" fmla="*/ 73 h 75"/>
              <a:gd name="T90" fmla="*/ 93 w 97"/>
              <a:gd name="T91" fmla="*/ 32 h 75"/>
              <a:gd name="T92" fmla="*/ 86 w 97"/>
              <a:gd name="T93" fmla="*/ 24 h 75"/>
              <a:gd name="T94" fmla="*/ 77 w 97"/>
              <a:gd name="T95" fmla="*/ 33 h 75"/>
              <a:gd name="T96" fmla="*/ 77 w 97"/>
              <a:gd name="T97" fmla="*/ 73 h 75"/>
              <a:gd name="T98" fmla="*/ 79 w 97"/>
              <a:gd name="T99"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7" h="75">
                <a:moveTo>
                  <a:pt x="33" y="75"/>
                </a:moveTo>
                <a:cubicBezTo>
                  <a:pt x="37" y="75"/>
                  <a:pt x="40" y="75"/>
                  <a:pt x="44" y="75"/>
                </a:cubicBezTo>
                <a:cubicBezTo>
                  <a:pt x="45" y="75"/>
                  <a:pt x="47" y="74"/>
                  <a:pt x="47" y="73"/>
                </a:cubicBezTo>
                <a:cubicBezTo>
                  <a:pt x="47" y="49"/>
                  <a:pt x="47" y="49"/>
                  <a:pt x="47" y="49"/>
                </a:cubicBezTo>
                <a:cubicBezTo>
                  <a:pt x="39" y="45"/>
                  <a:pt x="39" y="45"/>
                  <a:pt x="39" y="45"/>
                </a:cubicBezTo>
                <a:cubicBezTo>
                  <a:pt x="30" y="50"/>
                  <a:pt x="30" y="50"/>
                  <a:pt x="30" y="50"/>
                </a:cubicBezTo>
                <a:cubicBezTo>
                  <a:pt x="30" y="73"/>
                  <a:pt x="30" y="73"/>
                  <a:pt x="30" y="73"/>
                </a:cubicBezTo>
                <a:cubicBezTo>
                  <a:pt x="30" y="74"/>
                  <a:pt x="31" y="75"/>
                  <a:pt x="33" y="75"/>
                </a:cubicBezTo>
                <a:close/>
                <a:moveTo>
                  <a:pt x="0" y="49"/>
                </a:moveTo>
                <a:cubicBezTo>
                  <a:pt x="37" y="28"/>
                  <a:pt x="37" y="28"/>
                  <a:pt x="37" y="28"/>
                </a:cubicBezTo>
                <a:cubicBezTo>
                  <a:pt x="39" y="26"/>
                  <a:pt x="39" y="26"/>
                  <a:pt x="39" y="26"/>
                </a:cubicBezTo>
                <a:cubicBezTo>
                  <a:pt x="41" y="28"/>
                  <a:pt x="41" y="28"/>
                  <a:pt x="41" y="28"/>
                </a:cubicBezTo>
                <a:cubicBezTo>
                  <a:pt x="52" y="34"/>
                  <a:pt x="52" y="34"/>
                  <a:pt x="52" y="34"/>
                </a:cubicBezTo>
                <a:cubicBezTo>
                  <a:pt x="81" y="9"/>
                  <a:pt x="81" y="9"/>
                  <a:pt x="81" y="9"/>
                </a:cubicBezTo>
                <a:cubicBezTo>
                  <a:pt x="77" y="4"/>
                  <a:pt x="77" y="4"/>
                  <a:pt x="77" y="4"/>
                </a:cubicBezTo>
                <a:cubicBezTo>
                  <a:pt x="87" y="2"/>
                  <a:pt x="87" y="2"/>
                  <a:pt x="87" y="2"/>
                </a:cubicBezTo>
                <a:cubicBezTo>
                  <a:pt x="97" y="0"/>
                  <a:pt x="97" y="0"/>
                  <a:pt x="97" y="0"/>
                </a:cubicBezTo>
                <a:cubicBezTo>
                  <a:pt x="94" y="10"/>
                  <a:pt x="94" y="10"/>
                  <a:pt x="94" y="10"/>
                </a:cubicBezTo>
                <a:cubicBezTo>
                  <a:pt x="91" y="19"/>
                  <a:pt x="91" y="19"/>
                  <a:pt x="91" y="19"/>
                </a:cubicBezTo>
                <a:cubicBezTo>
                  <a:pt x="87" y="15"/>
                  <a:pt x="87" y="15"/>
                  <a:pt x="87" y="15"/>
                </a:cubicBezTo>
                <a:cubicBezTo>
                  <a:pt x="55" y="42"/>
                  <a:pt x="55" y="42"/>
                  <a:pt x="55" y="42"/>
                </a:cubicBezTo>
                <a:cubicBezTo>
                  <a:pt x="53" y="44"/>
                  <a:pt x="53" y="44"/>
                  <a:pt x="53" y="44"/>
                </a:cubicBezTo>
                <a:cubicBezTo>
                  <a:pt x="50" y="43"/>
                  <a:pt x="50" y="43"/>
                  <a:pt x="50" y="43"/>
                </a:cubicBezTo>
                <a:cubicBezTo>
                  <a:pt x="39" y="36"/>
                  <a:pt x="39" y="36"/>
                  <a:pt x="39" y="36"/>
                </a:cubicBezTo>
                <a:cubicBezTo>
                  <a:pt x="5" y="57"/>
                  <a:pt x="5" y="57"/>
                  <a:pt x="5" y="57"/>
                </a:cubicBezTo>
                <a:cubicBezTo>
                  <a:pt x="0" y="49"/>
                  <a:pt x="0" y="49"/>
                  <a:pt x="0" y="49"/>
                </a:cubicBezTo>
                <a:close/>
                <a:moveTo>
                  <a:pt x="10" y="75"/>
                </a:moveTo>
                <a:cubicBezTo>
                  <a:pt x="21" y="75"/>
                  <a:pt x="21" y="75"/>
                  <a:pt x="21" y="75"/>
                </a:cubicBezTo>
                <a:cubicBezTo>
                  <a:pt x="22" y="75"/>
                  <a:pt x="23" y="74"/>
                  <a:pt x="23" y="73"/>
                </a:cubicBezTo>
                <a:cubicBezTo>
                  <a:pt x="23" y="54"/>
                  <a:pt x="23" y="54"/>
                  <a:pt x="23" y="54"/>
                </a:cubicBezTo>
                <a:cubicBezTo>
                  <a:pt x="7" y="64"/>
                  <a:pt x="7" y="64"/>
                  <a:pt x="7" y="64"/>
                </a:cubicBezTo>
                <a:cubicBezTo>
                  <a:pt x="7" y="73"/>
                  <a:pt x="7" y="73"/>
                  <a:pt x="7" y="73"/>
                </a:cubicBezTo>
                <a:cubicBezTo>
                  <a:pt x="7" y="74"/>
                  <a:pt x="8" y="75"/>
                  <a:pt x="10" y="75"/>
                </a:cubicBezTo>
                <a:close/>
                <a:moveTo>
                  <a:pt x="56" y="75"/>
                </a:moveTo>
                <a:cubicBezTo>
                  <a:pt x="60" y="75"/>
                  <a:pt x="63" y="75"/>
                  <a:pt x="67" y="75"/>
                </a:cubicBezTo>
                <a:cubicBezTo>
                  <a:pt x="69" y="75"/>
                  <a:pt x="70" y="74"/>
                  <a:pt x="70" y="73"/>
                </a:cubicBezTo>
                <a:cubicBezTo>
                  <a:pt x="70" y="62"/>
                  <a:pt x="70" y="50"/>
                  <a:pt x="70" y="39"/>
                </a:cubicBezTo>
                <a:cubicBezTo>
                  <a:pt x="70" y="39"/>
                  <a:pt x="70" y="39"/>
                  <a:pt x="70" y="39"/>
                </a:cubicBezTo>
                <a:cubicBezTo>
                  <a:pt x="54" y="53"/>
                  <a:pt x="54" y="53"/>
                  <a:pt x="54" y="53"/>
                </a:cubicBezTo>
                <a:cubicBezTo>
                  <a:pt x="53" y="52"/>
                  <a:pt x="53" y="52"/>
                  <a:pt x="53" y="52"/>
                </a:cubicBezTo>
                <a:cubicBezTo>
                  <a:pt x="53" y="73"/>
                  <a:pt x="53" y="73"/>
                  <a:pt x="53" y="73"/>
                </a:cubicBezTo>
                <a:cubicBezTo>
                  <a:pt x="53" y="74"/>
                  <a:pt x="55" y="75"/>
                  <a:pt x="56" y="75"/>
                </a:cubicBezTo>
                <a:close/>
                <a:moveTo>
                  <a:pt x="79" y="75"/>
                </a:moveTo>
                <a:cubicBezTo>
                  <a:pt x="90" y="75"/>
                  <a:pt x="90" y="75"/>
                  <a:pt x="90" y="75"/>
                </a:cubicBezTo>
                <a:cubicBezTo>
                  <a:pt x="92" y="75"/>
                  <a:pt x="93" y="74"/>
                  <a:pt x="93" y="73"/>
                </a:cubicBezTo>
                <a:cubicBezTo>
                  <a:pt x="93" y="32"/>
                  <a:pt x="93" y="32"/>
                  <a:pt x="93" y="32"/>
                </a:cubicBezTo>
                <a:cubicBezTo>
                  <a:pt x="86" y="24"/>
                  <a:pt x="86" y="24"/>
                  <a:pt x="86" y="24"/>
                </a:cubicBezTo>
                <a:cubicBezTo>
                  <a:pt x="77" y="33"/>
                  <a:pt x="77" y="33"/>
                  <a:pt x="77" y="33"/>
                </a:cubicBezTo>
                <a:cubicBezTo>
                  <a:pt x="77" y="73"/>
                  <a:pt x="77" y="73"/>
                  <a:pt x="77" y="73"/>
                </a:cubicBezTo>
                <a:cubicBezTo>
                  <a:pt x="77" y="74"/>
                  <a:pt x="78" y="75"/>
                  <a:pt x="79" y="75"/>
                </a:cubicBezTo>
                <a:close/>
              </a:path>
            </a:pathLst>
          </a:custGeom>
          <a:solidFill>
            <a:srgbClr val="6B799C"/>
          </a:solidFill>
          <a:ln>
            <a:noFill/>
          </a:ln>
        </p:spPr>
        <p:txBody>
          <a:bodyPr vert="horz" wrap="square" lIns="91440" tIns="45720" rIns="91440" bIns="45720" numCol="1" anchor="t" anchorCtr="0" compatLnSpc="1"/>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b="0" i="0" u="none" strike="noStrike" kern="0" cap="none" spc="0" normalizeH="0" baseline="0" noProof="0">
              <a:ln>
                <a:noFill/>
              </a:ln>
              <a:solidFill>
                <a:prstClr val="black"/>
              </a:solidFill>
              <a:effectLst/>
              <a:uLnTx/>
              <a:uFillTx/>
              <a:cs typeface="+mn-ea"/>
              <a:sym typeface="+mn-lt"/>
            </a:endParaRPr>
          </a:p>
        </p:txBody>
      </p:sp>
      <p:sp>
        <p:nvSpPr>
          <p:cNvPr id="46" name="文本框 45"/>
          <p:cNvSpPr txBox="1"/>
          <p:nvPr/>
        </p:nvSpPr>
        <p:spPr>
          <a:xfrm>
            <a:off x="1129394" y="2083755"/>
            <a:ext cx="1409251" cy="646331"/>
          </a:xfrm>
          <a:prstGeom prst="rect">
            <a:avLst/>
          </a:prstGeom>
          <a:noFill/>
        </p:spPr>
        <p:txBody>
          <a:bodyPr wrap="square" rtlCol="0">
            <a:spAutoFit/>
          </a:bodyPr>
          <a:lstStyle/>
          <a:p>
            <a:pPr algn="ctr"/>
            <a:r>
              <a:rPr lang="zh-CN" altLang="en-US" b="1" dirty="0">
                <a:solidFill>
                  <a:srgbClr val="4E5976"/>
                </a:solidFill>
                <a:cs typeface="+mn-ea"/>
                <a:sym typeface="+mn-lt"/>
              </a:rPr>
              <a:t>大语言模型迁移</a:t>
            </a:r>
          </a:p>
        </p:txBody>
      </p:sp>
      <p:sp>
        <p:nvSpPr>
          <p:cNvPr id="47" name="文本框 46"/>
          <p:cNvSpPr txBox="1"/>
          <p:nvPr/>
        </p:nvSpPr>
        <p:spPr>
          <a:xfrm>
            <a:off x="814887" y="2639196"/>
            <a:ext cx="2219784" cy="1669944"/>
          </a:xfrm>
          <a:prstGeom prst="rect">
            <a:avLst/>
          </a:prstGeom>
          <a:noFill/>
        </p:spPr>
        <p:txBody>
          <a:bodyPr wrap="square" rtlCol="0">
            <a:spAutoFit/>
          </a:bodyPr>
          <a:lstStyle/>
          <a:p>
            <a:pPr>
              <a:lnSpc>
                <a:spcPct val="150000"/>
              </a:lnSpc>
              <a:buNone/>
            </a:pPr>
            <a:r>
              <a:rPr lang="zh-CN" altLang="zh-CN" sz="1400" kern="100" dirty="0">
                <a:solidFill>
                  <a:srgbClr val="000000"/>
                </a:solidFill>
                <a:effectLst/>
                <a:latin typeface="Times New Roman" panose="02020603050405020304" pitchFamily="18" charset="0"/>
                <a:ea typeface="宋体" panose="02010600030101010101" pitchFamily="2" charset="-122"/>
              </a:rPr>
              <a:t>利用</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pLMs</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（如</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ESM</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ProtBERT</a:t>
            </a:r>
            <a:r>
              <a:rPr lang="zh-CN" altLang="zh-CN" sz="1400" kern="100" dirty="0">
                <a:solidFill>
                  <a:srgbClr val="000000"/>
                </a:solidFill>
                <a:effectLst/>
                <a:latin typeface="Times New Roman" panose="02020603050405020304" pitchFamily="18" charset="0"/>
                <a:ea typeface="宋体" panose="02010600030101010101" pitchFamily="2" charset="-122"/>
              </a:rPr>
              <a:t>）在海量序列中预训练，捕捉蛋白进化语法信息</a:t>
            </a:r>
            <a:r>
              <a:rPr lang="zh-CN" altLang="en-US" sz="1400" kern="100" dirty="0">
                <a:solidFill>
                  <a:srgbClr val="000000"/>
                </a:solidFill>
                <a:effectLst/>
                <a:latin typeface="Times New Roman" panose="02020603050405020304" pitchFamily="18" charset="0"/>
                <a:ea typeface="宋体" panose="02010600030101010101" pitchFamily="2" charset="-122"/>
              </a:rPr>
              <a:t>，</a:t>
            </a:r>
            <a:r>
              <a:rPr lang="zh-CN" altLang="en-US" sz="1400" dirty="0">
                <a:latin typeface="宋体" panose="02010600030101010101" pitchFamily="2" charset="-122"/>
                <a:ea typeface="宋体" panose="02010600030101010101" pitchFamily="2" charset="-122"/>
              </a:rPr>
              <a:t>学习蛋白质的“语法”和进化信息。</a:t>
            </a:r>
            <a:endParaRPr lang="zh-CN" altLang="zh-CN" sz="1400" kern="100" dirty="0">
              <a:effectLst/>
              <a:latin typeface="宋体" panose="02010600030101010101" pitchFamily="2" charset="-122"/>
              <a:ea typeface="宋体" panose="02010600030101010101" pitchFamily="2" charset="-122"/>
            </a:endParaRPr>
          </a:p>
        </p:txBody>
      </p:sp>
      <p:sp>
        <p:nvSpPr>
          <p:cNvPr id="48" name="文本框 47"/>
          <p:cNvSpPr txBox="1"/>
          <p:nvPr/>
        </p:nvSpPr>
        <p:spPr>
          <a:xfrm>
            <a:off x="4021580" y="2228133"/>
            <a:ext cx="1409251" cy="369332"/>
          </a:xfrm>
          <a:prstGeom prst="rect">
            <a:avLst/>
          </a:prstGeom>
          <a:noFill/>
        </p:spPr>
        <p:txBody>
          <a:bodyPr wrap="square" rtlCol="0">
            <a:spAutoFit/>
          </a:bodyPr>
          <a:lstStyle/>
          <a:p>
            <a:pPr algn="ctr"/>
            <a:r>
              <a:rPr lang="zh-CN" altLang="en-US" b="1" dirty="0">
                <a:solidFill>
                  <a:srgbClr val="4E5976"/>
                </a:solidFill>
                <a:cs typeface="+mn-ea"/>
                <a:sym typeface="+mn-lt"/>
              </a:rPr>
              <a:t>生成式模型</a:t>
            </a:r>
          </a:p>
        </p:txBody>
      </p:sp>
      <p:sp>
        <p:nvSpPr>
          <p:cNvPr id="49" name="文本框 48"/>
          <p:cNvSpPr txBox="1"/>
          <p:nvPr/>
        </p:nvSpPr>
        <p:spPr>
          <a:xfrm>
            <a:off x="3668038" y="2483694"/>
            <a:ext cx="2201590" cy="1738489"/>
          </a:xfrm>
          <a:prstGeom prst="rect">
            <a:avLst/>
          </a:prstGeom>
          <a:noFill/>
        </p:spPr>
        <p:txBody>
          <a:bodyPr wrap="square" rtlCol="0">
            <a:spAutoFit/>
          </a:bodyPr>
          <a:lstStyle/>
          <a:p>
            <a:pPr algn="ctr">
              <a:lnSpc>
                <a:spcPct val="200000"/>
              </a:lnSpc>
            </a:pPr>
            <a:r>
              <a:rPr lang="zh-CN" altLang="en-US" sz="1400" dirty="0">
                <a:latin typeface="宋体" panose="02010600030101010101" pitchFamily="2" charset="-122"/>
                <a:ea typeface="宋体" panose="02010600030101010101" pitchFamily="2" charset="-122"/>
              </a:rPr>
              <a:t>基于</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VAE</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GAN </a:t>
            </a:r>
            <a:r>
              <a:rPr lang="zh-CN" altLang="en-US" sz="1400" dirty="0">
                <a:latin typeface="宋体" panose="02010600030101010101" pitchFamily="2" charset="-122"/>
                <a:ea typeface="宋体" panose="02010600030101010101" pitchFamily="2" charset="-122"/>
              </a:rPr>
              <a:t>与扩散模型，从头设计具特定功能的蛋白序列或结构，大幅提升设计效率与创新潜力。</a:t>
            </a:r>
            <a:endParaRPr lang="zh-CN" altLang="en-US" sz="1400"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sp>
        <p:nvSpPr>
          <p:cNvPr id="54" name="文本框 53"/>
          <p:cNvSpPr txBox="1"/>
          <p:nvPr/>
        </p:nvSpPr>
        <p:spPr>
          <a:xfrm>
            <a:off x="6916912" y="2083755"/>
            <a:ext cx="1409251" cy="646331"/>
          </a:xfrm>
          <a:prstGeom prst="rect">
            <a:avLst/>
          </a:prstGeom>
          <a:noFill/>
        </p:spPr>
        <p:txBody>
          <a:bodyPr wrap="square" rtlCol="0">
            <a:spAutoFit/>
          </a:bodyPr>
          <a:lstStyle/>
          <a:p>
            <a:pPr algn="ctr"/>
            <a:r>
              <a:rPr lang="zh-CN" altLang="en-US" b="1" dirty="0">
                <a:solidFill>
                  <a:srgbClr val="4E5976"/>
                </a:solidFill>
                <a:cs typeface="+mn-ea"/>
                <a:sym typeface="+mn-lt"/>
              </a:rPr>
              <a:t>图神经与</a:t>
            </a:r>
            <a:endParaRPr lang="en-US" altLang="zh-CN" b="1" dirty="0">
              <a:solidFill>
                <a:srgbClr val="4E5976"/>
              </a:solidFill>
              <a:cs typeface="+mn-ea"/>
              <a:sym typeface="+mn-lt"/>
            </a:endParaRPr>
          </a:p>
          <a:p>
            <a:pPr algn="ctr"/>
            <a:r>
              <a:rPr lang="zh-CN" altLang="en-US" b="1" dirty="0">
                <a:solidFill>
                  <a:srgbClr val="4E5976"/>
                </a:solidFill>
                <a:cs typeface="+mn-ea"/>
                <a:sym typeface="+mn-lt"/>
              </a:rPr>
              <a:t>多模态</a:t>
            </a:r>
          </a:p>
        </p:txBody>
      </p:sp>
      <p:sp>
        <p:nvSpPr>
          <p:cNvPr id="55" name="文本框 54"/>
          <p:cNvSpPr txBox="1"/>
          <p:nvPr/>
        </p:nvSpPr>
        <p:spPr>
          <a:xfrm>
            <a:off x="6520741" y="2523776"/>
            <a:ext cx="2201590" cy="1754519"/>
          </a:xfrm>
          <a:prstGeom prst="rect">
            <a:avLst/>
          </a:prstGeom>
          <a:noFill/>
        </p:spPr>
        <p:txBody>
          <a:bodyPr wrap="square" rtlCol="0">
            <a:spAutoFit/>
          </a:bodyPr>
          <a:lstStyle/>
          <a:p>
            <a:pPr algn="ctr">
              <a:lnSpc>
                <a:spcPct val="200000"/>
              </a:lnSpc>
            </a:pPr>
            <a:r>
              <a:rPr lang="zh-CN" altLang="en-US" sz="1400" dirty="0">
                <a:latin typeface="宋体" panose="02010600030101010101" pitchFamily="2" charset="-122"/>
                <a:ea typeface="宋体" panose="02010600030101010101" pitchFamily="2" charset="-122"/>
              </a:rPr>
              <a:t>在蛋白三维结构图上应用 </a:t>
            </a:r>
            <a:r>
              <a:rPr lang="en-US" altLang="zh-CN" sz="1400" dirty="0">
                <a:latin typeface="宋体" panose="02010600030101010101" pitchFamily="2" charset="-122"/>
                <a:ea typeface="宋体" panose="02010600030101010101" pitchFamily="2" charset="-122"/>
              </a:rPr>
              <a:t>GNN </a:t>
            </a:r>
            <a:r>
              <a:rPr lang="zh-CN" altLang="en-US" sz="1400" dirty="0">
                <a:latin typeface="宋体" panose="02010600030101010101" pitchFamily="2" charset="-122"/>
                <a:ea typeface="宋体" panose="02010600030101010101" pitchFamily="2" charset="-122"/>
              </a:rPr>
              <a:t>捕捉空间相互作用，同时整合序列、结构、功能与表达等多维数据。</a:t>
            </a:r>
            <a:endParaRPr lang="zh-CN" altLang="en-US" sz="1400"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sp>
        <p:nvSpPr>
          <p:cNvPr id="56" name="文本框 55"/>
          <p:cNvSpPr txBox="1"/>
          <p:nvPr/>
        </p:nvSpPr>
        <p:spPr>
          <a:xfrm>
            <a:off x="9810671" y="2089410"/>
            <a:ext cx="1409251" cy="646331"/>
          </a:xfrm>
          <a:prstGeom prst="rect">
            <a:avLst/>
          </a:prstGeom>
          <a:noFill/>
        </p:spPr>
        <p:txBody>
          <a:bodyPr wrap="square" rtlCol="0">
            <a:spAutoFit/>
          </a:bodyPr>
          <a:lstStyle/>
          <a:p>
            <a:pPr algn="ctr"/>
            <a:r>
              <a:rPr lang="zh-CN" altLang="en-US" b="1" dirty="0">
                <a:solidFill>
                  <a:srgbClr val="4E5976"/>
                </a:solidFill>
                <a:cs typeface="+mn-ea"/>
                <a:sym typeface="+mn-lt"/>
              </a:rPr>
              <a:t>强化学习驱动优化</a:t>
            </a:r>
          </a:p>
        </p:txBody>
      </p:sp>
      <p:sp>
        <p:nvSpPr>
          <p:cNvPr id="57" name="文本框 56"/>
          <p:cNvSpPr txBox="1"/>
          <p:nvPr/>
        </p:nvSpPr>
        <p:spPr>
          <a:xfrm>
            <a:off x="9488817" y="2597465"/>
            <a:ext cx="2201590" cy="1323632"/>
          </a:xfrm>
          <a:prstGeom prst="rect">
            <a:avLst/>
          </a:prstGeom>
          <a:noFill/>
        </p:spPr>
        <p:txBody>
          <a:bodyPr wrap="square" rtlCol="0">
            <a:spAutoFit/>
          </a:bodyPr>
          <a:lstStyle/>
          <a:p>
            <a:pPr algn="ctr">
              <a:lnSpc>
                <a:spcPct val="200000"/>
              </a:lnSpc>
            </a:pPr>
            <a:r>
              <a:rPr lang="zh-CN" altLang="en-US" sz="1400" dirty="0">
                <a:latin typeface="宋体" panose="02010600030101010101" pitchFamily="2" charset="-122"/>
                <a:ea typeface="宋体" panose="02010600030101010101" pitchFamily="2" charset="-122"/>
              </a:rPr>
              <a:t>在设计空间中进行探索性优化，通过模拟的“奖励”信号指导序列生成。</a:t>
            </a:r>
            <a:endParaRPr lang="zh-CN" altLang="en-US" sz="1400"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grpSp>
        <p:nvGrpSpPr>
          <p:cNvPr id="17" name="组合 16"/>
          <p:cNvGrpSpPr/>
          <p:nvPr/>
        </p:nvGrpSpPr>
        <p:grpSpPr>
          <a:xfrm rot="10800000">
            <a:off x="0" y="0"/>
            <a:ext cx="1413169" cy="1257302"/>
            <a:chOff x="4729271" y="2720371"/>
            <a:chExt cx="7462734" cy="4137630"/>
          </a:xfrm>
        </p:grpSpPr>
        <p:sp>
          <p:nvSpPr>
            <p:cNvPr id="19"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3" name="组合 22"/>
          <p:cNvGrpSpPr/>
          <p:nvPr/>
        </p:nvGrpSpPr>
        <p:grpSpPr>
          <a:xfrm rot="10800000" flipH="1" flipV="1">
            <a:off x="10778838" y="5600698"/>
            <a:ext cx="1413169" cy="1257302"/>
            <a:chOff x="4729271" y="2720371"/>
            <a:chExt cx="7462734" cy="4137630"/>
          </a:xfrm>
        </p:grpSpPr>
        <p:sp>
          <p:nvSpPr>
            <p:cNvPr id="24"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7"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872664" cy="338554"/>
            </a:xfrm>
            <a:prstGeom prst="rect">
              <a:avLst/>
            </a:prstGeom>
            <a:noFill/>
          </p:spPr>
          <p:txBody>
            <a:bodyPr wrap="square" rtlCol="0">
              <a:spAutoFit/>
            </a:bodyPr>
            <a:lstStyle/>
            <a:p>
              <a:r>
                <a:rPr lang="zh-CN" altLang="en-US" sz="1600" dirty="0">
                  <a:solidFill>
                    <a:srgbClr val="4E5976"/>
                  </a:solidFill>
                  <a:cs typeface="+mn-ea"/>
                  <a:sym typeface="+mn-lt"/>
                </a:rPr>
                <a:t>深度学习在前沿蛋白质设计中的应用</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Application of deep learning in cutting-edge protein design</a:t>
              </a:r>
              <a:endParaRPr lang="zh-CN" altLang="en-US" sz="1100" dirty="0">
                <a:solidFill>
                  <a:srgbClr val="A6C1CC"/>
                </a:solidFill>
                <a:cs typeface="+mn-ea"/>
                <a:sym typeface="+mn-lt"/>
              </a:endParaRPr>
            </a:p>
          </p:txBody>
        </p:sp>
      </p:grpSp>
      <p:pic>
        <p:nvPicPr>
          <p:cNvPr id="9" name="图片 8">
            <a:extLst>
              <a:ext uri="{FF2B5EF4-FFF2-40B4-BE49-F238E27FC236}">
                <a16:creationId xmlns:a16="http://schemas.microsoft.com/office/drawing/2014/main" id="{AED576DB-E39A-AC21-EDB1-C943EEF920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82" y="4980090"/>
            <a:ext cx="6563612" cy="1867497"/>
          </a:xfrm>
          <a:prstGeom prst="rect">
            <a:avLst/>
          </a:prstGeom>
        </p:spPr>
      </p:pic>
      <p:pic>
        <p:nvPicPr>
          <p:cNvPr id="11" name="图片 10">
            <a:extLst>
              <a:ext uri="{FF2B5EF4-FFF2-40B4-BE49-F238E27FC236}">
                <a16:creationId xmlns:a16="http://schemas.microsoft.com/office/drawing/2014/main" id="{CBE63F92-03D0-8567-5115-C5DE8CD94C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8181" y="4991308"/>
            <a:ext cx="3520868" cy="1866692"/>
          </a:xfrm>
          <a:prstGeom prst="rect">
            <a:avLst/>
          </a:prstGeom>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
          <p:cNvSpPr/>
          <p:nvPr/>
        </p:nvSpPr>
        <p:spPr>
          <a:xfrm flipH="1">
            <a:off x="5953638" y="0"/>
            <a:ext cx="6238362" cy="5961618"/>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4311849" y="5757029"/>
            <a:ext cx="409180" cy="409180"/>
          </a:xfrm>
          <a:prstGeom prst="ellipse">
            <a:avLst/>
          </a:prstGeom>
          <a:noFill/>
          <a:ln w="31750">
            <a:solidFill>
              <a:srgbClr val="9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8512638" y="1209922"/>
            <a:ext cx="2956560" cy="295656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21"/>
          <p:cNvSpPr/>
          <p:nvPr/>
        </p:nvSpPr>
        <p:spPr>
          <a:xfrm flipV="1">
            <a:off x="5557520" y="-121920"/>
            <a:ext cx="6736080" cy="561515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p:cNvSpPr txBox="1"/>
          <p:nvPr/>
        </p:nvSpPr>
        <p:spPr>
          <a:xfrm>
            <a:off x="8688594" y="1364763"/>
            <a:ext cx="2604648" cy="2646878"/>
          </a:xfrm>
          <a:prstGeom prst="rect">
            <a:avLst/>
          </a:prstGeom>
          <a:noFill/>
        </p:spPr>
        <p:txBody>
          <a:bodyPr wrap="square" rtlCol="0">
            <a:spAutoFit/>
          </a:bodyPr>
          <a:lstStyle>
            <a:defPPr>
              <a:defRPr lang="zh-CN"/>
            </a:defPPr>
            <a:lvl1pPr algn="ctr">
              <a:defRPr sz="16600" b="1" spc="600">
                <a:solidFill>
                  <a:schemeClr val="bg1"/>
                </a:solidFill>
                <a:latin typeface="Arial"/>
                <a:ea typeface="微软雅黑"/>
                <a:cs typeface="Arial" panose="020B0604020202020204" pitchFamily="34" charset="0"/>
              </a:defRPr>
            </a:lvl1pPr>
          </a:lstStyle>
          <a:p>
            <a:r>
              <a:rPr lang="en-US" altLang="zh-CN" dirty="0">
                <a:latin typeface="+mn-lt"/>
                <a:ea typeface="+mn-ea"/>
                <a:cs typeface="+mn-ea"/>
                <a:sym typeface="+mn-lt"/>
              </a:rPr>
              <a:t>2</a:t>
            </a:r>
            <a:endParaRPr lang="zh-CN" altLang="en-US" dirty="0">
              <a:latin typeface="+mn-lt"/>
              <a:ea typeface="+mn-ea"/>
              <a:cs typeface="+mn-ea"/>
              <a:sym typeface="+mn-lt"/>
            </a:endParaRPr>
          </a:p>
        </p:txBody>
      </p:sp>
      <p:sp>
        <p:nvSpPr>
          <p:cNvPr id="8" name="文本框 7"/>
          <p:cNvSpPr txBox="1"/>
          <p:nvPr/>
        </p:nvSpPr>
        <p:spPr>
          <a:xfrm>
            <a:off x="1060581" y="2766564"/>
            <a:ext cx="6736080" cy="1200329"/>
          </a:xfrm>
          <a:prstGeom prst="rect">
            <a:avLst/>
          </a:prstGeom>
          <a:noFill/>
        </p:spPr>
        <p:txBody>
          <a:bodyPr wrap="square" rtlCol="0">
            <a:spAutoFit/>
          </a:bodyPr>
          <a:lstStyle>
            <a:defPPr>
              <a:defRPr lang="zh-CN"/>
            </a:defPPr>
            <a:lvl1pPr algn="r">
              <a:defRPr sz="7200" b="1" spc="600">
                <a:solidFill>
                  <a:srgbClr val="4E5976"/>
                </a:solidFill>
                <a:latin typeface="Arial"/>
                <a:ea typeface="微软雅黑"/>
              </a:defRPr>
            </a:lvl1pPr>
          </a:lstStyle>
          <a:p>
            <a:r>
              <a:rPr lang="zh-CN" altLang="en-US" dirty="0">
                <a:latin typeface="+mn-lt"/>
                <a:ea typeface="+mn-ea"/>
                <a:cs typeface="+mn-ea"/>
                <a:sym typeface="+mn-lt"/>
              </a:rPr>
              <a:t>模型设计</a:t>
            </a:r>
          </a:p>
        </p:txBody>
      </p:sp>
      <p:sp>
        <p:nvSpPr>
          <p:cNvPr id="9" name="文本框 8"/>
          <p:cNvSpPr txBox="1"/>
          <p:nvPr/>
        </p:nvSpPr>
        <p:spPr>
          <a:xfrm>
            <a:off x="671929" y="4156120"/>
            <a:ext cx="7134564" cy="338554"/>
          </a:xfrm>
          <a:prstGeom prst="rect">
            <a:avLst/>
          </a:prstGeom>
          <a:noFill/>
        </p:spPr>
        <p:txBody>
          <a:bodyPr wrap="square" rtlCol="0">
            <a:spAutoFit/>
          </a:bodyPr>
          <a:lstStyle/>
          <a:p>
            <a:pPr algn="r"/>
            <a:r>
              <a:rPr lang="en-US" altLang="zh-CN" sz="1600" dirty="0">
                <a:solidFill>
                  <a:srgbClr val="A6C1CC"/>
                </a:solidFill>
                <a:cs typeface="+mn-ea"/>
                <a:sym typeface="+mn-lt"/>
              </a:rPr>
              <a:t>Deep learning model design</a:t>
            </a:r>
            <a:endParaRPr lang="zh-CN" altLang="en-US" sz="1600" dirty="0">
              <a:solidFill>
                <a:srgbClr val="A6C1CC"/>
              </a:solidFill>
              <a:cs typeface="+mn-ea"/>
              <a:sym typeface="+mn-lt"/>
            </a:endParaRPr>
          </a:p>
        </p:txBody>
      </p:sp>
      <p:sp>
        <p:nvSpPr>
          <p:cNvPr id="10" name="文本框 9"/>
          <p:cNvSpPr txBox="1"/>
          <p:nvPr/>
        </p:nvSpPr>
        <p:spPr>
          <a:xfrm>
            <a:off x="4562168" y="1940692"/>
            <a:ext cx="3132565" cy="707886"/>
          </a:xfrm>
          <a:prstGeom prst="rect">
            <a:avLst/>
          </a:prstGeom>
          <a:noFill/>
          <a:ln>
            <a:noFill/>
          </a:ln>
        </p:spPr>
        <p:txBody>
          <a:bodyPr wrap="square" rtlCol="0">
            <a:spAutoFit/>
          </a:bodyPr>
          <a:lstStyle/>
          <a:p>
            <a:pPr algn="r"/>
            <a:r>
              <a:rPr lang="en-US" altLang="zh-CN" sz="4000" dirty="0">
                <a:solidFill>
                  <a:srgbClr val="A6C1CC"/>
                </a:solidFill>
                <a:cs typeface="+mn-ea"/>
                <a:sym typeface="+mn-lt"/>
              </a:rPr>
              <a:t>PART   TWO</a:t>
            </a:r>
            <a:endParaRPr lang="zh-CN" altLang="en-US" sz="4000" dirty="0">
              <a:solidFill>
                <a:srgbClr val="A6C1CC"/>
              </a:solidFill>
              <a:cs typeface="+mn-ea"/>
              <a:sym typeface="+mn-lt"/>
            </a:endParaRPr>
          </a:p>
        </p:txBody>
      </p:sp>
      <p:sp>
        <p:nvSpPr>
          <p:cNvPr id="14" name="椭圆 13"/>
          <p:cNvSpPr/>
          <p:nvPr/>
        </p:nvSpPr>
        <p:spPr>
          <a:xfrm>
            <a:off x="7997714" y="5961619"/>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10716627" y="648351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4330818" y="838680"/>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1625600" y="350894"/>
            <a:ext cx="686280" cy="6862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237318" y="985323"/>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1665304" y="715448"/>
            <a:ext cx="411078" cy="411078"/>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9921927" y="4403649"/>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6" name="直接连接符 25"/>
          <p:cNvCxnSpPr/>
          <p:nvPr/>
        </p:nvCxnSpPr>
        <p:spPr>
          <a:xfrm>
            <a:off x="1625600" y="4003922"/>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6" name="矩形 21"/>
          <p:cNvSpPr/>
          <p:nvPr/>
        </p:nvSpPr>
        <p:spPr>
          <a:xfrm flipH="1">
            <a:off x="-69411" y="5152103"/>
            <a:ext cx="9006244" cy="170589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21"/>
          <p:cNvSpPr/>
          <p:nvPr/>
        </p:nvSpPr>
        <p:spPr>
          <a:xfrm flipH="1">
            <a:off x="-91440" y="4589270"/>
            <a:ext cx="6688885" cy="240764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5BC191F-85D0-92DF-C308-FA77D00119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05396" y="3640369"/>
            <a:ext cx="3684695" cy="31659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22" name="组合 21"/>
          <p:cNvGrpSpPr/>
          <p:nvPr/>
        </p:nvGrpSpPr>
        <p:grpSpPr>
          <a:xfrm>
            <a:off x="1089662" y="1083947"/>
            <a:ext cx="515303" cy="515303"/>
            <a:chOff x="1413162" y="1465118"/>
            <a:chExt cx="706583" cy="706583"/>
          </a:xfrm>
        </p:grpSpPr>
        <p:sp>
          <p:nvSpPr>
            <p:cNvPr id="19" name="椭圆 18"/>
            <p:cNvSpPr/>
            <p:nvPr/>
          </p:nvSpPr>
          <p:spPr>
            <a:xfrm>
              <a:off x="1413162" y="1465118"/>
              <a:ext cx="706583" cy="706583"/>
            </a:xfrm>
            <a:prstGeom prst="ellipse">
              <a:avLst/>
            </a:prstGeom>
            <a:solidFill>
              <a:srgbClr val="4E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958" y="1505914"/>
              <a:ext cx="624990" cy="624990"/>
            </a:xfrm>
            <a:prstGeom prst="rect">
              <a:avLst/>
            </a:prstGeom>
          </p:spPr>
        </p:pic>
      </p:grpSp>
      <p:sp>
        <p:nvSpPr>
          <p:cNvPr id="23" name="文本框 22"/>
          <p:cNvSpPr txBox="1"/>
          <p:nvPr/>
        </p:nvSpPr>
        <p:spPr>
          <a:xfrm>
            <a:off x="1721557" y="1077140"/>
            <a:ext cx="2533526" cy="523220"/>
          </a:xfrm>
          <a:prstGeom prst="rect">
            <a:avLst/>
          </a:prstGeom>
          <a:noFill/>
        </p:spPr>
        <p:txBody>
          <a:bodyPr wrap="square" rtlCol="0">
            <a:spAutoFit/>
          </a:bodyPr>
          <a:lstStyle/>
          <a:p>
            <a:r>
              <a:rPr lang="zh-CN" altLang="en-US" sz="2800" b="1" dirty="0">
                <a:solidFill>
                  <a:srgbClr val="4E5976"/>
                </a:solidFill>
                <a:cs typeface="+mn-ea"/>
                <a:sym typeface="+mn-lt"/>
              </a:rPr>
              <a:t>核心问题</a:t>
            </a:r>
          </a:p>
        </p:txBody>
      </p:sp>
      <p:sp>
        <p:nvSpPr>
          <p:cNvPr id="24" name="文本框 23"/>
          <p:cNvSpPr txBox="1"/>
          <p:nvPr/>
        </p:nvSpPr>
        <p:spPr>
          <a:xfrm>
            <a:off x="563985" y="1621934"/>
            <a:ext cx="5287128" cy="4721164"/>
          </a:xfrm>
          <a:prstGeom prst="rect">
            <a:avLst/>
          </a:prstGeom>
          <a:noFill/>
        </p:spPr>
        <p:txBody>
          <a:bodyPr wrap="square" rtlCol="0">
            <a:spAutoFit/>
          </a:bodyPr>
          <a:lstStyle/>
          <a:p>
            <a:pPr algn="l">
              <a:lnSpc>
                <a:spcPct val="150000"/>
              </a:lnSpc>
              <a:spcAft>
                <a:spcPts val="225"/>
              </a:spcAft>
              <a:buFont typeface="Arial" panose="020B0604020202020204" pitchFamily="34" charset="0"/>
              <a:buChar char="•"/>
            </a:pPr>
            <a:r>
              <a:rPr lang="zh-CN" altLang="en-US" b="1" i="0" dirty="0">
                <a:solidFill>
                  <a:srgbClr val="1A1C1E"/>
                </a:solidFill>
                <a:effectLst/>
                <a:latin typeface="宋体" panose="02010600030101010101" pitchFamily="2" charset="-122"/>
                <a:ea typeface="宋体" panose="02010600030101010101" pitchFamily="2" charset="-122"/>
              </a:rPr>
              <a:t> 目标任务：</a:t>
            </a:r>
            <a:r>
              <a:rPr lang="zh-CN" altLang="en-US" b="0" i="0" dirty="0">
                <a:solidFill>
                  <a:srgbClr val="1A1C1E"/>
                </a:solidFill>
                <a:effectLst/>
                <a:latin typeface="宋体" panose="02010600030101010101" pitchFamily="2" charset="-122"/>
                <a:ea typeface="宋体" panose="02010600030101010101" pitchFamily="2" charset="-122"/>
              </a:rPr>
              <a:t> 针对提供的</a:t>
            </a:r>
            <a:r>
              <a:rPr lang="en-US" altLang="zh-CN" b="0" i="0" dirty="0">
                <a:solidFill>
                  <a:srgbClr val="1A1C1E"/>
                </a:solidFill>
                <a:effectLst/>
                <a:latin typeface="宋体" panose="02010600030101010101" pitchFamily="2" charset="-122"/>
                <a:ea typeface="宋体" panose="02010600030101010101" pitchFamily="2" charset="-122"/>
              </a:rPr>
              <a:t>20</a:t>
            </a:r>
            <a:r>
              <a:rPr lang="zh-CN" altLang="en-US" b="0" i="0" dirty="0">
                <a:solidFill>
                  <a:srgbClr val="1A1C1E"/>
                </a:solidFill>
                <a:effectLst/>
                <a:latin typeface="宋体" panose="02010600030101010101" pitchFamily="2" charset="-122"/>
                <a:ea typeface="宋体" panose="02010600030101010101" pitchFamily="2" charset="-122"/>
              </a:rPr>
              <a:t>条</a:t>
            </a:r>
            <a:r>
              <a:rPr lang="en-US" altLang="zh-CN" b="0" i="0" dirty="0">
                <a:solidFill>
                  <a:srgbClr val="1A1C1E"/>
                </a:solidFill>
                <a:effectLst/>
                <a:latin typeface="宋体" panose="02010600030101010101" pitchFamily="2" charset="-122"/>
                <a:ea typeface="宋体" panose="02010600030101010101" pitchFamily="2" charset="-122"/>
              </a:rPr>
              <a:t>GFP</a:t>
            </a:r>
            <a:r>
              <a:rPr lang="zh-CN" altLang="en-US" b="0" i="0" dirty="0">
                <a:solidFill>
                  <a:srgbClr val="1A1C1E"/>
                </a:solidFill>
                <a:effectLst/>
                <a:latin typeface="宋体" panose="02010600030101010101" pitchFamily="2" charset="-122"/>
                <a:ea typeface="宋体" panose="02010600030101010101" pitchFamily="2" charset="-122"/>
              </a:rPr>
              <a:t>突变序列，基于其氨基酸序列预测荧光亮度并进行排序。</a:t>
            </a:r>
            <a:r>
              <a:rPr lang="zh-CN" altLang="en-US" dirty="0">
                <a:solidFill>
                  <a:srgbClr val="1A1C1E"/>
                </a:solidFill>
                <a:latin typeface="宋体" panose="02010600030101010101" pitchFamily="2" charset="-122"/>
                <a:ea typeface="宋体" panose="02010600030101010101" pitchFamily="2" charset="-122"/>
              </a:rPr>
              <a:t>回归问题。</a:t>
            </a:r>
            <a:endParaRPr lang="zh-CN" altLang="en-US" b="0" i="0" dirty="0">
              <a:solidFill>
                <a:srgbClr val="1A1C1E"/>
              </a:solidFill>
              <a:effectLst/>
              <a:latin typeface="宋体" panose="02010600030101010101" pitchFamily="2" charset="-122"/>
              <a:ea typeface="宋体" panose="02010600030101010101" pitchFamily="2" charset="-122"/>
            </a:endParaRPr>
          </a:p>
          <a:p>
            <a:pPr algn="l">
              <a:lnSpc>
                <a:spcPct val="150000"/>
              </a:lnSpc>
              <a:spcAft>
                <a:spcPts val="225"/>
              </a:spcAft>
              <a:buFont typeface="Arial" panose="020B0604020202020204" pitchFamily="34" charset="0"/>
              <a:buChar char="•"/>
            </a:pPr>
            <a:r>
              <a:rPr lang="zh-CN" altLang="en-US" b="1" i="0" dirty="0">
                <a:solidFill>
                  <a:srgbClr val="1A1C1E"/>
                </a:solidFill>
                <a:effectLst/>
                <a:latin typeface="宋体" panose="02010600030101010101" pitchFamily="2" charset="-122"/>
                <a:ea typeface="宋体" panose="02010600030101010101" pitchFamily="2" charset="-122"/>
              </a:rPr>
              <a:t> 输入：</a:t>
            </a:r>
            <a:r>
              <a:rPr lang="zh-CN" altLang="en-US" b="0" i="0" dirty="0">
                <a:solidFill>
                  <a:srgbClr val="1A1C1E"/>
                </a:solidFill>
                <a:effectLst/>
                <a:latin typeface="宋体" panose="02010600030101010101" pitchFamily="2" charset="-122"/>
                <a:ea typeface="宋体" panose="02010600030101010101" pitchFamily="2" charset="-122"/>
              </a:rPr>
              <a:t> 氨基酸序列</a:t>
            </a:r>
            <a:r>
              <a:rPr lang="en-US" altLang="zh-CN" b="0" i="0" dirty="0">
                <a:solidFill>
                  <a:srgbClr val="1A1C1E"/>
                </a:solidFill>
                <a:effectLst/>
                <a:latin typeface="宋体" panose="02010600030101010101" pitchFamily="2" charset="-122"/>
                <a:ea typeface="宋体" panose="02010600030101010101" pitchFamily="2" charset="-122"/>
              </a:rPr>
              <a:t>+</a:t>
            </a:r>
            <a:r>
              <a:rPr lang="zh-CN" altLang="en-US" b="0" i="0" dirty="0">
                <a:solidFill>
                  <a:srgbClr val="1A1C1E"/>
                </a:solidFill>
                <a:effectLst/>
                <a:latin typeface="宋体" panose="02010600030101010101" pitchFamily="2" charset="-122"/>
                <a:ea typeface="宋体" panose="02010600030101010101" pitchFamily="2" charset="-122"/>
              </a:rPr>
              <a:t>荧光强度（两个选择）</a:t>
            </a:r>
            <a:endParaRPr lang="en-US" altLang="zh-CN" b="0" i="0" dirty="0">
              <a:solidFill>
                <a:srgbClr val="1A1C1E"/>
              </a:solidFill>
              <a:effectLst/>
              <a:latin typeface="宋体" panose="02010600030101010101" pitchFamily="2" charset="-122"/>
              <a:ea typeface="宋体" panose="02010600030101010101" pitchFamily="2" charset="-122"/>
            </a:endParaRPr>
          </a:p>
          <a:p>
            <a:pPr algn="l">
              <a:lnSpc>
                <a:spcPct val="150000"/>
              </a:lnSpc>
              <a:spcAft>
                <a:spcPts val="225"/>
              </a:spcAft>
              <a:buFont typeface="Arial" panose="020B0604020202020204" pitchFamily="34" charset="0"/>
              <a:buChar char="•"/>
            </a:pPr>
            <a:r>
              <a:rPr lang="zh-CN" altLang="en-US" b="0" i="0" dirty="0">
                <a:solidFill>
                  <a:srgbClr val="000000"/>
                </a:solidFill>
                <a:effectLst/>
                <a:latin typeface="宋体" panose="02010600030101010101" pitchFamily="2" charset="-122"/>
                <a:ea typeface="宋体" panose="02010600030101010101" pitchFamily="2" charset="-122"/>
              </a:rPr>
              <a:t> 选取了对数（</a:t>
            </a:r>
            <a:r>
              <a:rPr lang="en-US" altLang="zh-CN" b="0" i="0" dirty="0">
                <a:solidFill>
                  <a:srgbClr val="000000"/>
                </a:solidFill>
                <a:effectLst/>
                <a:latin typeface="宋体" panose="02010600030101010101" pitchFamily="2" charset="-122"/>
                <a:ea typeface="宋体" panose="02010600030101010101" pitchFamily="2" charset="-122"/>
              </a:rPr>
              <a:t>ln</a:t>
            </a:r>
            <a:r>
              <a:rPr lang="zh-CN" altLang="en-US" b="0" i="0" dirty="0">
                <a:solidFill>
                  <a:srgbClr val="000000"/>
                </a:solidFill>
                <a:effectLst/>
                <a:latin typeface="宋体" panose="02010600030101010101" pitchFamily="2" charset="-122"/>
                <a:ea typeface="宋体" panose="02010600030101010101" pitchFamily="2" charset="-122"/>
              </a:rPr>
              <a:t>）变换后的结果作为模型输入，对数变换能将大值压缩、小值扩张，使得各特征的方差更趋均一，优化时梯度更加稳定、收敛更快</a:t>
            </a:r>
            <a:r>
              <a:rPr lang="zh-CN" altLang="en-US" dirty="0">
                <a:solidFill>
                  <a:srgbClr val="000000"/>
                </a:solidFill>
                <a:latin typeface="宋体" panose="02010600030101010101" pitchFamily="2" charset="-122"/>
                <a:ea typeface="宋体" panose="02010600030101010101" pitchFamily="2" charset="-122"/>
              </a:rPr>
              <a:t>，</a:t>
            </a:r>
            <a:r>
              <a:rPr lang="zh-CN" altLang="en-US" b="0" i="0" dirty="0">
                <a:solidFill>
                  <a:srgbClr val="000000"/>
                </a:solidFill>
                <a:effectLst/>
                <a:latin typeface="宋体" panose="02010600030101010101" pitchFamily="2" charset="-122"/>
                <a:ea typeface="宋体" panose="02010600030101010101" pitchFamily="2" charset="-122"/>
              </a:rPr>
              <a:t>避免梯度爆炸。</a:t>
            </a:r>
            <a:endParaRPr lang="en-US" altLang="zh-CN" b="0" i="0" dirty="0">
              <a:solidFill>
                <a:srgbClr val="1A1C1E"/>
              </a:solidFill>
              <a:effectLst/>
              <a:latin typeface="宋体" panose="02010600030101010101" pitchFamily="2" charset="-122"/>
              <a:ea typeface="宋体" panose="02010600030101010101" pitchFamily="2" charset="-122"/>
            </a:endParaRPr>
          </a:p>
          <a:p>
            <a:pPr algn="l">
              <a:lnSpc>
                <a:spcPct val="150000"/>
              </a:lnSpc>
              <a:spcAft>
                <a:spcPts val="225"/>
              </a:spcAft>
              <a:buFont typeface="Arial" panose="020B0604020202020204" pitchFamily="34" charset="0"/>
              <a:buChar char="•"/>
            </a:pPr>
            <a:r>
              <a:rPr lang="zh-CN" altLang="en-US" b="1" i="0" dirty="0">
                <a:solidFill>
                  <a:srgbClr val="1A1C1E"/>
                </a:solidFill>
                <a:effectLst/>
                <a:latin typeface="宋体" panose="02010600030101010101" pitchFamily="2" charset="-122"/>
                <a:ea typeface="宋体" panose="02010600030101010101" pitchFamily="2" charset="-122"/>
              </a:rPr>
              <a:t> 输出：</a:t>
            </a:r>
            <a:r>
              <a:rPr lang="zh-CN" altLang="en-US" b="0" i="0" dirty="0">
                <a:solidFill>
                  <a:srgbClr val="1A1C1E"/>
                </a:solidFill>
                <a:effectLst/>
                <a:latin typeface="宋体" panose="02010600030101010101" pitchFamily="2" charset="-122"/>
                <a:ea typeface="宋体" panose="02010600030101010101" pitchFamily="2" charset="-122"/>
              </a:rPr>
              <a:t> 预测的荧光亮度值 </a:t>
            </a:r>
            <a:r>
              <a:rPr lang="en-US" altLang="zh-CN" b="0" i="0" dirty="0">
                <a:solidFill>
                  <a:srgbClr val="1A1C1E"/>
                </a:solidFill>
                <a:effectLst/>
                <a:latin typeface="宋体" panose="02010600030101010101" pitchFamily="2" charset="-122"/>
                <a:ea typeface="宋体" panose="02010600030101010101" pitchFamily="2" charset="-122"/>
              </a:rPr>
              <a:t>(</a:t>
            </a:r>
            <a:r>
              <a:rPr lang="zh-CN" altLang="en-US" b="0" i="0" dirty="0">
                <a:solidFill>
                  <a:srgbClr val="1A1C1E"/>
                </a:solidFill>
                <a:effectLst/>
                <a:latin typeface="宋体" panose="02010600030101010101" pitchFamily="2" charset="-122"/>
                <a:ea typeface="宋体" panose="02010600030101010101" pitchFamily="2" charset="-122"/>
              </a:rPr>
              <a:t>连续值</a:t>
            </a:r>
            <a:r>
              <a:rPr lang="en-US" altLang="zh-CN" b="0" i="0" dirty="0">
                <a:solidFill>
                  <a:srgbClr val="1A1C1E"/>
                </a:solidFill>
                <a:effectLst/>
                <a:latin typeface="宋体" panose="02010600030101010101" pitchFamily="2" charset="-122"/>
                <a:ea typeface="宋体" panose="02010600030101010101" pitchFamily="2" charset="-122"/>
              </a:rPr>
              <a:t>)</a:t>
            </a:r>
            <a:r>
              <a:rPr lang="zh-CN" altLang="en-US" b="0" i="0" dirty="0">
                <a:solidFill>
                  <a:srgbClr val="1A1C1E"/>
                </a:solidFill>
                <a:effectLst/>
                <a:latin typeface="宋体" panose="02010600030101010101" pitchFamily="2" charset="-122"/>
                <a:ea typeface="宋体" panose="02010600030101010101" pitchFamily="2" charset="-122"/>
              </a:rPr>
              <a:t>。</a:t>
            </a:r>
          </a:p>
          <a:p>
            <a:pPr algn="l">
              <a:lnSpc>
                <a:spcPct val="150000"/>
              </a:lnSpc>
              <a:spcAft>
                <a:spcPts val="225"/>
              </a:spcAft>
              <a:buFont typeface="Arial" panose="020B0604020202020204" pitchFamily="34" charset="0"/>
              <a:buChar char="•"/>
            </a:pPr>
            <a:r>
              <a:rPr lang="zh-CN" altLang="en-US" b="1" dirty="0">
                <a:solidFill>
                  <a:srgbClr val="1A1C1E"/>
                </a:solidFill>
                <a:latin typeface="宋体" panose="02010600030101010101" pitchFamily="2" charset="-122"/>
                <a:ea typeface="宋体" panose="02010600030101010101" pitchFamily="2" charset="-122"/>
              </a:rPr>
              <a:t> 问题</a:t>
            </a:r>
            <a:r>
              <a:rPr lang="zh-CN" altLang="en-US" b="1" dirty="0">
                <a:solidFill>
                  <a:srgbClr val="1A1C1E"/>
                </a:solidFill>
                <a:latin typeface="宋体" panose="02010600030101010101" pitchFamily="2" charset="-122"/>
                <a:ea typeface="宋体" panose="02010600030101010101" pitchFamily="2" charset="-122"/>
                <a:sym typeface="Wingdings" panose="05000000000000000000" pitchFamily="2" charset="2"/>
              </a:rPr>
              <a:t>：</a:t>
            </a:r>
            <a:r>
              <a:rPr lang="zh-CN" altLang="en-US" dirty="0">
                <a:solidFill>
                  <a:srgbClr val="1A1C1E"/>
                </a:solidFill>
                <a:latin typeface="宋体" panose="02010600030101010101" pitchFamily="2" charset="-122"/>
                <a:ea typeface="宋体" panose="02010600030101010101" pitchFamily="2" charset="-122"/>
                <a:sym typeface="Wingdings" panose="05000000000000000000" pitchFamily="2" charset="2"/>
              </a:rPr>
              <a:t>（</a:t>
            </a:r>
            <a:r>
              <a:rPr lang="en-US" altLang="zh-CN" dirty="0">
                <a:solidFill>
                  <a:srgbClr val="1A1C1E"/>
                </a:solidFill>
                <a:latin typeface="宋体" panose="02010600030101010101" pitchFamily="2" charset="-122"/>
                <a:ea typeface="宋体" panose="02010600030101010101" pitchFamily="2" charset="-122"/>
                <a:sym typeface="Wingdings" panose="05000000000000000000" pitchFamily="2" charset="2"/>
              </a:rPr>
              <a:t>1</a:t>
            </a:r>
            <a:r>
              <a:rPr lang="zh-CN" altLang="en-US" dirty="0">
                <a:solidFill>
                  <a:srgbClr val="1A1C1E"/>
                </a:solidFill>
                <a:latin typeface="宋体" panose="02010600030101010101" pitchFamily="2" charset="-122"/>
                <a:ea typeface="宋体" panose="02010600030101010101" pitchFamily="2" charset="-122"/>
                <a:sym typeface="Wingdings" panose="05000000000000000000" pitchFamily="2" charset="2"/>
              </a:rPr>
              <a:t>）</a:t>
            </a:r>
            <a:r>
              <a:rPr lang="zh-CN" altLang="en-US" b="0" i="0" dirty="0">
                <a:solidFill>
                  <a:srgbClr val="1A1C1E"/>
                </a:solidFill>
                <a:effectLst/>
                <a:latin typeface="宋体" panose="02010600030101010101" pitchFamily="2" charset="-122"/>
                <a:ea typeface="宋体" panose="02010600030101010101" pitchFamily="2" charset="-122"/>
              </a:rPr>
              <a:t>构建能够捕捉序列长程依赖和关键位点相互作用的模型。（</a:t>
            </a:r>
            <a:r>
              <a:rPr lang="en-US" altLang="zh-CN" b="0" i="0" dirty="0">
                <a:solidFill>
                  <a:srgbClr val="1A1C1E"/>
                </a:solidFill>
                <a:effectLst/>
                <a:latin typeface="宋体" panose="02010600030101010101" pitchFamily="2" charset="-122"/>
                <a:ea typeface="宋体" panose="02010600030101010101" pitchFamily="2" charset="-122"/>
              </a:rPr>
              <a:t>2</a:t>
            </a:r>
            <a:r>
              <a:rPr lang="zh-CN" altLang="en-US" b="0" i="0" dirty="0">
                <a:solidFill>
                  <a:srgbClr val="1A1C1E"/>
                </a:solidFill>
                <a:effectLst/>
                <a:latin typeface="宋体" panose="02010600030101010101" pitchFamily="2" charset="-122"/>
                <a:ea typeface="宋体" panose="02010600030101010101" pitchFamily="2" charset="-122"/>
              </a:rPr>
              <a:t>）小样本竞赛任务（</a:t>
            </a:r>
            <a:r>
              <a:rPr lang="en-US" altLang="zh-CN" b="0" i="0" dirty="0">
                <a:solidFill>
                  <a:srgbClr val="1A1C1E"/>
                </a:solidFill>
                <a:effectLst/>
                <a:latin typeface="宋体" panose="02010600030101010101" pitchFamily="2" charset="-122"/>
                <a:ea typeface="宋体" panose="02010600030101010101" pitchFamily="2" charset="-122"/>
              </a:rPr>
              <a:t>20</a:t>
            </a:r>
            <a:r>
              <a:rPr lang="zh-CN" altLang="en-US" b="0" i="0" dirty="0">
                <a:solidFill>
                  <a:srgbClr val="1A1C1E"/>
                </a:solidFill>
                <a:effectLst/>
                <a:latin typeface="宋体" panose="02010600030101010101" pitchFamily="2" charset="-122"/>
                <a:ea typeface="宋体" panose="02010600030101010101" pitchFamily="2" charset="-122"/>
              </a:rPr>
              <a:t>条序列）对模型泛化能力和鲁棒性的考验。</a:t>
            </a:r>
          </a:p>
        </p:txBody>
      </p:sp>
      <p:grpSp>
        <p:nvGrpSpPr>
          <p:cNvPr id="26" name="组合 25"/>
          <p:cNvGrpSpPr/>
          <p:nvPr/>
        </p:nvGrpSpPr>
        <p:grpSpPr>
          <a:xfrm>
            <a:off x="6675644" y="999651"/>
            <a:ext cx="515303" cy="515303"/>
            <a:chOff x="1413162" y="1474897"/>
            <a:chExt cx="706583" cy="706583"/>
          </a:xfrm>
        </p:grpSpPr>
        <p:sp>
          <p:nvSpPr>
            <p:cNvPr id="27" name="椭圆 26"/>
            <p:cNvSpPr/>
            <p:nvPr/>
          </p:nvSpPr>
          <p:spPr>
            <a:xfrm>
              <a:off x="1413162" y="1474897"/>
              <a:ext cx="706583" cy="706583"/>
            </a:xfrm>
            <a:prstGeom prst="ellipse">
              <a:avLst/>
            </a:prstGeom>
            <a:solidFill>
              <a:srgbClr val="4E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453958" y="1515694"/>
              <a:ext cx="624990" cy="624990"/>
            </a:xfrm>
            <a:prstGeom prst="rect">
              <a:avLst/>
            </a:prstGeom>
          </p:spPr>
        </p:pic>
      </p:grpSp>
      <p:sp>
        <p:nvSpPr>
          <p:cNvPr id="30" name="文本框 29"/>
          <p:cNvSpPr txBox="1"/>
          <p:nvPr/>
        </p:nvSpPr>
        <p:spPr>
          <a:xfrm>
            <a:off x="7356685" y="999651"/>
            <a:ext cx="2570843" cy="523220"/>
          </a:xfrm>
          <a:prstGeom prst="rect">
            <a:avLst/>
          </a:prstGeom>
          <a:noFill/>
        </p:spPr>
        <p:txBody>
          <a:bodyPr wrap="square" rtlCol="0">
            <a:spAutoFit/>
          </a:bodyPr>
          <a:lstStyle/>
          <a:p>
            <a:r>
              <a:rPr lang="zh-CN" altLang="en-US" sz="2800" b="1" dirty="0">
                <a:solidFill>
                  <a:srgbClr val="4E5976"/>
                </a:solidFill>
                <a:cs typeface="+mn-ea"/>
                <a:sym typeface="+mn-lt"/>
              </a:rPr>
              <a:t>整体解决方案</a:t>
            </a:r>
          </a:p>
        </p:txBody>
      </p:sp>
      <p:sp>
        <p:nvSpPr>
          <p:cNvPr id="31" name="文本框 30"/>
          <p:cNvSpPr txBox="1"/>
          <p:nvPr/>
        </p:nvSpPr>
        <p:spPr>
          <a:xfrm>
            <a:off x="6569471" y="1459843"/>
            <a:ext cx="4494564" cy="2208746"/>
          </a:xfrm>
          <a:prstGeom prst="rect">
            <a:avLst/>
          </a:prstGeom>
          <a:noFill/>
        </p:spPr>
        <p:txBody>
          <a:bodyPr wrap="square" rtlCol="0">
            <a:spAutoFit/>
          </a:bodyPr>
          <a:lstStyle/>
          <a:p>
            <a:pPr>
              <a:lnSpc>
                <a:spcPct val="200000"/>
              </a:lnSpc>
            </a:pPr>
            <a:r>
              <a:rPr lang="zh-CN" altLang="en-US" b="1" i="0" dirty="0">
                <a:solidFill>
                  <a:srgbClr val="1A1C1E"/>
                </a:solidFill>
                <a:effectLst/>
                <a:latin typeface="宋体" panose="02010600030101010101" pitchFamily="2" charset="-122"/>
                <a:ea typeface="宋体" panose="02010600030101010101" pitchFamily="2" charset="-122"/>
              </a:rPr>
              <a:t>基于</a:t>
            </a:r>
            <a:r>
              <a:rPr lang="en-US" altLang="zh-CN" b="1" i="0" dirty="0">
                <a:solidFill>
                  <a:srgbClr val="1A1C1E"/>
                </a:solidFill>
                <a:effectLst/>
                <a:latin typeface="宋体" panose="02010600030101010101" pitchFamily="2" charset="-122"/>
                <a:ea typeface="宋体" panose="02010600030101010101" pitchFamily="2" charset="-122"/>
              </a:rPr>
              <a:t>ESM-2</a:t>
            </a:r>
            <a:r>
              <a:rPr lang="zh-CN" altLang="en-US" b="1" i="0" dirty="0">
                <a:solidFill>
                  <a:srgbClr val="1A1C1E"/>
                </a:solidFill>
                <a:effectLst/>
                <a:latin typeface="宋体" panose="02010600030101010101" pitchFamily="2" charset="-122"/>
                <a:ea typeface="宋体" panose="02010600030101010101" pitchFamily="2" charset="-122"/>
              </a:rPr>
              <a:t>和</a:t>
            </a:r>
            <a:r>
              <a:rPr lang="zh-CN" altLang="en-US" b="1" dirty="0">
                <a:solidFill>
                  <a:srgbClr val="1A1C1E"/>
                </a:solidFill>
                <a:latin typeface="宋体" panose="02010600030101010101" pitchFamily="2" charset="-122"/>
                <a:ea typeface="宋体" panose="02010600030101010101" pitchFamily="2" charset="-122"/>
              </a:rPr>
              <a:t>注意力机制</a:t>
            </a:r>
            <a:r>
              <a:rPr lang="zh-CN" altLang="en-US" b="1" i="0" dirty="0">
                <a:solidFill>
                  <a:srgbClr val="1A1C1E"/>
                </a:solidFill>
                <a:effectLst/>
                <a:latin typeface="宋体" panose="02010600030101010101" pitchFamily="2" charset="-122"/>
                <a:ea typeface="宋体" panose="02010600030101010101" pitchFamily="2" charset="-122"/>
              </a:rPr>
              <a:t>的亮度预测：</a:t>
            </a:r>
            <a:endParaRPr lang="en-US" altLang="zh-CN" b="0" i="0" dirty="0">
              <a:solidFill>
                <a:srgbClr val="1A1C1E"/>
              </a:solidFill>
              <a:effectLst/>
              <a:latin typeface="宋体" panose="02010600030101010101" pitchFamily="2" charset="-122"/>
              <a:ea typeface="宋体" panose="02010600030101010101" pitchFamily="2" charset="-122"/>
            </a:endParaRPr>
          </a:p>
          <a:p>
            <a:pPr indent="457200">
              <a:lnSpc>
                <a:spcPct val="200000"/>
              </a:lnSpc>
            </a:pPr>
            <a:r>
              <a:rPr lang="zh-CN" altLang="en-US" b="0" i="0" dirty="0">
                <a:solidFill>
                  <a:srgbClr val="1A1C1E"/>
                </a:solidFill>
                <a:effectLst/>
                <a:latin typeface="宋体" panose="02010600030101010101" pitchFamily="2" charset="-122"/>
                <a:ea typeface="宋体" panose="02010600030101010101" pitchFamily="2" charset="-122"/>
              </a:rPr>
              <a:t>利用大规模预训练蛋白质语言模型 </a:t>
            </a:r>
            <a:r>
              <a:rPr lang="en-US" altLang="zh-CN" b="0" i="0" dirty="0">
                <a:solidFill>
                  <a:srgbClr val="1A1C1E"/>
                </a:solidFill>
                <a:effectLst/>
                <a:latin typeface="宋体" panose="02010600030101010101" pitchFamily="2" charset="-122"/>
                <a:ea typeface="宋体" panose="02010600030101010101" pitchFamily="2" charset="-122"/>
              </a:rPr>
              <a:t>(ESM-2) </a:t>
            </a:r>
            <a:r>
              <a:rPr lang="zh-CN" altLang="en-US" b="0" i="0" dirty="0">
                <a:solidFill>
                  <a:srgbClr val="1A1C1E"/>
                </a:solidFill>
                <a:effectLst/>
                <a:latin typeface="宋体" panose="02010600030101010101" pitchFamily="2" charset="-122"/>
                <a:ea typeface="宋体" panose="02010600030101010101" pitchFamily="2" charset="-122"/>
              </a:rPr>
              <a:t>提取深层序列特征，结合定制化的多头注意力模型进行亮度回归预测。</a:t>
            </a:r>
            <a:endPar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grpSp>
        <p:nvGrpSpPr>
          <p:cNvPr id="35" name="组合 34"/>
          <p:cNvGrpSpPr/>
          <p:nvPr/>
        </p:nvGrpSpPr>
        <p:grpSpPr>
          <a:xfrm rot="10800000">
            <a:off x="0" y="0"/>
            <a:ext cx="1413169" cy="1257302"/>
            <a:chOff x="4729271" y="2720371"/>
            <a:chExt cx="7462734" cy="4137630"/>
          </a:xfrm>
        </p:grpSpPr>
        <p:sp>
          <p:nvSpPr>
            <p:cNvPr id="36"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7"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39" name="组合 38"/>
          <p:cNvGrpSpPr/>
          <p:nvPr/>
        </p:nvGrpSpPr>
        <p:grpSpPr>
          <a:xfrm rot="10800000" flipH="1" flipV="1">
            <a:off x="10778838" y="5600698"/>
            <a:ext cx="1413169" cy="1257302"/>
            <a:chOff x="4729271" y="2720371"/>
            <a:chExt cx="7462734" cy="4137630"/>
          </a:xfrm>
        </p:grpSpPr>
        <p:sp>
          <p:nvSpPr>
            <p:cNvPr id="40"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1"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模型设计</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Deep learning model design</a:t>
              </a:r>
              <a:endParaRPr lang="zh-CN" altLang="en-US" sz="1100" dirty="0">
                <a:solidFill>
                  <a:srgbClr val="A6C1CC"/>
                </a:solidFill>
                <a:cs typeface="+mn-ea"/>
                <a:sym typeface="+mn-lt"/>
              </a:endParaRPr>
            </a:p>
          </p:txBody>
        </p:sp>
      </p:gr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2032-9EA5-1209-79AC-5D39FE96E7A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DFCA279D-BB6B-95A1-7812-C2B714279F04}"/>
              </a:ext>
            </a:extLst>
          </p:cNvPr>
          <p:cNvGrpSpPr/>
          <p:nvPr/>
        </p:nvGrpSpPr>
        <p:grpSpPr>
          <a:xfrm rot="10800000">
            <a:off x="0" y="0"/>
            <a:ext cx="1413169" cy="1257302"/>
            <a:chOff x="4729271" y="2720371"/>
            <a:chExt cx="7462734" cy="4137630"/>
          </a:xfrm>
        </p:grpSpPr>
        <p:sp>
          <p:nvSpPr>
            <p:cNvPr id="3" name="矩形 21">
              <a:extLst>
                <a:ext uri="{FF2B5EF4-FFF2-40B4-BE49-F238E27FC236}">
                  <a16:creationId xmlns:a16="http://schemas.microsoft.com/office/drawing/2014/main" id="{D170AED9-D66B-9BF4-7452-888C81236AD0}"/>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矩形 21">
              <a:extLst>
                <a:ext uri="{FF2B5EF4-FFF2-40B4-BE49-F238E27FC236}">
                  <a16:creationId xmlns:a16="http://schemas.microsoft.com/office/drawing/2014/main" id="{D06170FB-A18A-8039-A12B-413A23D34AD1}"/>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 name="矩形 21">
              <a:extLst>
                <a:ext uri="{FF2B5EF4-FFF2-40B4-BE49-F238E27FC236}">
                  <a16:creationId xmlns:a16="http://schemas.microsoft.com/office/drawing/2014/main" id="{6D0FC411-E6AA-C7DA-3F97-2DF528F0FC39}"/>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45" name="组合 44">
            <a:extLst>
              <a:ext uri="{FF2B5EF4-FFF2-40B4-BE49-F238E27FC236}">
                <a16:creationId xmlns:a16="http://schemas.microsoft.com/office/drawing/2014/main" id="{A6B9080C-1FDC-E407-C892-D1219BC42960}"/>
              </a:ext>
            </a:extLst>
          </p:cNvPr>
          <p:cNvGrpSpPr/>
          <p:nvPr/>
        </p:nvGrpSpPr>
        <p:grpSpPr>
          <a:xfrm>
            <a:off x="6599596" y="1061869"/>
            <a:ext cx="626918" cy="626918"/>
            <a:chOff x="6096000" y="1806256"/>
            <a:chExt cx="626918" cy="626918"/>
          </a:xfrm>
        </p:grpSpPr>
        <p:sp>
          <p:nvSpPr>
            <p:cNvPr id="31" name="椭圆 30">
              <a:extLst>
                <a:ext uri="{FF2B5EF4-FFF2-40B4-BE49-F238E27FC236}">
                  <a16:creationId xmlns:a16="http://schemas.microsoft.com/office/drawing/2014/main" id="{068D1211-C2DB-8FC5-0CC9-6C02912D3482}"/>
                </a:ext>
              </a:extLst>
            </p:cNvPr>
            <p:cNvSpPr/>
            <p:nvPr/>
          </p:nvSpPr>
          <p:spPr>
            <a:xfrm>
              <a:off x="6096000" y="1806256"/>
              <a:ext cx="626918" cy="626918"/>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3" name="图片 32">
              <a:extLst>
                <a:ext uri="{FF2B5EF4-FFF2-40B4-BE49-F238E27FC236}">
                  <a16:creationId xmlns:a16="http://schemas.microsoft.com/office/drawing/2014/main" id="{66B516DA-64EC-92FA-09D4-F05A95DE5E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62597" y="1872853"/>
              <a:ext cx="493724" cy="493724"/>
            </a:xfrm>
            <a:prstGeom prst="rect">
              <a:avLst/>
            </a:prstGeom>
          </p:spPr>
        </p:pic>
      </p:grpSp>
      <p:sp>
        <p:nvSpPr>
          <p:cNvPr id="35" name="文本框 34">
            <a:extLst>
              <a:ext uri="{FF2B5EF4-FFF2-40B4-BE49-F238E27FC236}">
                <a16:creationId xmlns:a16="http://schemas.microsoft.com/office/drawing/2014/main" id="{99977EC2-D1C3-59C3-D461-14F9C81FB31E}"/>
              </a:ext>
            </a:extLst>
          </p:cNvPr>
          <p:cNvSpPr txBox="1"/>
          <p:nvPr/>
        </p:nvSpPr>
        <p:spPr>
          <a:xfrm>
            <a:off x="7293111" y="1146905"/>
            <a:ext cx="2292732" cy="523220"/>
          </a:xfrm>
          <a:prstGeom prst="rect">
            <a:avLst/>
          </a:prstGeom>
          <a:noFill/>
        </p:spPr>
        <p:txBody>
          <a:bodyPr wrap="square" rtlCol="0">
            <a:spAutoFit/>
          </a:bodyPr>
          <a:lstStyle/>
          <a:p>
            <a:r>
              <a:rPr lang="zh-CN" altLang="en-US" sz="2800" b="1" dirty="0">
                <a:solidFill>
                  <a:srgbClr val="4E5976"/>
                </a:solidFill>
                <a:cs typeface="+mn-ea"/>
                <a:sym typeface="+mn-lt"/>
              </a:rPr>
              <a:t>模型构建</a:t>
            </a:r>
          </a:p>
        </p:txBody>
      </p:sp>
      <p:sp>
        <p:nvSpPr>
          <p:cNvPr id="36" name="文本框 35">
            <a:extLst>
              <a:ext uri="{FF2B5EF4-FFF2-40B4-BE49-F238E27FC236}">
                <a16:creationId xmlns:a16="http://schemas.microsoft.com/office/drawing/2014/main" id="{F647511B-A035-5E41-A8FA-80F8F761E32B}"/>
              </a:ext>
            </a:extLst>
          </p:cNvPr>
          <p:cNvSpPr txBox="1"/>
          <p:nvPr/>
        </p:nvSpPr>
        <p:spPr>
          <a:xfrm>
            <a:off x="6676025" y="1699017"/>
            <a:ext cx="5368491" cy="3891450"/>
          </a:xfrm>
          <a:prstGeom prst="rect">
            <a:avLst/>
          </a:prstGeom>
          <a:noFill/>
        </p:spPr>
        <p:txBody>
          <a:bodyPr wrap="square" rtlCol="0">
            <a:spAutoFit/>
          </a:bodyPr>
          <a:lstStyle/>
          <a:p>
            <a:pPr indent="457200">
              <a:lnSpc>
                <a:spcPct val="200000"/>
              </a:lnSpc>
            </a:pPr>
            <a:r>
              <a:rPr lang="zh-CN" altLang="en-US" b="0" i="0" dirty="0">
                <a:solidFill>
                  <a:srgbClr val="000000"/>
                </a:solidFill>
                <a:effectLst/>
                <a:latin typeface="Helvetica Neue"/>
              </a:rPr>
              <a:t> </a:t>
            </a:r>
            <a:r>
              <a:rPr lang="zh-CN" altLang="en-US" b="0" i="0" dirty="0">
                <a:solidFill>
                  <a:srgbClr val="000000"/>
                </a:solidFill>
                <a:effectLst/>
                <a:latin typeface="宋体" panose="02010600030101010101" pitchFamily="2" charset="-122"/>
                <a:ea typeface="宋体" panose="02010600030101010101" pitchFamily="2" charset="-122"/>
              </a:rPr>
              <a:t>模型由 </a:t>
            </a:r>
            <a:r>
              <a:rPr lang="en-US" altLang="zh-CN" b="0" i="0" dirty="0">
                <a:solidFill>
                  <a:srgbClr val="000000"/>
                </a:solidFill>
                <a:effectLst/>
                <a:latin typeface="宋体" panose="02010600030101010101" pitchFamily="2" charset="-122"/>
                <a:ea typeface="宋体" panose="02010600030101010101" pitchFamily="2" charset="-122"/>
              </a:rPr>
              <a:t>ESM-2 </a:t>
            </a:r>
            <a:r>
              <a:rPr lang="zh-CN" altLang="en-US" b="0" i="0" dirty="0">
                <a:solidFill>
                  <a:srgbClr val="000000"/>
                </a:solidFill>
                <a:effectLst/>
                <a:latin typeface="宋体" panose="02010600030101010101" pitchFamily="2" charset="-122"/>
                <a:ea typeface="宋体" panose="02010600030101010101" pitchFamily="2" charset="-122"/>
              </a:rPr>
              <a:t>嵌入、多头注意力 （</a:t>
            </a:r>
            <a:r>
              <a:rPr lang="en-US" altLang="zh-CN" b="0" i="0" dirty="0" err="1">
                <a:solidFill>
                  <a:srgbClr val="000000"/>
                </a:solidFill>
                <a:effectLst/>
                <a:latin typeface="宋体" panose="02010600030101010101" pitchFamily="2" charset="-122"/>
                <a:ea typeface="宋体" panose="02010600030101010101" pitchFamily="2" charset="-122"/>
              </a:rPr>
              <a:t>n_head</a:t>
            </a:r>
            <a:r>
              <a:rPr lang="en-US" altLang="zh-CN" b="0" i="0" dirty="0">
                <a:solidFill>
                  <a:srgbClr val="000000"/>
                </a:solidFill>
                <a:effectLst/>
                <a:latin typeface="宋体" panose="02010600030101010101" pitchFamily="2" charset="-122"/>
                <a:ea typeface="宋体" panose="02010600030101010101" pitchFamily="2" charset="-122"/>
              </a:rPr>
              <a:t> = 4</a:t>
            </a:r>
            <a:r>
              <a:rPr lang="zh-CN" altLang="en-US" b="0" i="0" dirty="0">
                <a:solidFill>
                  <a:srgbClr val="000000"/>
                </a:solidFill>
                <a:effectLst/>
                <a:latin typeface="宋体" panose="02010600030101010101" pitchFamily="2" charset="-122"/>
                <a:ea typeface="宋体" panose="02010600030101010101" pitchFamily="2" charset="-122"/>
              </a:rPr>
              <a:t>） 和 </a:t>
            </a:r>
            <a:r>
              <a:rPr lang="en-US" altLang="zh-CN" b="0" i="0" dirty="0">
                <a:solidFill>
                  <a:srgbClr val="000000"/>
                </a:solidFill>
                <a:effectLst/>
                <a:latin typeface="宋体" panose="02010600030101010101" pitchFamily="2" charset="-122"/>
                <a:ea typeface="宋体" panose="02010600030101010101" pitchFamily="2" charset="-122"/>
              </a:rPr>
              <a:t>4 </a:t>
            </a:r>
            <a:r>
              <a:rPr lang="zh-CN" altLang="en-US" b="0" i="0" dirty="0">
                <a:solidFill>
                  <a:srgbClr val="000000"/>
                </a:solidFill>
                <a:effectLst/>
                <a:latin typeface="宋体" panose="02010600030101010101" pitchFamily="2" charset="-122"/>
                <a:ea typeface="宋体" panose="02010600030101010101" pitchFamily="2" charset="-122"/>
              </a:rPr>
              <a:t>个残差密集块组成。</a:t>
            </a:r>
            <a:r>
              <a:rPr lang="en-US" altLang="zh-CN" b="0" i="0" dirty="0">
                <a:solidFill>
                  <a:srgbClr val="000000"/>
                </a:solidFill>
                <a:effectLst/>
                <a:latin typeface="宋体" panose="02010600030101010101" pitchFamily="2" charset="-122"/>
                <a:ea typeface="宋体" panose="02010600030101010101" pitchFamily="2" charset="-122"/>
              </a:rPr>
              <a:t>esm2_t6_8M_UR50D </a:t>
            </a:r>
            <a:r>
              <a:rPr lang="zh-CN" altLang="en-US" b="0" i="0" dirty="0">
                <a:solidFill>
                  <a:srgbClr val="000000"/>
                </a:solidFill>
                <a:effectLst/>
                <a:latin typeface="宋体" panose="02010600030101010101" pitchFamily="2" charset="-122"/>
                <a:ea typeface="宋体" panose="02010600030101010101" pitchFamily="2" charset="-122"/>
              </a:rPr>
              <a:t>模型计算蛋白质序列嵌入（</a:t>
            </a:r>
            <a:r>
              <a:rPr lang="en-US" altLang="zh-CN" b="0" i="0" dirty="0">
                <a:solidFill>
                  <a:srgbClr val="000000"/>
                </a:solidFill>
                <a:effectLst/>
                <a:latin typeface="宋体" panose="02010600030101010101" pitchFamily="2" charset="-122"/>
                <a:ea typeface="宋体" panose="02010600030101010101" pitchFamily="2" charset="-122"/>
              </a:rPr>
              <a:t>320</a:t>
            </a:r>
            <a:r>
              <a:rPr lang="zh-CN" altLang="en-US" b="0" i="0" dirty="0">
                <a:solidFill>
                  <a:srgbClr val="000000"/>
                </a:solidFill>
                <a:effectLst/>
                <a:latin typeface="宋体" panose="02010600030101010101" pitchFamily="2" charset="-122"/>
                <a:ea typeface="宋体" panose="02010600030101010101" pitchFamily="2" charset="-122"/>
              </a:rPr>
              <a:t>维），嵌入向量会传递到两部分，一部分传递给卷积神经网络（</a:t>
            </a:r>
            <a:r>
              <a:rPr lang="en-US" altLang="zh-CN" b="0" i="0" dirty="0">
                <a:solidFill>
                  <a:srgbClr val="000000"/>
                </a:solidFill>
                <a:effectLst/>
                <a:latin typeface="宋体" panose="02010600030101010101" pitchFamily="2" charset="-122"/>
                <a:ea typeface="宋体" panose="02010600030101010101" pitchFamily="2" charset="-122"/>
              </a:rPr>
              <a:t>CNN</a:t>
            </a:r>
            <a:r>
              <a:rPr lang="zh-CN" altLang="en-US" b="0" i="0" dirty="0">
                <a:solidFill>
                  <a:srgbClr val="000000"/>
                </a:solidFill>
                <a:effectLst/>
                <a:latin typeface="宋体" panose="02010600030101010101" pitchFamily="2" charset="-122"/>
                <a:ea typeface="宋体" panose="02010600030101010101" pitchFamily="2" charset="-122"/>
              </a:rPr>
              <a:t>）生成值（</a:t>
            </a:r>
            <a:r>
              <a:rPr lang="en-US" altLang="zh-CN" b="0" i="0" dirty="0">
                <a:solidFill>
                  <a:srgbClr val="000000"/>
                </a:solidFill>
                <a:effectLst/>
                <a:latin typeface="宋体" panose="02010600030101010101" pitchFamily="2" charset="-122"/>
                <a:ea typeface="宋体" panose="02010600030101010101" pitchFamily="2" charset="-122"/>
              </a:rPr>
              <a:t>values</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a:t>
            </a:r>
            <a:r>
              <a:rPr lang="zh-CN" altLang="en-US" b="0" i="0" dirty="0">
                <a:solidFill>
                  <a:srgbClr val="000000"/>
                </a:solidFill>
                <a:effectLst/>
                <a:latin typeface="宋体" panose="02010600030101010101" pitchFamily="2" charset="-122"/>
                <a:ea typeface="宋体" panose="02010600030101010101" pitchFamily="2" charset="-122"/>
              </a:rPr>
              <a:t>另一部分传递给并传递给 </a:t>
            </a:r>
            <a:r>
              <a:rPr lang="en-US" altLang="zh-CN" b="0" i="0" dirty="0">
                <a:solidFill>
                  <a:srgbClr val="000000"/>
                </a:solidFill>
                <a:effectLst/>
                <a:latin typeface="宋体" panose="02010600030101010101" pitchFamily="2" charset="-122"/>
                <a:ea typeface="宋体" panose="02010600030101010101" pitchFamily="2" charset="-122"/>
              </a:rPr>
              <a:t>CNN </a:t>
            </a:r>
            <a:r>
              <a:rPr lang="zh-CN" altLang="en-US" b="0" i="0" dirty="0">
                <a:solidFill>
                  <a:srgbClr val="000000"/>
                </a:solidFill>
                <a:effectLst/>
                <a:latin typeface="宋体" panose="02010600030101010101" pitchFamily="2" charset="-122"/>
                <a:ea typeface="宋体" panose="02010600030101010101" pitchFamily="2" charset="-122"/>
              </a:rPr>
              <a:t>和 </a:t>
            </a:r>
            <a:r>
              <a:rPr lang="en-US" altLang="zh-CN" b="0" i="0" dirty="0" err="1">
                <a:solidFill>
                  <a:srgbClr val="000000"/>
                </a:solidFill>
                <a:effectLst/>
                <a:latin typeface="宋体" panose="02010600030101010101" pitchFamily="2" charset="-122"/>
                <a:ea typeface="宋体" panose="02010600030101010101" pitchFamily="2" charset="-122"/>
              </a:rPr>
              <a:t>softmax</a:t>
            </a:r>
            <a:r>
              <a:rPr lang="en-US" altLang="zh-CN" b="0" i="0" dirty="0">
                <a:solidFill>
                  <a:srgbClr val="000000"/>
                </a:solidFill>
                <a:effectLst/>
                <a:latin typeface="宋体" panose="02010600030101010101" pitchFamily="2" charset="-122"/>
                <a:ea typeface="宋体" panose="02010600030101010101" pitchFamily="2" charset="-122"/>
              </a:rPr>
              <a:t> </a:t>
            </a:r>
            <a:r>
              <a:rPr lang="zh-CN" altLang="en-US" b="0" i="0" dirty="0">
                <a:solidFill>
                  <a:srgbClr val="000000"/>
                </a:solidFill>
                <a:effectLst/>
                <a:latin typeface="宋体" panose="02010600030101010101" pitchFamily="2" charset="-122"/>
                <a:ea typeface="宋体" panose="02010600030101010101" pitchFamily="2" charset="-122"/>
              </a:rPr>
              <a:t>以生成权重。然后，计算元素值和权重的乘积作为注意力加权特征。</a:t>
            </a:r>
            <a:endPar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grpSp>
        <p:nvGrpSpPr>
          <p:cNvPr id="19" name="组合 18">
            <a:extLst>
              <a:ext uri="{FF2B5EF4-FFF2-40B4-BE49-F238E27FC236}">
                <a16:creationId xmlns:a16="http://schemas.microsoft.com/office/drawing/2014/main" id="{915AF2DC-3F9B-9320-B0F6-C47AB3ECD3D6}"/>
              </a:ext>
            </a:extLst>
          </p:cNvPr>
          <p:cNvGrpSpPr/>
          <p:nvPr/>
        </p:nvGrpSpPr>
        <p:grpSpPr>
          <a:xfrm rot="10800000" flipH="1" flipV="1">
            <a:off x="10778838" y="5600698"/>
            <a:ext cx="1413169" cy="1257302"/>
            <a:chOff x="4729271" y="2720371"/>
            <a:chExt cx="7462734" cy="4137630"/>
          </a:xfrm>
        </p:grpSpPr>
        <p:sp>
          <p:nvSpPr>
            <p:cNvPr id="20" name="矩形 21">
              <a:extLst>
                <a:ext uri="{FF2B5EF4-FFF2-40B4-BE49-F238E27FC236}">
                  <a16:creationId xmlns:a16="http://schemas.microsoft.com/office/drawing/2014/main" id="{A13020E1-ACF3-3D97-1B2F-9DA9C170A395}"/>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a:extLst>
                <a:ext uri="{FF2B5EF4-FFF2-40B4-BE49-F238E27FC236}">
                  <a16:creationId xmlns:a16="http://schemas.microsoft.com/office/drawing/2014/main" id="{15900F2B-C04C-58BC-B50C-630908F13BB8}"/>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矩形 21">
              <a:extLst>
                <a:ext uri="{FF2B5EF4-FFF2-40B4-BE49-F238E27FC236}">
                  <a16:creationId xmlns:a16="http://schemas.microsoft.com/office/drawing/2014/main" id="{C5824B92-0E37-D34F-768C-ECDE9D38977D}"/>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6" name="组合 5">
            <a:extLst>
              <a:ext uri="{FF2B5EF4-FFF2-40B4-BE49-F238E27FC236}">
                <a16:creationId xmlns:a16="http://schemas.microsoft.com/office/drawing/2014/main" id="{B355D9D8-A125-42D2-79D3-E107A8C89627}"/>
              </a:ext>
            </a:extLst>
          </p:cNvPr>
          <p:cNvGrpSpPr/>
          <p:nvPr/>
        </p:nvGrpSpPr>
        <p:grpSpPr>
          <a:xfrm>
            <a:off x="1122122" y="329760"/>
            <a:ext cx="4803219" cy="525516"/>
            <a:chOff x="672787" y="101730"/>
            <a:chExt cx="4803219" cy="525516"/>
          </a:xfrm>
        </p:grpSpPr>
        <p:sp>
          <p:nvSpPr>
            <p:cNvPr id="7" name="文本框 6">
              <a:extLst>
                <a:ext uri="{FF2B5EF4-FFF2-40B4-BE49-F238E27FC236}">
                  <a16:creationId xmlns:a16="http://schemas.microsoft.com/office/drawing/2014/main" id="{9E6D76E4-3948-F344-4F3A-3AAC050EC051}"/>
                </a:ext>
              </a:extLst>
            </p:cNvPr>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关键组件解析</a:t>
              </a:r>
            </a:p>
          </p:txBody>
        </p:sp>
        <p:sp>
          <p:nvSpPr>
            <p:cNvPr id="8" name="文本框 7">
              <a:extLst>
                <a:ext uri="{FF2B5EF4-FFF2-40B4-BE49-F238E27FC236}">
                  <a16:creationId xmlns:a16="http://schemas.microsoft.com/office/drawing/2014/main" id="{1BF49F87-EAEB-931A-DD94-99DC522416EB}"/>
                </a:ext>
              </a:extLst>
            </p:cNvPr>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Deep learning model design</a:t>
              </a:r>
              <a:endParaRPr lang="zh-CN" altLang="en-US" sz="1100" dirty="0">
                <a:solidFill>
                  <a:srgbClr val="A6C1CC"/>
                </a:solidFill>
                <a:cs typeface="+mn-ea"/>
                <a:sym typeface="+mn-lt"/>
              </a:endParaRPr>
            </a:p>
          </p:txBody>
        </p:sp>
      </p:grpSp>
      <p:pic>
        <p:nvPicPr>
          <p:cNvPr id="10" name="图片 9">
            <a:extLst>
              <a:ext uri="{FF2B5EF4-FFF2-40B4-BE49-F238E27FC236}">
                <a16:creationId xmlns:a16="http://schemas.microsoft.com/office/drawing/2014/main" id="{693F5EEF-3894-71EE-65E8-FB3CE86F83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828" y="1381307"/>
            <a:ext cx="5845356" cy="5022349"/>
          </a:xfrm>
          <a:prstGeom prst="rect">
            <a:avLst/>
          </a:prstGeom>
        </p:spPr>
      </p:pic>
    </p:spTree>
    <p:extLst>
      <p:ext uri="{BB962C8B-B14F-4D97-AF65-F5344CB8AC3E}">
        <p14:creationId xmlns:p14="http://schemas.microsoft.com/office/powerpoint/2010/main" val="341190822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0800000">
            <a:off x="0" y="0"/>
            <a:ext cx="1413169" cy="1257302"/>
            <a:chOff x="4729271" y="2720371"/>
            <a:chExt cx="7462734" cy="4137630"/>
          </a:xfrm>
        </p:grpSpPr>
        <p:sp>
          <p:nvSpPr>
            <p:cNvPr id="3"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45" name="组合 44"/>
          <p:cNvGrpSpPr/>
          <p:nvPr/>
        </p:nvGrpSpPr>
        <p:grpSpPr>
          <a:xfrm>
            <a:off x="6596359" y="855276"/>
            <a:ext cx="626918" cy="626918"/>
            <a:chOff x="6096000" y="1806256"/>
            <a:chExt cx="626918" cy="626918"/>
          </a:xfrm>
        </p:grpSpPr>
        <p:sp>
          <p:nvSpPr>
            <p:cNvPr id="31" name="椭圆 30"/>
            <p:cNvSpPr/>
            <p:nvPr/>
          </p:nvSpPr>
          <p:spPr>
            <a:xfrm>
              <a:off x="6096000" y="1806256"/>
              <a:ext cx="626918" cy="626918"/>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62597" y="1872853"/>
              <a:ext cx="493724" cy="493724"/>
            </a:xfrm>
            <a:prstGeom prst="rect">
              <a:avLst/>
            </a:prstGeom>
          </p:spPr>
        </p:pic>
      </p:grpSp>
      <p:sp>
        <p:nvSpPr>
          <p:cNvPr id="35" name="文本框 34"/>
          <p:cNvSpPr txBox="1"/>
          <p:nvPr/>
        </p:nvSpPr>
        <p:spPr>
          <a:xfrm>
            <a:off x="7289873" y="921252"/>
            <a:ext cx="2292732" cy="523220"/>
          </a:xfrm>
          <a:prstGeom prst="rect">
            <a:avLst/>
          </a:prstGeom>
          <a:noFill/>
        </p:spPr>
        <p:txBody>
          <a:bodyPr wrap="square" rtlCol="0">
            <a:spAutoFit/>
          </a:bodyPr>
          <a:lstStyle/>
          <a:p>
            <a:r>
              <a:rPr lang="zh-CN" altLang="en-US" sz="2800" b="1" dirty="0">
                <a:solidFill>
                  <a:srgbClr val="4E5976"/>
                </a:solidFill>
                <a:cs typeface="+mn-ea"/>
                <a:sym typeface="+mn-lt"/>
              </a:rPr>
              <a:t>模型构建</a:t>
            </a:r>
          </a:p>
        </p:txBody>
      </p:sp>
      <p:sp>
        <p:nvSpPr>
          <p:cNvPr id="36" name="文本框 35"/>
          <p:cNvSpPr txBox="1"/>
          <p:nvPr/>
        </p:nvSpPr>
        <p:spPr>
          <a:xfrm>
            <a:off x="6662955" y="1304557"/>
            <a:ext cx="4830833" cy="5553443"/>
          </a:xfrm>
          <a:prstGeom prst="rect">
            <a:avLst/>
          </a:prstGeom>
          <a:noFill/>
        </p:spPr>
        <p:txBody>
          <a:bodyPr wrap="square" rtlCol="0">
            <a:spAutoFit/>
          </a:bodyPr>
          <a:lstStyle/>
          <a:p>
            <a:pPr indent="457200">
              <a:lnSpc>
                <a:spcPct val="200000"/>
              </a:lnSpc>
            </a:pPr>
            <a:r>
              <a:rPr lang="zh-CN" altLang="en-US" b="0" i="0" dirty="0">
                <a:solidFill>
                  <a:srgbClr val="000000"/>
                </a:solidFill>
                <a:effectLst/>
                <a:latin typeface="宋体" panose="02010600030101010101" pitchFamily="2" charset="-122"/>
                <a:ea typeface="宋体" panose="02010600030101010101" pitchFamily="2" charset="-122"/>
              </a:rPr>
              <a:t>在多头注意力过程中，注意力加权特征计算 </a:t>
            </a:r>
            <a:r>
              <a:rPr lang="en-US" altLang="zh-CN" b="0" i="0" dirty="0">
                <a:solidFill>
                  <a:srgbClr val="000000"/>
                </a:solidFill>
                <a:effectLst/>
                <a:latin typeface="宋体" panose="02010600030101010101" pitchFamily="2" charset="-122"/>
                <a:ea typeface="宋体" panose="02010600030101010101" pitchFamily="2" charset="-122"/>
              </a:rPr>
              <a:t>4 </a:t>
            </a:r>
            <a:r>
              <a:rPr lang="zh-CN" altLang="en-US" b="0" i="0" dirty="0">
                <a:solidFill>
                  <a:srgbClr val="000000"/>
                </a:solidFill>
                <a:effectLst/>
                <a:latin typeface="宋体" panose="02010600030101010101" pitchFamily="2" charset="-122"/>
                <a:ea typeface="宋体" panose="02010600030101010101" pitchFamily="2" charset="-122"/>
              </a:rPr>
              <a:t>次，并将所有 </a:t>
            </a:r>
            <a:r>
              <a:rPr lang="en-US" altLang="zh-CN" b="0" i="0" dirty="0" err="1">
                <a:solidFill>
                  <a:srgbClr val="000000"/>
                </a:solidFill>
                <a:effectLst/>
                <a:latin typeface="宋体" panose="02010600030101010101" pitchFamily="2" charset="-122"/>
                <a:ea typeface="宋体" panose="02010600030101010101" pitchFamily="2" charset="-122"/>
              </a:rPr>
              <a:t>MaxPools</a:t>
            </a:r>
            <a:r>
              <a:rPr lang="zh-CN" altLang="en-US" b="0" i="0" dirty="0">
                <a:solidFill>
                  <a:srgbClr val="000000"/>
                </a:solidFill>
                <a:effectLst/>
                <a:latin typeface="宋体" panose="02010600030101010101" pitchFamily="2" charset="-122"/>
                <a:ea typeface="宋体" panose="02010600030101010101" pitchFamily="2" charset="-122"/>
              </a:rPr>
              <a:t>和注意力加权特征的 </a:t>
            </a:r>
            <a:r>
              <a:rPr lang="en-US" altLang="zh-CN" b="0" i="0" dirty="0">
                <a:solidFill>
                  <a:srgbClr val="000000"/>
                </a:solidFill>
                <a:effectLst/>
                <a:latin typeface="宋体" panose="02010600030101010101" pitchFamily="2" charset="-122"/>
                <a:ea typeface="宋体" panose="02010600030101010101" pitchFamily="2" charset="-122"/>
              </a:rPr>
              <a:t>Sum </a:t>
            </a:r>
            <a:r>
              <a:rPr lang="zh-CN" altLang="en-US" b="0" i="0" dirty="0">
                <a:solidFill>
                  <a:srgbClr val="000000"/>
                </a:solidFill>
                <a:effectLst/>
                <a:latin typeface="宋体" panose="02010600030101010101" pitchFamily="2" charset="-122"/>
                <a:ea typeface="宋体" panose="02010600030101010101" pitchFamily="2" charset="-122"/>
              </a:rPr>
              <a:t>连接起来作为残差密集块的输入。每个残差密集块由一个线性层、一个激活层和一个加法运算符组成。每个残差密集块中使用的激活函数是 </a:t>
            </a:r>
            <a:r>
              <a:rPr lang="en-US" altLang="zh-CN" b="0" i="0" dirty="0">
                <a:solidFill>
                  <a:srgbClr val="000000"/>
                </a:solidFill>
                <a:effectLst/>
                <a:latin typeface="宋体" panose="02010600030101010101" pitchFamily="2" charset="-122"/>
                <a:ea typeface="宋体" panose="02010600030101010101" pitchFamily="2" charset="-122"/>
              </a:rPr>
              <a:t>Leaky ReLU</a:t>
            </a:r>
            <a:r>
              <a:rPr lang="zh-CN" altLang="en-US" b="0" i="0" dirty="0">
                <a:solidFill>
                  <a:srgbClr val="000000"/>
                </a:solidFill>
                <a:effectLst/>
                <a:latin typeface="宋体" panose="02010600030101010101" pitchFamily="2" charset="-122"/>
                <a:ea typeface="宋体" panose="02010600030101010101" pitchFamily="2" charset="-122"/>
              </a:rPr>
              <a:t>，它可以缓解负输入值导致的梯度消失问题。对于回归任务，</a:t>
            </a:r>
            <a:r>
              <a:rPr lang="en-US" altLang="zh-CN" b="0" i="0" dirty="0">
                <a:solidFill>
                  <a:srgbClr val="000000"/>
                </a:solidFill>
                <a:effectLst/>
                <a:latin typeface="宋体" panose="02010600030101010101" pitchFamily="2" charset="-122"/>
                <a:ea typeface="宋体" panose="02010600030101010101" pitchFamily="2" charset="-122"/>
              </a:rPr>
              <a:t>Leaky ReLU </a:t>
            </a:r>
            <a:r>
              <a:rPr lang="zh-CN" altLang="en-US" b="0" i="0" dirty="0">
                <a:solidFill>
                  <a:srgbClr val="000000"/>
                </a:solidFill>
                <a:effectLst/>
                <a:latin typeface="宋体" panose="02010600030101010101" pitchFamily="2" charset="-122"/>
                <a:ea typeface="宋体" panose="02010600030101010101" pitchFamily="2" charset="-122"/>
              </a:rPr>
              <a:t>被认为比 </a:t>
            </a:r>
            <a:r>
              <a:rPr lang="en-US" altLang="zh-CN" b="0" i="0" dirty="0">
                <a:solidFill>
                  <a:srgbClr val="000000"/>
                </a:solidFill>
                <a:effectLst/>
                <a:latin typeface="宋体" panose="02010600030101010101" pitchFamily="2" charset="-122"/>
                <a:ea typeface="宋体" panose="02010600030101010101" pitchFamily="2" charset="-122"/>
              </a:rPr>
              <a:t>ReLU </a:t>
            </a:r>
            <a:r>
              <a:rPr lang="zh-CN" altLang="en-US" b="0" i="0" dirty="0">
                <a:solidFill>
                  <a:srgbClr val="000000"/>
                </a:solidFill>
                <a:effectLst/>
                <a:latin typeface="宋体" panose="02010600030101010101" pitchFamily="2" charset="-122"/>
                <a:ea typeface="宋体" panose="02010600030101010101" pitchFamily="2" charset="-122"/>
              </a:rPr>
              <a:t>更有效。连接的特征经过 </a:t>
            </a:r>
            <a:r>
              <a:rPr lang="en-US" altLang="zh-CN" b="0" i="0" dirty="0">
                <a:solidFill>
                  <a:srgbClr val="000000"/>
                </a:solidFill>
                <a:effectLst/>
                <a:latin typeface="宋体" panose="02010600030101010101" pitchFamily="2" charset="-122"/>
                <a:ea typeface="宋体" panose="02010600030101010101" pitchFamily="2" charset="-122"/>
              </a:rPr>
              <a:t>4 </a:t>
            </a:r>
            <a:r>
              <a:rPr lang="zh-CN" altLang="en-US" b="0" i="0" dirty="0">
                <a:solidFill>
                  <a:srgbClr val="000000"/>
                </a:solidFill>
                <a:effectLst/>
                <a:latin typeface="宋体" panose="02010600030101010101" pitchFamily="2" charset="-122"/>
                <a:ea typeface="宋体" panose="02010600030101010101" pitchFamily="2" charset="-122"/>
              </a:rPr>
              <a:t>个残差密集块和一个线性层来回归目标值。</a:t>
            </a:r>
            <a:endParaRPr lang="zh-CN" altLang="en-US" dirty="0">
              <a:solidFill>
                <a:schemeClr val="tx2">
                  <a:lumMod val="50000"/>
                </a:schemeClr>
              </a:solidFill>
              <a:latin typeface="宋体" panose="02010600030101010101" pitchFamily="2" charset="-122"/>
              <a:ea typeface="宋体" panose="02010600030101010101" pitchFamily="2" charset="-122"/>
              <a:cs typeface="+mn-ea"/>
              <a:sym typeface="+mn-lt"/>
            </a:endParaRPr>
          </a:p>
        </p:txBody>
      </p:sp>
      <p:grpSp>
        <p:nvGrpSpPr>
          <p:cNvPr id="19" name="组合 18"/>
          <p:cNvGrpSpPr/>
          <p:nvPr/>
        </p:nvGrpSpPr>
        <p:grpSpPr>
          <a:xfrm rot="10800000" flipH="1" flipV="1">
            <a:off x="10778838" y="5600698"/>
            <a:ext cx="1413169" cy="1257302"/>
            <a:chOff x="4729271" y="2720371"/>
            <a:chExt cx="7462734" cy="4137630"/>
          </a:xfrm>
        </p:grpSpPr>
        <p:sp>
          <p:nvSpPr>
            <p:cNvPr id="20"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6" name="组合 5"/>
          <p:cNvGrpSpPr/>
          <p:nvPr/>
        </p:nvGrpSpPr>
        <p:grpSpPr>
          <a:xfrm>
            <a:off x="1122122" y="329760"/>
            <a:ext cx="4803219" cy="525516"/>
            <a:chOff x="672787" y="101730"/>
            <a:chExt cx="4803219" cy="525516"/>
          </a:xfrm>
        </p:grpSpPr>
        <p:sp>
          <p:nvSpPr>
            <p:cNvPr id="7" name="文本框 6"/>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关键组件解析</a:t>
              </a:r>
            </a:p>
          </p:txBody>
        </p:sp>
        <p:sp>
          <p:nvSpPr>
            <p:cNvPr id="8" name="文本框 7"/>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Deep learning model design</a:t>
              </a:r>
              <a:endParaRPr lang="zh-CN" altLang="en-US" sz="1100" dirty="0">
                <a:solidFill>
                  <a:srgbClr val="A6C1CC"/>
                </a:solidFill>
                <a:cs typeface="+mn-ea"/>
                <a:sym typeface="+mn-lt"/>
              </a:endParaRPr>
            </a:p>
          </p:txBody>
        </p:sp>
      </p:grpSp>
      <p:pic>
        <p:nvPicPr>
          <p:cNvPr id="10" name="图片 9">
            <a:extLst>
              <a:ext uri="{FF2B5EF4-FFF2-40B4-BE49-F238E27FC236}">
                <a16:creationId xmlns:a16="http://schemas.microsoft.com/office/drawing/2014/main" id="{8C7C8191-BD1B-2047-E78F-025E0A60B2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828" y="1381307"/>
            <a:ext cx="5845356" cy="5022349"/>
          </a:xfrm>
          <a:prstGeom prst="rect">
            <a:avLst/>
          </a:prstGeom>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527634" y="329760"/>
            <a:ext cx="6329774" cy="6139866"/>
          </a:xfrm>
          <a:prstGeom prst="rect">
            <a:avLst/>
          </a:prstGeom>
          <a:solidFill>
            <a:srgbClr val="E2EA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5527634" y="514618"/>
            <a:ext cx="1932711" cy="461665"/>
          </a:xfrm>
          <a:prstGeom prst="rect">
            <a:avLst/>
          </a:prstGeom>
          <a:noFill/>
        </p:spPr>
        <p:txBody>
          <a:bodyPr wrap="square" rtlCol="0">
            <a:spAutoFit/>
          </a:bodyPr>
          <a:lstStyle/>
          <a:p>
            <a:r>
              <a:rPr lang="zh-CN" altLang="en-US" sz="2400" b="1" dirty="0">
                <a:solidFill>
                  <a:srgbClr val="4E5976"/>
                </a:solidFill>
                <a:cs typeface="+mn-ea"/>
                <a:sym typeface="+mn-lt"/>
              </a:rPr>
              <a:t>模型训练</a:t>
            </a:r>
          </a:p>
        </p:txBody>
      </p:sp>
      <p:grpSp>
        <p:nvGrpSpPr>
          <p:cNvPr id="25" name="组合 24"/>
          <p:cNvGrpSpPr/>
          <p:nvPr/>
        </p:nvGrpSpPr>
        <p:grpSpPr>
          <a:xfrm rot="10800000">
            <a:off x="0" y="0"/>
            <a:ext cx="1413169" cy="1257302"/>
            <a:chOff x="4729271" y="2720371"/>
            <a:chExt cx="7462734" cy="4137630"/>
          </a:xfrm>
        </p:grpSpPr>
        <p:sp>
          <p:nvSpPr>
            <p:cNvPr id="26"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7"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9" name="组合 28"/>
          <p:cNvGrpSpPr/>
          <p:nvPr/>
        </p:nvGrpSpPr>
        <p:grpSpPr>
          <a:xfrm rot="10800000" flipH="1" flipV="1">
            <a:off x="10778838" y="5600698"/>
            <a:ext cx="1413169" cy="1257302"/>
            <a:chOff x="4729271" y="2720371"/>
            <a:chExt cx="7462734" cy="4137630"/>
          </a:xfrm>
        </p:grpSpPr>
        <p:sp>
          <p:nvSpPr>
            <p:cNvPr id="30"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1"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初始训练策略与实施细节</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Initial training strategy and implementation details.</a:t>
              </a:r>
              <a:endParaRPr lang="zh-CN" altLang="en-US" sz="1100" dirty="0">
                <a:solidFill>
                  <a:srgbClr val="A6C1CC"/>
                </a:solidFill>
                <a:cs typeface="+mn-ea"/>
                <a:sym typeface="+mn-lt"/>
              </a:endParaRPr>
            </a:p>
          </p:txBody>
        </p:sp>
      </p:grpSp>
      <p:pic>
        <p:nvPicPr>
          <p:cNvPr id="6" name="图片 5">
            <a:extLst>
              <a:ext uri="{FF2B5EF4-FFF2-40B4-BE49-F238E27FC236}">
                <a16:creationId xmlns:a16="http://schemas.microsoft.com/office/drawing/2014/main" id="{9431C2E4-E178-D638-A6F2-A0F439AAD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210" y="1558955"/>
            <a:ext cx="4845354" cy="2401671"/>
          </a:xfrm>
          <a:prstGeom prst="rect">
            <a:avLst/>
          </a:prstGeom>
        </p:spPr>
      </p:pic>
      <p:pic>
        <p:nvPicPr>
          <p:cNvPr id="8" name="图片 7">
            <a:extLst>
              <a:ext uri="{FF2B5EF4-FFF2-40B4-BE49-F238E27FC236}">
                <a16:creationId xmlns:a16="http://schemas.microsoft.com/office/drawing/2014/main" id="{F6A19FB5-544D-9EEF-B650-43AA758909EC}"/>
              </a:ext>
            </a:extLst>
          </p:cNvPr>
          <p:cNvPicPr>
            <a:picLocks noChangeAspect="1"/>
          </p:cNvPicPr>
          <p:nvPr/>
        </p:nvPicPr>
        <p:blipFill>
          <a:blip r:embed="rId3">
            <a:extLst>
              <a:ext uri="{28A0092B-C50C-407E-A947-70E740481C1C}">
                <a14:useLocalDpi xmlns:a14="http://schemas.microsoft.com/office/drawing/2010/main" val="0"/>
              </a:ext>
            </a:extLst>
          </a:blip>
          <a:srcRect l="18186" r="17071"/>
          <a:stretch/>
        </p:blipFill>
        <p:spPr>
          <a:xfrm>
            <a:off x="501599" y="4224532"/>
            <a:ext cx="4109885" cy="2149026"/>
          </a:xfrm>
          <a:prstGeom prst="rect">
            <a:avLst/>
          </a:prstGeom>
        </p:spPr>
      </p:pic>
      <p:sp>
        <p:nvSpPr>
          <p:cNvPr id="5" name="文本框 4">
            <a:extLst>
              <a:ext uri="{FF2B5EF4-FFF2-40B4-BE49-F238E27FC236}">
                <a16:creationId xmlns:a16="http://schemas.microsoft.com/office/drawing/2014/main" id="{68C9351A-2E36-CDCB-6345-9EC10FE4F509}"/>
              </a:ext>
            </a:extLst>
          </p:cNvPr>
          <p:cNvSpPr txBox="1"/>
          <p:nvPr/>
        </p:nvSpPr>
        <p:spPr>
          <a:xfrm>
            <a:off x="5772133" y="902631"/>
            <a:ext cx="5855887" cy="5449056"/>
          </a:xfrm>
          <a:prstGeom prst="rect">
            <a:avLst/>
          </a:prstGeom>
          <a:noFill/>
        </p:spPr>
        <p:txBody>
          <a:bodyPr wrap="square" rtlCol="0">
            <a:spAutoFit/>
          </a:bodyPr>
          <a:lstStyle/>
          <a:p>
            <a:pPr indent="457200">
              <a:lnSpc>
                <a:spcPct val="150000"/>
              </a:lnSpc>
            </a:pPr>
            <a:r>
              <a:rPr lang="zh-CN" altLang="en-US" b="0" i="0" dirty="0">
                <a:solidFill>
                  <a:srgbClr val="000000"/>
                </a:solidFill>
                <a:effectLst/>
                <a:latin typeface="宋体" panose="02010600030101010101" pitchFamily="2" charset="-122"/>
                <a:ea typeface="宋体" panose="02010600030101010101" pitchFamily="2" charset="-122"/>
              </a:rPr>
              <a:t>数据集包含约 </a:t>
            </a:r>
            <a:r>
              <a:rPr lang="en-US" altLang="zh-CN" b="0" i="0" dirty="0">
                <a:solidFill>
                  <a:srgbClr val="000000"/>
                </a:solidFill>
                <a:effectLst/>
                <a:latin typeface="宋体" panose="02010600030101010101" pitchFamily="2" charset="-122"/>
                <a:ea typeface="宋体" panose="02010600030101010101" pitchFamily="2" charset="-122"/>
              </a:rPr>
              <a:t>140,000 </a:t>
            </a:r>
            <a:r>
              <a:rPr lang="zh-CN" altLang="en-US" b="0" i="0" dirty="0">
                <a:solidFill>
                  <a:srgbClr val="000000"/>
                </a:solidFill>
                <a:effectLst/>
                <a:latin typeface="宋体" panose="02010600030101010101" pitchFamily="2" charset="-122"/>
                <a:ea typeface="宋体" panose="02010600030101010101" pitchFamily="2" charset="-122"/>
              </a:rPr>
              <a:t>个长度不一的蛋白质序列，其中包括约 </a:t>
            </a:r>
            <a:r>
              <a:rPr lang="en-US" altLang="zh-CN" b="0" i="0" dirty="0">
                <a:solidFill>
                  <a:srgbClr val="000000"/>
                </a:solidFill>
                <a:effectLst/>
                <a:latin typeface="宋体" panose="02010600030101010101" pitchFamily="2" charset="-122"/>
                <a:ea typeface="宋体" panose="02010600030101010101" pitchFamily="2" charset="-122"/>
              </a:rPr>
              <a:t>3 </a:t>
            </a:r>
            <a:r>
              <a:rPr lang="zh-CN" altLang="en-US" b="0" i="0" dirty="0">
                <a:solidFill>
                  <a:srgbClr val="000000"/>
                </a:solidFill>
                <a:effectLst/>
                <a:latin typeface="宋体" panose="02010600030101010101" pitchFamily="2" charset="-122"/>
                <a:ea typeface="宋体" panose="02010600030101010101" pitchFamily="2" charset="-122"/>
              </a:rPr>
              <a:t>万条 </a:t>
            </a:r>
            <a:r>
              <a:rPr lang="en-US" altLang="zh-CN" b="0" i="0" dirty="0" err="1">
                <a:solidFill>
                  <a:srgbClr val="000000"/>
                </a:solidFill>
                <a:effectLst/>
                <a:latin typeface="宋体" panose="02010600030101010101" pitchFamily="2" charset="-122"/>
                <a:ea typeface="宋体" panose="02010600030101010101" pitchFamily="2" charset="-122"/>
              </a:rPr>
              <a:t>avGFP</a:t>
            </a:r>
            <a:r>
              <a:rPr lang="en-US" altLang="zh-CN" b="0" i="0" dirty="0">
                <a:solidFill>
                  <a:srgbClr val="000000"/>
                </a:solidFill>
                <a:effectLst/>
                <a:latin typeface="宋体" panose="02010600030101010101" pitchFamily="2" charset="-122"/>
                <a:ea typeface="宋体" panose="02010600030101010101" pitchFamily="2" charset="-122"/>
              </a:rPr>
              <a:t> </a:t>
            </a:r>
            <a:r>
              <a:rPr lang="zh-CN" altLang="en-US" b="0" i="0" dirty="0">
                <a:solidFill>
                  <a:srgbClr val="000000"/>
                </a:solidFill>
                <a:effectLst/>
                <a:latin typeface="宋体" panose="02010600030101010101" pitchFamily="2" charset="-122"/>
                <a:ea typeface="宋体" panose="02010600030101010101" pitchFamily="2" charset="-122"/>
              </a:rPr>
              <a:t>序列。</a:t>
            </a:r>
            <a:r>
              <a:rPr lang="en-US" altLang="zh-CN" b="0" i="0" dirty="0">
                <a:solidFill>
                  <a:srgbClr val="000000"/>
                </a:solidFill>
                <a:effectLst/>
                <a:latin typeface="宋体" panose="02010600030101010101" pitchFamily="2" charset="-122"/>
                <a:ea typeface="宋体" panose="02010600030101010101" pitchFamily="2" charset="-122"/>
              </a:rPr>
              <a:t>10% </a:t>
            </a:r>
            <a:r>
              <a:rPr lang="zh-CN" altLang="en-US" b="0" i="0" dirty="0">
                <a:solidFill>
                  <a:srgbClr val="000000"/>
                </a:solidFill>
                <a:effectLst/>
                <a:latin typeface="宋体" panose="02010600030101010101" pitchFamily="2" charset="-122"/>
                <a:ea typeface="宋体" panose="02010600030101010101" pitchFamily="2" charset="-122"/>
              </a:rPr>
              <a:t>的数据集被随机拆分为维持测试集（随机种子 </a:t>
            </a:r>
            <a:r>
              <a:rPr lang="en-US" altLang="zh-CN" b="0" i="0" dirty="0">
                <a:solidFill>
                  <a:srgbClr val="000000"/>
                </a:solidFill>
                <a:effectLst/>
                <a:latin typeface="宋体" panose="02010600030101010101" pitchFamily="2" charset="-122"/>
                <a:ea typeface="宋体" panose="02010600030101010101" pitchFamily="2" charset="-122"/>
              </a:rPr>
              <a:t>= 0</a:t>
            </a:r>
            <a:r>
              <a:rPr lang="zh-CN" altLang="en-US" b="0" i="0" dirty="0">
                <a:solidFill>
                  <a:srgbClr val="000000"/>
                </a:solidFill>
                <a:effectLst/>
                <a:latin typeface="宋体" panose="02010600030101010101" pitchFamily="2" charset="-122"/>
                <a:ea typeface="宋体" panose="02010600030101010101" pitchFamily="2" charset="-122"/>
              </a:rPr>
              <a:t>），其余 </a:t>
            </a:r>
            <a:r>
              <a:rPr lang="en-US" altLang="zh-CN" b="0" i="0" dirty="0">
                <a:solidFill>
                  <a:srgbClr val="000000"/>
                </a:solidFill>
                <a:effectLst/>
                <a:latin typeface="宋体" panose="02010600030101010101" pitchFamily="2" charset="-122"/>
                <a:ea typeface="宋体" panose="02010600030101010101" pitchFamily="2" charset="-122"/>
              </a:rPr>
              <a:t>90% </a:t>
            </a:r>
            <a:r>
              <a:rPr lang="zh-CN" altLang="en-US" b="0" i="0" dirty="0">
                <a:solidFill>
                  <a:srgbClr val="000000"/>
                </a:solidFill>
                <a:effectLst/>
                <a:latin typeface="宋体" panose="02010600030101010101" pitchFamily="2" charset="-122"/>
                <a:ea typeface="宋体" panose="02010600030101010101" pitchFamily="2" charset="-122"/>
              </a:rPr>
              <a:t>的数据集被用作训练集。</a:t>
            </a:r>
            <a:endParaRPr lang="en-US" altLang="zh-CN" b="0" i="0" dirty="0">
              <a:solidFill>
                <a:srgbClr val="000000"/>
              </a:solidFill>
              <a:effectLst/>
              <a:latin typeface="宋体" panose="02010600030101010101" pitchFamily="2" charset="-122"/>
              <a:ea typeface="宋体" panose="02010600030101010101" pitchFamily="2" charset="-122"/>
            </a:endParaRPr>
          </a:p>
          <a:p>
            <a:pPr indent="457200">
              <a:lnSpc>
                <a:spcPct val="150000"/>
              </a:lnSpc>
            </a:pPr>
            <a:r>
              <a:rPr lang="zh-CN" altLang="en-US" b="0" i="0" dirty="0">
                <a:solidFill>
                  <a:srgbClr val="000000"/>
                </a:solidFill>
                <a:effectLst/>
                <a:latin typeface="宋体" panose="02010600030101010101" pitchFamily="2" charset="-122"/>
                <a:ea typeface="宋体" panose="02010600030101010101" pitchFamily="2" charset="-122"/>
              </a:rPr>
              <a:t>训练过程中，为了提高深度学习神经网络的效率和泛化能力，我们采用了批量训练（批量大小 </a:t>
            </a:r>
            <a:r>
              <a:rPr lang="en-US" altLang="zh-CN" b="0" i="0" dirty="0">
                <a:solidFill>
                  <a:srgbClr val="000000"/>
                </a:solidFill>
                <a:effectLst/>
                <a:latin typeface="宋体" panose="02010600030101010101" pitchFamily="2" charset="-122"/>
                <a:ea typeface="宋体" panose="02010600030101010101" pitchFamily="2" charset="-122"/>
              </a:rPr>
              <a:t>= 16</a:t>
            </a:r>
            <a:r>
              <a:rPr lang="zh-CN" altLang="en-US" b="0" i="0" dirty="0">
                <a:solidFill>
                  <a:srgbClr val="000000"/>
                </a:solidFill>
                <a:effectLst/>
                <a:latin typeface="宋体" panose="02010600030101010101" pitchFamily="2" charset="-122"/>
                <a:ea typeface="宋体" panose="02010600030101010101" pitchFamily="2" charset="-122"/>
              </a:rPr>
              <a:t>）。使用 </a:t>
            </a:r>
            <a:r>
              <a:rPr lang="en-US" altLang="zh-CN" b="0" i="0" dirty="0" err="1">
                <a:solidFill>
                  <a:srgbClr val="000000"/>
                </a:solidFill>
                <a:effectLst/>
                <a:latin typeface="宋体" panose="02010600030101010101" pitchFamily="2" charset="-122"/>
                <a:ea typeface="宋体" panose="02010600030101010101" pitchFamily="2" charset="-122"/>
              </a:rPr>
              <a:t>AdamW</a:t>
            </a:r>
            <a:r>
              <a:rPr lang="en-US" altLang="zh-CN" b="0" i="0" dirty="0">
                <a:solidFill>
                  <a:srgbClr val="000000"/>
                </a:solidFill>
                <a:effectLst/>
                <a:latin typeface="宋体" panose="02010600030101010101" pitchFamily="2" charset="-122"/>
                <a:ea typeface="宋体" panose="02010600030101010101" pitchFamily="2" charset="-122"/>
              </a:rPr>
              <a:t> </a:t>
            </a:r>
            <a:r>
              <a:rPr lang="zh-CN" altLang="en-US" b="0" i="0" dirty="0">
                <a:solidFill>
                  <a:srgbClr val="000000"/>
                </a:solidFill>
                <a:effectLst/>
                <a:latin typeface="宋体" panose="02010600030101010101" pitchFamily="2" charset="-122"/>
                <a:ea typeface="宋体" panose="02010600030101010101" pitchFamily="2" charset="-122"/>
              </a:rPr>
              <a:t>优化算法迭代更新神经网络权重。损失函数为均方误差 </a:t>
            </a:r>
            <a:r>
              <a:rPr lang="en-US" altLang="zh-CN" b="0" i="0" dirty="0">
                <a:solidFill>
                  <a:srgbClr val="000000"/>
                </a:solidFill>
                <a:effectLst/>
                <a:latin typeface="宋体" panose="02010600030101010101" pitchFamily="2" charset="-122"/>
                <a:ea typeface="宋体" panose="02010600030101010101" pitchFamily="2" charset="-122"/>
              </a:rPr>
              <a:t>(MSE)</a:t>
            </a:r>
            <a:r>
              <a:rPr lang="zh-CN" altLang="en-US" b="0" i="0" dirty="0">
                <a:solidFill>
                  <a:srgbClr val="000000"/>
                </a:solidFill>
                <a:effectLst/>
                <a:latin typeface="宋体" panose="02010600030101010101" pitchFamily="2" charset="-122"/>
                <a:ea typeface="宋体" panose="02010600030101010101" pitchFamily="2" charset="-122"/>
              </a:rPr>
              <a:t>。初始学习率为 </a:t>
            </a:r>
            <a:r>
              <a:rPr lang="en-US" altLang="zh-CN" b="0" i="0" dirty="0">
                <a:solidFill>
                  <a:srgbClr val="000000"/>
                </a:solidFill>
                <a:effectLst/>
                <a:latin typeface="宋体" panose="02010600030101010101" pitchFamily="2" charset="-122"/>
                <a:ea typeface="宋体" panose="02010600030101010101" pitchFamily="2" charset="-122"/>
              </a:rPr>
              <a:t>0.0003</a:t>
            </a:r>
            <a:r>
              <a:rPr lang="zh-CN" altLang="en-US" b="0" i="0" dirty="0">
                <a:solidFill>
                  <a:srgbClr val="000000"/>
                </a:solidFill>
                <a:effectLst/>
                <a:latin typeface="宋体" panose="02010600030101010101" pitchFamily="2" charset="-122"/>
                <a:ea typeface="宋体" panose="02010600030101010101" pitchFamily="2" charset="-122"/>
              </a:rPr>
              <a:t>，每 </a:t>
            </a:r>
            <a:r>
              <a:rPr lang="en-US" altLang="zh-CN" b="0" i="0" dirty="0">
                <a:solidFill>
                  <a:srgbClr val="000000"/>
                </a:solidFill>
                <a:effectLst/>
                <a:latin typeface="宋体" panose="02010600030101010101" pitchFamily="2" charset="-122"/>
                <a:ea typeface="宋体" panose="02010600030101010101" pitchFamily="2" charset="-122"/>
              </a:rPr>
              <a:t>10 </a:t>
            </a:r>
            <a:r>
              <a:rPr lang="zh-CN" altLang="en-US" b="0" i="0" dirty="0">
                <a:solidFill>
                  <a:srgbClr val="000000"/>
                </a:solidFill>
                <a:effectLst/>
                <a:latin typeface="宋体" panose="02010600030101010101" pitchFamily="2" charset="-122"/>
                <a:ea typeface="宋体" panose="02010600030101010101" pitchFamily="2" charset="-122"/>
              </a:rPr>
              <a:t>个周期学习率衰减 </a:t>
            </a:r>
            <a:r>
              <a:rPr lang="en-US" altLang="zh-CN" b="0" i="0" dirty="0">
                <a:solidFill>
                  <a:srgbClr val="000000"/>
                </a:solidFill>
                <a:effectLst/>
                <a:latin typeface="宋体" panose="02010600030101010101" pitchFamily="2" charset="-122"/>
                <a:ea typeface="宋体" panose="02010600030101010101" pitchFamily="2" charset="-122"/>
              </a:rPr>
              <a:t>50%</a:t>
            </a:r>
            <a:r>
              <a:rPr lang="zh-CN" altLang="en-US" b="0" i="0" dirty="0">
                <a:solidFill>
                  <a:srgbClr val="000000"/>
                </a:solidFill>
                <a:effectLst/>
                <a:latin typeface="宋体" panose="02010600030101010101" pitchFamily="2" charset="-122"/>
                <a:ea typeface="宋体" panose="02010600030101010101" pitchFamily="2" charset="-122"/>
              </a:rPr>
              <a:t>，以防止过拟合。模型训练开始前，随机抽取 </a:t>
            </a:r>
            <a:r>
              <a:rPr lang="en-US" altLang="zh-CN" b="0" i="0" dirty="0">
                <a:solidFill>
                  <a:srgbClr val="000000"/>
                </a:solidFill>
                <a:effectLst/>
                <a:latin typeface="宋体" panose="02010600030101010101" pitchFamily="2" charset="-122"/>
                <a:ea typeface="宋体" panose="02010600030101010101" pitchFamily="2" charset="-122"/>
              </a:rPr>
              <a:t>10% </a:t>
            </a:r>
            <a:r>
              <a:rPr lang="zh-CN" altLang="en-US" b="0" i="0" dirty="0">
                <a:solidFill>
                  <a:srgbClr val="000000"/>
                </a:solidFill>
                <a:effectLst/>
                <a:latin typeface="宋体" panose="02010600030101010101" pitchFamily="2" charset="-122"/>
                <a:ea typeface="宋体" panose="02010600030101010101" pitchFamily="2" charset="-122"/>
              </a:rPr>
              <a:t>的训练集作为验证集（随机种子 </a:t>
            </a:r>
            <a:r>
              <a:rPr lang="en-US" altLang="zh-CN" b="0" i="0" dirty="0">
                <a:solidFill>
                  <a:srgbClr val="000000"/>
                </a:solidFill>
                <a:effectLst/>
                <a:latin typeface="宋体" panose="02010600030101010101" pitchFamily="2" charset="-122"/>
                <a:ea typeface="宋体" panose="02010600030101010101" pitchFamily="2" charset="-122"/>
              </a:rPr>
              <a:t>= 0</a:t>
            </a:r>
            <a:r>
              <a:rPr lang="zh-CN" altLang="en-US" b="0" i="0" dirty="0">
                <a:solidFill>
                  <a:srgbClr val="000000"/>
                </a:solidFill>
                <a:effectLst/>
                <a:latin typeface="宋体" panose="02010600030101010101" pitchFamily="2" charset="-122"/>
                <a:ea typeface="宋体" panose="02010600030101010101" pitchFamily="2" charset="-122"/>
              </a:rPr>
              <a:t>）并将目标值重新调整为最大值减去最小值缩放的归一化方法，训练过程中，使用均方根误差 </a:t>
            </a:r>
            <a:r>
              <a:rPr lang="en-US" altLang="zh-CN" b="0" i="0" dirty="0">
                <a:solidFill>
                  <a:srgbClr val="000000"/>
                </a:solidFill>
                <a:effectLst/>
                <a:latin typeface="宋体" panose="02010600030101010101" pitchFamily="2" charset="-122"/>
                <a:ea typeface="宋体" panose="02010600030101010101" pitchFamily="2" charset="-122"/>
              </a:rPr>
              <a:t>(RMSE)</a:t>
            </a:r>
            <a:r>
              <a:rPr lang="zh-CN" altLang="en-US" b="0" i="0" dirty="0">
                <a:solidFill>
                  <a:srgbClr val="000000"/>
                </a:solidFill>
                <a:effectLst/>
                <a:latin typeface="宋体" panose="02010600030101010101" pitchFamily="2" charset="-122"/>
                <a:ea typeface="宋体" panose="02010600030101010101" pitchFamily="2" charset="-122"/>
              </a:rPr>
              <a:t>、平均绝对误差 </a:t>
            </a:r>
            <a:r>
              <a:rPr lang="en-US" altLang="zh-CN" b="0" i="0" dirty="0">
                <a:solidFill>
                  <a:srgbClr val="000000"/>
                </a:solidFill>
                <a:effectLst/>
                <a:latin typeface="宋体" panose="02010600030101010101" pitchFamily="2" charset="-122"/>
                <a:ea typeface="宋体" panose="02010600030101010101" pitchFamily="2" charset="-122"/>
              </a:rPr>
              <a:t>(MAE) </a:t>
            </a:r>
            <a:r>
              <a:rPr lang="zh-CN" altLang="en-US" b="0" i="0" dirty="0">
                <a:solidFill>
                  <a:srgbClr val="000000"/>
                </a:solidFill>
                <a:effectLst/>
                <a:latin typeface="宋体" panose="02010600030101010101" pitchFamily="2" charset="-122"/>
                <a:ea typeface="宋体" panose="02010600030101010101" pitchFamily="2" charset="-122"/>
              </a:rPr>
              <a:t>和 </a:t>
            </a:r>
            <a:r>
              <a:rPr lang="en-US" altLang="zh-CN" b="0" i="0" dirty="0">
                <a:solidFill>
                  <a:srgbClr val="000000"/>
                </a:solidFill>
                <a:effectLst/>
                <a:latin typeface="宋体" panose="02010600030101010101" pitchFamily="2" charset="-122"/>
                <a:ea typeface="宋体" panose="02010600030101010101" pitchFamily="2" charset="-122"/>
              </a:rPr>
              <a:t>r² (R²) </a:t>
            </a:r>
            <a:r>
              <a:rPr lang="zh-CN" altLang="en-US" b="0" i="0" dirty="0">
                <a:solidFill>
                  <a:srgbClr val="000000"/>
                </a:solidFill>
                <a:effectLst/>
                <a:latin typeface="宋体" panose="02010600030101010101" pitchFamily="2" charset="-122"/>
                <a:ea typeface="宋体" panose="02010600030101010101" pitchFamily="2" charset="-122"/>
              </a:rPr>
              <a:t>评估模型的预测精度。</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1CB1A0C-C770-95D4-8F0F-B099F4D99505}"/>
              </a:ext>
            </a:extLst>
          </p:cNvPr>
          <p:cNvSpPr/>
          <p:nvPr/>
        </p:nvSpPr>
        <p:spPr>
          <a:xfrm>
            <a:off x="2818424" y="4637764"/>
            <a:ext cx="6735096" cy="2096908"/>
          </a:xfrm>
          <a:prstGeom prst="rect">
            <a:avLst/>
          </a:prstGeom>
          <a:solidFill>
            <a:schemeClr val="bg1"/>
          </a:solidFill>
          <a:ln>
            <a:noFill/>
          </a:ln>
          <a:effectLst>
            <a:outerShdw blurRad="63500" sx="102000" sy="102000" algn="ctr"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9" name="流程图: 接点 88"/>
          <p:cNvSpPr/>
          <p:nvPr/>
        </p:nvSpPr>
        <p:spPr>
          <a:xfrm>
            <a:off x="5935487" y="1651415"/>
            <a:ext cx="342900" cy="342900"/>
          </a:xfrm>
          <a:prstGeom prst="flowChartConnector">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0" name="文本框 89"/>
          <p:cNvSpPr txBox="1"/>
          <p:nvPr/>
        </p:nvSpPr>
        <p:spPr>
          <a:xfrm>
            <a:off x="6350443" y="1558922"/>
            <a:ext cx="1444336" cy="400110"/>
          </a:xfrm>
          <a:prstGeom prst="rect">
            <a:avLst/>
          </a:prstGeom>
          <a:noFill/>
        </p:spPr>
        <p:txBody>
          <a:bodyPr wrap="square" rtlCol="0">
            <a:spAutoFit/>
          </a:bodyPr>
          <a:lstStyle/>
          <a:p>
            <a:r>
              <a:rPr lang="zh-CN" altLang="en-US" sz="2000" b="1" dirty="0">
                <a:solidFill>
                  <a:srgbClr val="4E5976"/>
                </a:solidFill>
                <a:cs typeface="+mn-ea"/>
                <a:sym typeface="+mn-lt"/>
              </a:rPr>
              <a:t>输入标题</a:t>
            </a:r>
          </a:p>
        </p:txBody>
      </p:sp>
      <p:sp>
        <p:nvSpPr>
          <p:cNvPr id="91" name="文本框 90"/>
          <p:cNvSpPr txBox="1"/>
          <p:nvPr/>
        </p:nvSpPr>
        <p:spPr>
          <a:xfrm>
            <a:off x="3255254" y="4756010"/>
            <a:ext cx="6046266" cy="1689373"/>
          </a:xfrm>
          <a:prstGeom prst="rect">
            <a:avLst/>
          </a:prstGeom>
          <a:noFill/>
        </p:spPr>
        <p:txBody>
          <a:bodyPr wrap="square" rtlCol="0">
            <a:spAutoFit/>
          </a:bodyPr>
          <a:lstStyle/>
          <a:p>
            <a:pPr indent="304800">
              <a:lnSpc>
                <a:spcPct val="150000"/>
              </a:lnSpc>
              <a:buNone/>
            </a:pPr>
            <a:r>
              <a:rPr lang="zh-CN" altLang="en-US" i="0" dirty="0">
                <a:solidFill>
                  <a:srgbClr val="1B1B1B"/>
                </a:solidFill>
                <a:effectLst/>
                <a:latin typeface="宋体" panose="02010600030101010101" pitchFamily="2" charset="-122"/>
                <a:ea typeface="宋体" panose="02010600030101010101" pitchFamily="2" charset="-122"/>
              </a:rPr>
              <a:t> 使用最佳 </a:t>
            </a:r>
            <a:r>
              <a:rPr lang="en-US" altLang="zh-CN" i="0" dirty="0">
                <a:solidFill>
                  <a:srgbClr val="1B1B1B"/>
                </a:solidFill>
                <a:effectLst/>
                <a:latin typeface="宋体" panose="02010600030101010101" pitchFamily="2" charset="-122"/>
                <a:ea typeface="宋体" panose="02010600030101010101" pitchFamily="2" charset="-122"/>
              </a:rPr>
              <a:t>PLM </a:t>
            </a:r>
            <a:r>
              <a:rPr lang="zh-CN" altLang="en-US" i="0" dirty="0">
                <a:solidFill>
                  <a:srgbClr val="1B1B1B"/>
                </a:solidFill>
                <a:effectLst/>
                <a:latin typeface="宋体" panose="02010600030101010101" pitchFamily="2" charset="-122"/>
                <a:ea typeface="宋体" panose="02010600030101010101" pitchFamily="2" charset="-122"/>
              </a:rPr>
              <a:t>（</a:t>
            </a:r>
            <a:r>
              <a:rPr lang="en-US" altLang="zh-CN" i="0" dirty="0">
                <a:solidFill>
                  <a:srgbClr val="1B1B1B"/>
                </a:solidFill>
                <a:effectLst/>
                <a:latin typeface="宋体" panose="02010600030101010101" pitchFamily="2" charset="-122"/>
                <a:ea typeface="宋体" panose="02010600030101010101" pitchFamily="2" charset="-122"/>
              </a:rPr>
              <a:t>ESM-2</a:t>
            </a:r>
            <a:r>
              <a:rPr lang="zh-CN" altLang="en-US" i="0" dirty="0">
                <a:solidFill>
                  <a:srgbClr val="1B1B1B"/>
                </a:solidFill>
                <a:effectLst/>
                <a:latin typeface="宋体" panose="02010600030101010101" pitchFamily="2" charset="-122"/>
                <a:ea typeface="宋体" panose="02010600030101010101" pitchFamily="2" charset="-122"/>
              </a:rPr>
              <a:t>） 和 </a:t>
            </a:r>
            <a:r>
              <a:rPr lang="en-US" altLang="zh-CN" i="0" dirty="0">
                <a:solidFill>
                  <a:srgbClr val="1B1B1B"/>
                </a:solidFill>
                <a:effectLst/>
                <a:latin typeface="宋体" panose="02010600030101010101" pitchFamily="2" charset="-122"/>
                <a:ea typeface="宋体" panose="02010600030101010101" pitchFamily="2" charset="-122"/>
              </a:rPr>
              <a:t>CNN </a:t>
            </a:r>
            <a:r>
              <a:rPr lang="zh-CN" altLang="en-US" i="0" dirty="0">
                <a:solidFill>
                  <a:srgbClr val="1B1B1B"/>
                </a:solidFill>
                <a:effectLst/>
                <a:latin typeface="宋体" panose="02010600030101010101" pitchFamily="2" charset="-122"/>
                <a:ea typeface="宋体" panose="02010600030101010101" pitchFamily="2" charset="-122"/>
              </a:rPr>
              <a:t>的滑动窗口大小 （窗口大小 </a:t>
            </a:r>
            <a:r>
              <a:rPr lang="en-US" altLang="zh-CN" i="0" dirty="0">
                <a:solidFill>
                  <a:srgbClr val="1B1B1B"/>
                </a:solidFill>
                <a:effectLst/>
                <a:latin typeface="宋体" panose="02010600030101010101" pitchFamily="2" charset="-122"/>
                <a:ea typeface="宋体" panose="02010600030101010101" pitchFamily="2" charset="-122"/>
              </a:rPr>
              <a:t>= 7</a:t>
            </a:r>
            <a:r>
              <a:rPr lang="zh-CN" altLang="en-US" i="0" dirty="0">
                <a:solidFill>
                  <a:srgbClr val="1B1B1B"/>
                </a:solidFill>
                <a:effectLst/>
                <a:latin typeface="宋体" panose="02010600030101010101" pitchFamily="2" charset="-122"/>
                <a:ea typeface="宋体" panose="02010600030101010101" pitchFamily="2" charset="-122"/>
              </a:rPr>
              <a:t>），训练过程将 </a:t>
            </a:r>
            <a:r>
              <a:rPr lang="en-US" altLang="zh-CN" i="0" dirty="0">
                <a:solidFill>
                  <a:srgbClr val="1B1B1B"/>
                </a:solidFill>
                <a:effectLst/>
                <a:latin typeface="宋体" panose="02010600030101010101" pitchFamily="2" charset="-122"/>
                <a:ea typeface="宋体" panose="02010600030101010101" pitchFamily="2" charset="-122"/>
              </a:rPr>
              <a:t>RMSE </a:t>
            </a:r>
            <a:r>
              <a:rPr lang="zh-CN" altLang="en-US" i="0" dirty="0">
                <a:solidFill>
                  <a:srgbClr val="1B1B1B"/>
                </a:solidFill>
                <a:effectLst/>
                <a:latin typeface="宋体" panose="02010600030101010101" pitchFamily="2" charset="-122"/>
                <a:ea typeface="宋体" panose="02010600030101010101" pitchFamily="2" charset="-122"/>
              </a:rPr>
              <a:t>和 </a:t>
            </a:r>
            <a:r>
              <a:rPr lang="en-US" altLang="zh-CN" i="0" dirty="0">
                <a:solidFill>
                  <a:srgbClr val="1B1B1B"/>
                </a:solidFill>
                <a:effectLst/>
                <a:latin typeface="宋体" panose="02010600030101010101" pitchFamily="2" charset="-122"/>
                <a:ea typeface="宋体" panose="02010600030101010101" pitchFamily="2" charset="-122"/>
              </a:rPr>
              <a:t>MAE </a:t>
            </a:r>
            <a:r>
              <a:rPr lang="zh-CN" altLang="en-US" i="0" dirty="0">
                <a:solidFill>
                  <a:srgbClr val="1B1B1B"/>
                </a:solidFill>
                <a:effectLst/>
                <a:latin typeface="宋体" panose="02010600030101010101" pitchFamily="2" charset="-122"/>
                <a:ea typeface="宋体" panose="02010600030101010101" pitchFamily="2" charset="-122"/>
              </a:rPr>
              <a:t>降低到 </a:t>
            </a:r>
            <a:r>
              <a:rPr lang="en-US" altLang="zh-CN" i="0" dirty="0">
                <a:solidFill>
                  <a:srgbClr val="1B1B1B"/>
                </a:solidFill>
                <a:effectLst/>
                <a:latin typeface="宋体" panose="02010600030101010101" pitchFamily="2" charset="-122"/>
                <a:ea typeface="宋体" panose="02010600030101010101" pitchFamily="2" charset="-122"/>
              </a:rPr>
              <a:t>0.1403 </a:t>
            </a:r>
            <a:r>
              <a:rPr lang="zh-CN" altLang="en-US" i="0" dirty="0">
                <a:solidFill>
                  <a:srgbClr val="1B1B1B"/>
                </a:solidFill>
                <a:effectLst/>
                <a:latin typeface="宋体" panose="02010600030101010101" pitchFamily="2" charset="-122"/>
                <a:ea typeface="宋体" panose="02010600030101010101" pitchFamily="2" charset="-122"/>
              </a:rPr>
              <a:t>和 </a:t>
            </a:r>
            <a:r>
              <a:rPr lang="en-US" altLang="zh-CN" i="0" dirty="0">
                <a:solidFill>
                  <a:srgbClr val="1B1B1B"/>
                </a:solidFill>
                <a:effectLst/>
                <a:latin typeface="宋体" panose="02010600030101010101" pitchFamily="2" charset="-122"/>
                <a:ea typeface="宋体" panose="02010600030101010101" pitchFamily="2" charset="-122"/>
              </a:rPr>
              <a:t>0.0819</a:t>
            </a:r>
            <a:r>
              <a:rPr lang="zh-CN" altLang="en-US" i="0" dirty="0">
                <a:solidFill>
                  <a:srgbClr val="1B1B1B"/>
                </a:solidFill>
                <a:effectLst/>
                <a:latin typeface="宋体" panose="02010600030101010101" pitchFamily="2" charset="-122"/>
                <a:ea typeface="宋体" panose="02010600030101010101" pitchFamily="2" charset="-122"/>
              </a:rPr>
              <a:t>，并将 </a:t>
            </a:r>
            <a:r>
              <a:rPr lang="en-US" altLang="zh-CN" i="0" dirty="0">
                <a:solidFill>
                  <a:srgbClr val="1B1B1B"/>
                </a:solidFill>
                <a:effectLst/>
                <a:latin typeface="宋体" panose="02010600030101010101" pitchFamily="2" charset="-122"/>
                <a:ea typeface="宋体" panose="02010600030101010101" pitchFamily="2" charset="-122"/>
              </a:rPr>
              <a:t>R2 </a:t>
            </a:r>
            <a:r>
              <a:rPr lang="zh-CN" altLang="en-US" i="0" dirty="0">
                <a:solidFill>
                  <a:srgbClr val="1B1B1B"/>
                </a:solidFill>
                <a:effectLst/>
                <a:latin typeface="宋体" panose="02010600030101010101" pitchFamily="2" charset="-122"/>
                <a:ea typeface="宋体" panose="02010600030101010101" pitchFamily="2" charset="-122"/>
              </a:rPr>
              <a:t>从大约</a:t>
            </a:r>
            <a:r>
              <a:rPr lang="en-US" altLang="zh-CN" i="0" dirty="0">
                <a:solidFill>
                  <a:srgbClr val="1B1B1B"/>
                </a:solidFill>
                <a:effectLst/>
                <a:latin typeface="宋体" panose="02010600030101010101" pitchFamily="2" charset="-122"/>
                <a:ea typeface="宋体" panose="02010600030101010101" pitchFamily="2" charset="-122"/>
              </a:rPr>
              <a:t>0.35</a:t>
            </a:r>
            <a:r>
              <a:rPr lang="zh-CN" altLang="en-US" i="0" dirty="0">
                <a:solidFill>
                  <a:srgbClr val="1B1B1B"/>
                </a:solidFill>
                <a:effectLst/>
                <a:latin typeface="宋体" panose="02010600030101010101" pitchFamily="2" charset="-122"/>
                <a:ea typeface="宋体" panose="02010600030101010101" pitchFamily="2" charset="-122"/>
              </a:rPr>
              <a:t>提高到 </a:t>
            </a:r>
            <a:r>
              <a:rPr lang="en-US" altLang="zh-CN" i="0" dirty="0">
                <a:solidFill>
                  <a:srgbClr val="1B1B1B"/>
                </a:solidFill>
                <a:effectLst/>
                <a:latin typeface="宋体" panose="02010600030101010101" pitchFamily="2" charset="-122"/>
                <a:ea typeface="宋体" panose="02010600030101010101" pitchFamily="2" charset="-122"/>
              </a:rPr>
              <a:t>0.9817</a:t>
            </a:r>
            <a:r>
              <a:rPr lang="zh-CN" altLang="en-US" i="0" dirty="0">
                <a:solidFill>
                  <a:srgbClr val="1B1B1B"/>
                </a:solidFill>
                <a:effectLst/>
                <a:latin typeface="宋体" panose="02010600030101010101" pitchFamily="2" charset="-122"/>
                <a:ea typeface="宋体" panose="02010600030101010101" pitchFamily="2" charset="-122"/>
              </a:rPr>
              <a:t>。</a:t>
            </a:r>
            <a:r>
              <a:rPr lang="zh-CN" altLang="zh-CN"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总体而言，预测的准确性评估</a:t>
            </a:r>
            <a:r>
              <a:rPr lang="en-US" altLang="zh-CN"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GFP</a:t>
            </a:r>
            <a:r>
              <a:rPr lang="zh-CN" altLang="en-US" sz="1800" kern="100" dirty="0">
                <a:solidFill>
                  <a:srgbClr val="000000"/>
                </a:solidFill>
                <a:effectLst/>
                <a:latin typeface="宋体" panose="02010600030101010101" pitchFamily="2" charset="-122"/>
                <a:ea typeface="宋体" panose="02010600030101010101" pitchFamily="2" charset="-122"/>
              </a:rPr>
              <a:t>蛋白亮度</a:t>
            </a:r>
            <a:r>
              <a:rPr lang="zh-CN" altLang="zh-CN"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表现出</a:t>
            </a:r>
            <a:r>
              <a:rPr lang="zh-CN" altLang="en-US"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良好</a:t>
            </a:r>
            <a:r>
              <a:rPr lang="zh-CN" altLang="zh-CN"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性能。</a:t>
            </a:r>
            <a:endParaRPr lang="zh-CN" altLang="zh-CN" sz="1800" kern="100" dirty="0">
              <a:effectLst/>
              <a:latin typeface="宋体" panose="02010600030101010101" pitchFamily="2" charset="-122"/>
              <a:ea typeface="宋体" panose="02010600030101010101" pitchFamily="2" charset="-122"/>
            </a:endParaRPr>
          </a:p>
        </p:txBody>
      </p:sp>
      <p:sp>
        <p:nvSpPr>
          <p:cNvPr id="94" name="流程图: 接点 93"/>
          <p:cNvSpPr/>
          <p:nvPr/>
        </p:nvSpPr>
        <p:spPr>
          <a:xfrm>
            <a:off x="5935487" y="3206093"/>
            <a:ext cx="342900" cy="342900"/>
          </a:xfrm>
          <a:prstGeom prst="flowChartConnector">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5" name="文本框 94"/>
          <p:cNvSpPr txBox="1"/>
          <p:nvPr/>
        </p:nvSpPr>
        <p:spPr>
          <a:xfrm>
            <a:off x="6350443" y="3113600"/>
            <a:ext cx="1444336" cy="400110"/>
          </a:xfrm>
          <a:prstGeom prst="rect">
            <a:avLst/>
          </a:prstGeom>
          <a:noFill/>
        </p:spPr>
        <p:txBody>
          <a:bodyPr wrap="square" rtlCol="0">
            <a:spAutoFit/>
          </a:bodyPr>
          <a:lstStyle/>
          <a:p>
            <a:r>
              <a:rPr lang="zh-CN" altLang="en-US" sz="2000" b="1" dirty="0">
                <a:solidFill>
                  <a:srgbClr val="4E5976"/>
                </a:solidFill>
                <a:cs typeface="+mn-ea"/>
                <a:sym typeface="+mn-lt"/>
              </a:rPr>
              <a:t>输入标题</a:t>
            </a:r>
          </a:p>
        </p:txBody>
      </p:sp>
      <p:grpSp>
        <p:nvGrpSpPr>
          <p:cNvPr id="39" name="组合 38"/>
          <p:cNvGrpSpPr/>
          <p:nvPr/>
        </p:nvGrpSpPr>
        <p:grpSpPr>
          <a:xfrm rot="10800000">
            <a:off x="0" y="0"/>
            <a:ext cx="1413169" cy="1257302"/>
            <a:chOff x="4729271" y="2720371"/>
            <a:chExt cx="7462734" cy="4137630"/>
          </a:xfrm>
        </p:grpSpPr>
        <p:sp>
          <p:nvSpPr>
            <p:cNvPr id="40"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1"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43" name="组合 42"/>
          <p:cNvGrpSpPr/>
          <p:nvPr/>
        </p:nvGrpSpPr>
        <p:grpSpPr>
          <a:xfrm rot="10800000" flipH="1" flipV="1">
            <a:off x="10778838" y="5600698"/>
            <a:ext cx="1413169" cy="1257302"/>
            <a:chOff x="4729271" y="2720371"/>
            <a:chExt cx="7462734" cy="4137630"/>
          </a:xfrm>
        </p:grpSpPr>
        <p:sp>
          <p:nvSpPr>
            <p:cNvPr id="44"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5"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6"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087365" y="373208"/>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模型表现与初步分析</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Model performance and preliminary analysis.</a:t>
              </a:r>
              <a:endParaRPr lang="zh-CN" altLang="en-US" sz="1100" dirty="0">
                <a:solidFill>
                  <a:srgbClr val="A6C1CC"/>
                </a:solidFill>
                <a:cs typeface="+mn-ea"/>
                <a:sym typeface="+mn-lt"/>
              </a:endParaRPr>
            </a:p>
          </p:txBody>
        </p:sp>
      </p:grpSp>
      <p:pic>
        <p:nvPicPr>
          <p:cNvPr id="6" name="图片 5">
            <a:extLst>
              <a:ext uri="{FF2B5EF4-FFF2-40B4-BE49-F238E27FC236}">
                <a16:creationId xmlns:a16="http://schemas.microsoft.com/office/drawing/2014/main" id="{6A9F5DEE-17AC-3D6C-83D1-E41CC41AD78C}"/>
              </a:ext>
            </a:extLst>
          </p:cNvPr>
          <p:cNvPicPr>
            <a:picLocks noChangeAspect="1"/>
          </p:cNvPicPr>
          <p:nvPr/>
        </p:nvPicPr>
        <p:blipFill>
          <a:blip r:embed="rId2"/>
          <a:stretch>
            <a:fillRect/>
          </a:stretch>
        </p:blipFill>
        <p:spPr>
          <a:xfrm>
            <a:off x="-2" y="970127"/>
            <a:ext cx="4105848" cy="3553321"/>
          </a:xfrm>
          <a:prstGeom prst="rect">
            <a:avLst/>
          </a:prstGeom>
        </p:spPr>
      </p:pic>
      <p:pic>
        <p:nvPicPr>
          <p:cNvPr id="8" name="图片 7">
            <a:extLst>
              <a:ext uri="{FF2B5EF4-FFF2-40B4-BE49-F238E27FC236}">
                <a16:creationId xmlns:a16="http://schemas.microsoft.com/office/drawing/2014/main" id="{ABBB632F-FCB5-C4C2-C9EE-B62989753AA8}"/>
              </a:ext>
            </a:extLst>
          </p:cNvPr>
          <p:cNvPicPr>
            <a:picLocks noChangeAspect="1"/>
          </p:cNvPicPr>
          <p:nvPr/>
        </p:nvPicPr>
        <p:blipFill>
          <a:blip r:embed="rId3"/>
          <a:stretch>
            <a:fillRect/>
          </a:stretch>
        </p:blipFill>
        <p:spPr>
          <a:xfrm>
            <a:off x="4021281" y="884389"/>
            <a:ext cx="4048690" cy="3724795"/>
          </a:xfrm>
          <a:prstGeom prst="rect">
            <a:avLst/>
          </a:prstGeom>
        </p:spPr>
      </p:pic>
      <p:pic>
        <p:nvPicPr>
          <p:cNvPr id="10" name="图片 9">
            <a:extLst>
              <a:ext uri="{FF2B5EF4-FFF2-40B4-BE49-F238E27FC236}">
                <a16:creationId xmlns:a16="http://schemas.microsoft.com/office/drawing/2014/main" id="{D73CCA5F-28A2-2F2B-7A2E-ECFE3E992439}"/>
              </a:ext>
            </a:extLst>
          </p:cNvPr>
          <p:cNvPicPr>
            <a:picLocks noChangeAspect="1"/>
          </p:cNvPicPr>
          <p:nvPr/>
        </p:nvPicPr>
        <p:blipFill>
          <a:blip r:embed="rId4"/>
          <a:stretch>
            <a:fillRect/>
          </a:stretch>
        </p:blipFill>
        <p:spPr>
          <a:xfrm>
            <a:off x="7995806" y="898724"/>
            <a:ext cx="4010585" cy="3667637"/>
          </a:xfrm>
          <a:prstGeom prst="rect">
            <a:avLst/>
          </a:prstGeom>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
          <p:cNvSpPr/>
          <p:nvPr/>
        </p:nvSpPr>
        <p:spPr>
          <a:xfrm flipH="1">
            <a:off x="5953638" y="0"/>
            <a:ext cx="6238362" cy="5961618"/>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4311849" y="5757029"/>
            <a:ext cx="409180" cy="409180"/>
          </a:xfrm>
          <a:prstGeom prst="ellipse">
            <a:avLst/>
          </a:prstGeom>
          <a:noFill/>
          <a:ln w="31750">
            <a:solidFill>
              <a:srgbClr val="9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8512638" y="1209922"/>
            <a:ext cx="2956560" cy="295656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21"/>
          <p:cNvSpPr/>
          <p:nvPr/>
        </p:nvSpPr>
        <p:spPr>
          <a:xfrm flipV="1">
            <a:off x="5557520" y="-121920"/>
            <a:ext cx="6736080" cy="561515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p:cNvSpPr txBox="1"/>
          <p:nvPr/>
        </p:nvSpPr>
        <p:spPr>
          <a:xfrm>
            <a:off x="8688594" y="1364763"/>
            <a:ext cx="2604648" cy="2646878"/>
          </a:xfrm>
          <a:prstGeom prst="rect">
            <a:avLst/>
          </a:prstGeom>
          <a:noFill/>
        </p:spPr>
        <p:txBody>
          <a:bodyPr wrap="square" rtlCol="0">
            <a:spAutoFit/>
          </a:bodyPr>
          <a:lstStyle>
            <a:defPPr>
              <a:defRPr lang="zh-CN"/>
            </a:defPPr>
            <a:lvl1pPr algn="ctr">
              <a:defRPr sz="16600" b="1" spc="600">
                <a:solidFill>
                  <a:schemeClr val="bg1"/>
                </a:solidFill>
                <a:latin typeface="Arial"/>
                <a:ea typeface="微软雅黑"/>
                <a:cs typeface="Arial" panose="020B0604020202020204" pitchFamily="34" charset="0"/>
              </a:defRPr>
            </a:lvl1pPr>
          </a:lstStyle>
          <a:p>
            <a:r>
              <a:rPr lang="en-US" altLang="zh-CN" dirty="0">
                <a:latin typeface="+mn-lt"/>
                <a:ea typeface="+mn-ea"/>
                <a:cs typeface="+mn-ea"/>
                <a:sym typeface="+mn-lt"/>
              </a:rPr>
              <a:t>3</a:t>
            </a:r>
            <a:endParaRPr lang="zh-CN" altLang="en-US" dirty="0">
              <a:latin typeface="+mn-lt"/>
              <a:ea typeface="+mn-ea"/>
              <a:cs typeface="+mn-ea"/>
              <a:sym typeface="+mn-lt"/>
            </a:endParaRPr>
          </a:p>
        </p:txBody>
      </p:sp>
      <p:sp>
        <p:nvSpPr>
          <p:cNvPr id="8" name="文本框 7"/>
          <p:cNvSpPr txBox="1"/>
          <p:nvPr/>
        </p:nvSpPr>
        <p:spPr>
          <a:xfrm>
            <a:off x="1060581" y="2766564"/>
            <a:ext cx="6736080" cy="1200329"/>
          </a:xfrm>
          <a:prstGeom prst="rect">
            <a:avLst/>
          </a:prstGeom>
          <a:noFill/>
        </p:spPr>
        <p:txBody>
          <a:bodyPr wrap="square" rtlCol="0">
            <a:spAutoFit/>
          </a:bodyPr>
          <a:lstStyle>
            <a:defPPr>
              <a:defRPr lang="zh-CN"/>
            </a:defPPr>
            <a:lvl1pPr algn="r">
              <a:defRPr sz="7200" b="1" spc="600">
                <a:solidFill>
                  <a:srgbClr val="4E5976"/>
                </a:solidFill>
                <a:latin typeface="Arial"/>
                <a:ea typeface="微软雅黑"/>
              </a:defRPr>
            </a:lvl1pPr>
          </a:lstStyle>
          <a:p>
            <a:r>
              <a:rPr lang="zh-CN" altLang="en-US" dirty="0">
                <a:latin typeface="+mn-lt"/>
                <a:ea typeface="+mn-ea"/>
                <a:cs typeface="+mn-ea"/>
                <a:sym typeface="+mn-lt"/>
              </a:rPr>
              <a:t>模型改进</a:t>
            </a:r>
          </a:p>
        </p:txBody>
      </p:sp>
      <p:sp>
        <p:nvSpPr>
          <p:cNvPr id="9" name="文本框 8"/>
          <p:cNvSpPr txBox="1"/>
          <p:nvPr/>
        </p:nvSpPr>
        <p:spPr>
          <a:xfrm>
            <a:off x="671929" y="4156120"/>
            <a:ext cx="7134564" cy="338554"/>
          </a:xfrm>
          <a:prstGeom prst="rect">
            <a:avLst/>
          </a:prstGeom>
          <a:noFill/>
        </p:spPr>
        <p:txBody>
          <a:bodyPr wrap="square" rtlCol="0">
            <a:spAutoFit/>
          </a:bodyPr>
          <a:lstStyle/>
          <a:p>
            <a:pPr algn="r"/>
            <a:r>
              <a:rPr lang="en-US" altLang="zh-CN" sz="1600" dirty="0">
                <a:solidFill>
                  <a:srgbClr val="A6C1CC"/>
                </a:solidFill>
                <a:cs typeface="+mn-ea"/>
                <a:sym typeface="+mn-lt"/>
              </a:rPr>
              <a:t>Deep learning model improvements</a:t>
            </a:r>
            <a:endParaRPr lang="zh-CN" altLang="en-US" sz="1600" dirty="0">
              <a:solidFill>
                <a:srgbClr val="A6C1CC"/>
              </a:solidFill>
              <a:cs typeface="+mn-ea"/>
              <a:sym typeface="+mn-lt"/>
            </a:endParaRPr>
          </a:p>
        </p:txBody>
      </p:sp>
      <p:sp>
        <p:nvSpPr>
          <p:cNvPr id="10" name="文本框 9"/>
          <p:cNvSpPr txBox="1"/>
          <p:nvPr/>
        </p:nvSpPr>
        <p:spPr>
          <a:xfrm>
            <a:off x="4311850" y="1940692"/>
            <a:ext cx="3382884" cy="707886"/>
          </a:xfrm>
          <a:prstGeom prst="rect">
            <a:avLst/>
          </a:prstGeom>
          <a:noFill/>
          <a:ln>
            <a:noFill/>
          </a:ln>
        </p:spPr>
        <p:txBody>
          <a:bodyPr wrap="square" rtlCol="0">
            <a:spAutoFit/>
          </a:bodyPr>
          <a:lstStyle/>
          <a:p>
            <a:pPr algn="r"/>
            <a:r>
              <a:rPr lang="en-US" altLang="zh-CN" sz="4000" dirty="0">
                <a:solidFill>
                  <a:srgbClr val="A6C1CC"/>
                </a:solidFill>
                <a:cs typeface="+mn-ea"/>
                <a:sym typeface="+mn-lt"/>
              </a:rPr>
              <a:t>PART THREE</a:t>
            </a:r>
            <a:endParaRPr lang="zh-CN" altLang="en-US" sz="4000" dirty="0">
              <a:solidFill>
                <a:srgbClr val="A6C1CC"/>
              </a:solidFill>
              <a:cs typeface="+mn-ea"/>
              <a:sym typeface="+mn-lt"/>
            </a:endParaRPr>
          </a:p>
        </p:txBody>
      </p:sp>
      <p:sp>
        <p:nvSpPr>
          <p:cNvPr id="14" name="椭圆 13"/>
          <p:cNvSpPr/>
          <p:nvPr/>
        </p:nvSpPr>
        <p:spPr>
          <a:xfrm>
            <a:off x="7997714" y="5961619"/>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10716627" y="648351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4330818" y="838680"/>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1625600" y="350894"/>
            <a:ext cx="686280" cy="6862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237318" y="985323"/>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1665304" y="715448"/>
            <a:ext cx="411078" cy="411078"/>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9921927" y="4403649"/>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6" name="直接连接符 25"/>
          <p:cNvCxnSpPr/>
          <p:nvPr/>
        </p:nvCxnSpPr>
        <p:spPr>
          <a:xfrm>
            <a:off x="1625600" y="4003922"/>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6" name="矩形 21"/>
          <p:cNvSpPr/>
          <p:nvPr/>
        </p:nvSpPr>
        <p:spPr>
          <a:xfrm flipH="1">
            <a:off x="-69411" y="5152103"/>
            <a:ext cx="9006244" cy="170589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21"/>
          <p:cNvSpPr/>
          <p:nvPr/>
        </p:nvSpPr>
        <p:spPr>
          <a:xfrm flipH="1">
            <a:off x="-91440" y="4589270"/>
            <a:ext cx="6688885" cy="240764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标注: 上箭头 39"/>
          <p:cNvSpPr/>
          <p:nvPr/>
        </p:nvSpPr>
        <p:spPr>
          <a:xfrm>
            <a:off x="3389732" y="2236852"/>
            <a:ext cx="2504724" cy="4203276"/>
          </a:xfrm>
          <a:prstGeom prst="upArrowCallout">
            <a:avLst>
              <a:gd name="adj1" fmla="val 56450"/>
              <a:gd name="adj2" fmla="val 12519"/>
              <a:gd name="adj3" fmla="val 12502"/>
              <a:gd name="adj4" fmla="val 9077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标注: 上箭头 40"/>
          <p:cNvSpPr/>
          <p:nvPr/>
        </p:nvSpPr>
        <p:spPr>
          <a:xfrm>
            <a:off x="6308178" y="2236851"/>
            <a:ext cx="2504724" cy="4203275"/>
          </a:xfrm>
          <a:prstGeom prst="upArrowCallout">
            <a:avLst>
              <a:gd name="adj1" fmla="val 56450"/>
              <a:gd name="adj2" fmla="val 12519"/>
              <a:gd name="adj3" fmla="val 12502"/>
              <a:gd name="adj4" fmla="val 9077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标注: 上箭头 41"/>
          <p:cNvSpPr/>
          <p:nvPr/>
        </p:nvSpPr>
        <p:spPr>
          <a:xfrm>
            <a:off x="9215991" y="2236852"/>
            <a:ext cx="2504724" cy="4203274"/>
          </a:xfrm>
          <a:prstGeom prst="upArrowCallout">
            <a:avLst>
              <a:gd name="adj1" fmla="val 56450"/>
              <a:gd name="adj2" fmla="val 12519"/>
              <a:gd name="adj3" fmla="val 12502"/>
              <a:gd name="adj4" fmla="val 9077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标注: 上箭头 17"/>
          <p:cNvSpPr/>
          <p:nvPr/>
        </p:nvSpPr>
        <p:spPr>
          <a:xfrm>
            <a:off x="471285" y="2236851"/>
            <a:ext cx="2504724" cy="4203277"/>
          </a:xfrm>
          <a:prstGeom prst="upArrowCallout">
            <a:avLst>
              <a:gd name="adj1" fmla="val 56450"/>
              <a:gd name="adj2" fmla="val 12519"/>
              <a:gd name="adj3" fmla="val 12502"/>
              <a:gd name="adj4" fmla="val 90773"/>
            </a:avLst>
          </a:prstGeom>
          <a:solidFill>
            <a:srgbClr val="E2EAEE"/>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5" name="直接连接符 24"/>
          <p:cNvCxnSpPr/>
          <p:nvPr/>
        </p:nvCxnSpPr>
        <p:spPr>
          <a:xfrm flipH="1" flipV="1">
            <a:off x="5250912" y="1614273"/>
            <a:ext cx="1751281" cy="307777"/>
          </a:xfrm>
          <a:prstGeom prst="line">
            <a:avLst/>
          </a:prstGeom>
          <a:ln w="190500">
            <a:solidFill>
              <a:srgbClr val="D1DFE5"/>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8260215" y="1635955"/>
            <a:ext cx="1751281" cy="307777"/>
          </a:xfrm>
          <a:prstGeom prst="line">
            <a:avLst/>
          </a:prstGeom>
          <a:ln w="190500">
            <a:solidFill>
              <a:srgbClr val="D1DFE5"/>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2245215" y="1622250"/>
            <a:ext cx="1751281" cy="307777"/>
          </a:xfrm>
          <a:prstGeom prst="line">
            <a:avLst/>
          </a:prstGeom>
          <a:ln w="190500">
            <a:solidFill>
              <a:srgbClr val="D1DFE5"/>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829866" y="1503809"/>
            <a:ext cx="1797831" cy="572070"/>
            <a:chOff x="829866" y="1503809"/>
            <a:chExt cx="1797831" cy="572070"/>
          </a:xfrm>
        </p:grpSpPr>
        <p:sp>
          <p:nvSpPr>
            <p:cNvPr id="13" name="矩形: 圆角 12"/>
            <p:cNvSpPr/>
            <p:nvPr/>
          </p:nvSpPr>
          <p:spPr>
            <a:xfrm>
              <a:off x="829866" y="1503809"/>
              <a:ext cx="1797831" cy="572070"/>
            </a:xfrm>
            <a:prstGeom prst="roundRect">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文本框 25"/>
            <p:cNvSpPr txBox="1"/>
            <p:nvPr/>
          </p:nvSpPr>
          <p:spPr>
            <a:xfrm>
              <a:off x="849398" y="1589788"/>
              <a:ext cx="1732600" cy="400110"/>
            </a:xfrm>
            <a:prstGeom prst="rect">
              <a:avLst/>
            </a:prstGeom>
            <a:noFill/>
          </p:spPr>
          <p:txBody>
            <a:bodyPr wrap="square" rtlCol="0">
              <a:spAutoFit/>
            </a:bodyPr>
            <a:lstStyle/>
            <a:p>
              <a:pPr algn="ctr"/>
              <a:r>
                <a:rPr lang="zh-CN" altLang="en-US" sz="2000" b="1" dirty="0">
                  <a:solidFill>
                    <a:schemeClr val="bg1"/>
                  </a:solidFill>
                  <a:cs typeface="+mn-ea"/>
                  <a:sym typeface="+mn-lt"/>
                </a:rPr>
                <a:t>升级</a:t>
              </a:r>
              <a:r>
                <a:rPr lang="en-US" altLang="zh-CN" sz="2000" b="1" dirty="0">
                  <a:solidFill>
                    <a:schemeClr val="bg1"/>
                  </a:solidFill>
                  <a:cs typeface="+mn-ea"/>
                  <a:sym typeface="+mn-lt"/>
                </a:rPr>
                <a:t>ESM</a:t>
              </a:r>
              <a:r>
                <a:rPr lang="zh-CN" altLang="en-US" sz="2000" b="1" dirty="0">
                  <a:solidFill>
                    <a:schemeClr val="bg1"/>
                  </a:solidFill>
                  <a:cs typeface="+mn-ea"/>
                  <a:sym typeface="+mn-lt"/>
                </a:rPr>
                <a:t>模型</a:t>
              </a:r>
            </a:p>
          </p:txBody>
        </p:sp>
      </p:grpSp>
      <p:sp>
        <p:nvSpPr>
          <p:cNvPr id="30" name="文本框 29"/>
          <p:cNvSpPr txBox="1"/>
          <p:nvPr/>
        </p:nvSpPr>
        <p:spPr>
          <a:xfrm>
            <a:off x="570272" y="2796859"/>
            <a:ext cx="2348169" cy="3409908"/>
          </a:xfrm>
          <a:prstGeom prst="rect">
            <a:avLst/>
          </a:prstGeom>
          <a:noFill/>
        </p:spPr>
        <p:txBody>
          <a:bodyPr wrap="square" rtlCol="0">
            <a:spAutoFit/>
          </a:bodyPr>
          <a:lstStyle/>
          <a:p>
            <a:pPr algn="l">
              <a:lnSpc>
                <a:spcPct val="150000"/>
              </a:lnSpc>
              <a:spcAft>
                <a:spcPts val="225"/>
              </a:spcAft>
              <a:buNone/>
            </a:pPr>
            <a:r>
              <a:rPr lang="zh-CN" altLang="en-US" sz="1600" b="1" i="0" dirty="0">
                <a:solidFill>
                  <a:srgbClr val="1A1C1E"/>
                </a:solidFill>
                <a:effectLst/>
                <a:latin typeface="宋体" panose="02010600030101010101" pitchFamily="2" charset="-122"/>
                <a:ea typeface="宋体" panose="02010600030101010101" pitchFamily="2" charset="-122"/>
              </a:rPr>
              <a:t>更大的</a:t>
            </a:r>
            <a:r>
              <a:rPr lang="en-US" altLang="zh-CN" sz="1600" b="1" i="0" dirty="0">
                <a:solidFill>
                  <a:srgbClr val="1A1C1E"/>
                </a:solidFill>
                <a:effectLst/>
                <a:latin typeface="宋体" panose="02010600030101010101" pitchFamily="2" charset="-122"/>
                <a:ea typeface="宋体" panose="02010600030101010101" pitchFamily="2" charset="-122"/>
              </a:rPr>
              <a:t>ESM</a:t>
            </a:r>
            <a:r>
              <a:rPr lang="zh-CN" altLang="en-US" sz="1600" b="1" i="0" dirty="0">
                <a:solidFill>
                  <a:srgbClr val="1A1C1E"/>
                </a:solidFill>
                <a:effectLst/>
                <a:latin typeface="宋体" panose="02010600030101010101" pitchFamily="2" charset="-122"/>
                <a:ea typeface="宋体" panose="02010600030101010101" pitchFamily="2" charset="-122"/>
              </a:rPr>
              <a:t>预训练模型</a:t>
            </a:r>
          </a:p>
          <a:p>
            <a:pPr algn="l">
              <a:lnSpc>
                <a:spcPct val="150000"/>
              </a:lnSpc>
              <a:spcAft>
                <a:spcPts val="225"/>
              </a:spcAft>
            </a:pPr>
            <a:r>
              <a:rPr lang="zh-CN" altLang="en-US" sz="1600" b="0" i="0" dirty="0">
                <a:solidFill>
                  <a:srgbClr val="1A1C1E"/>
                </a:solidFill>
                <a:effectLst/>
                <a:latin typeface="宋体" panose="02010600030101010101" pitchFamily="2" charset="-122"/>
                <a:ea typeface="宋体" panose="02010600030101010101" pitchFamily="2" charset="-122"/>
              </a:rPr>
              <a:t>从 </a:t>
            </a:r>
            <a:r>
              <a:rPr lang="en-US" altLang="zh-CN" sz="1600" b="0" i="0" dirty="0">
                <a:solidFill>
                  <a:srgbClr val="1A1C1E"/>
                </a:solidFill>
                <a:effectLst/>
                <a:latin typeface="宋体" panose="02010600030101010101" pitchFamily="2" charset="-122"/>
                <a:ea typeface="宋体" panose="02010600030101010101" pitchFamily="2" charset="-122"/>
              </a:rPr>
              <a:t>esm2_t6_8M_UR50D</a:t>
            </a:r>
            <a:r>
              <a:rPr lang="zh-CN" altLang="en-US" sz="1600" b="0" i="0" dirty="0">
                <a:solidFill>
                  <a:srgbClr val="1A1C1E"/>
                </a:solidFill>
                <a:effectLst/>
                <a:latin typeface="宋体" panose="02010600030101010101" pitchFamily="2" charset="-122"/>
                <a:ea typeface="宋体" panose="02010600030101010101" pitchFamily="2" charset="-122"/>
              </a:rPr>
              <a:t> </a:t>
            </a:r>
            <a:r>
              <a:rPr lang="en-US" altLang="zh-CN" sz="1600" b="0" i="0" dirty="0">
                <a:solidFill>
                  <a:srgbClr val="1A1C1E"/>
                </a:solidFill>
                <a:effectLst/>
                <a:latin typeface="宋体" panose="02010600030101010101" pitchFamily="2" charset="-122"/>
                <a:ea typeface="宋体" panose="02010600030101010101" pitchFamily="2" charset="-122"/>
              </a:rPr>
              <a:t>(8M</a:t>
            </a:r>
            <a:r>
              <a:rPr lang="zh-CN" altLang="en-US" sz="1600" b="0" i="0" dirty="0">
                <a:solidFill>
                  <a:srgbClr val="1A1C1E"/>
                </a:solidFill>
                <a:effectLst/>
                <a:latin typeface="宋体" panose="02010600030101010101" pitchFamily="2" charset="-122"/>
                <a:ea typeface="宋体" panose="02010600030101010101" pitchFamily="2" charset="-122"/>
              </a:rPr>
              <a:t>参数</a:t>
            </a:r>
            <a:r>
              <a:rPr lang="en-US" altLang="zh-CN" sz="1600" b="0" i="0" dirty="0">
                <a:solidFill>
                  <a:srgbClr val="1A1C1E"/>
                </a:solidFill>
                <a:effectLst/>
                <a:latin typeface="宋体" panose="02010600030101010101" pitchFamily="2" charset="-122"/>
                <a:ea typeface="宋体" panose="02010600030101010101" pitchFamily="2" charset="-122"/>
              </a:rPr>
              <a:t>, 320</a:t>
            </a:r>
            <a:r>
              <a:rPr lang="zh-CN" altLang="en-US" sz="1600" b="0" i="0" dirty="0">
                <a:solidFill>
                  <a:srgbClr val="1A1C1E"/>
                </a:solidFill>
                <a:effectLst/>
                <a:latin typeface="宋体" panose="02010600030101010101" pitchFamily="2" charset="-122"/>
                <a:ea typeface="宋体" panose="02010600030101010101" pitchFamily="2" charset="-122"/>
              </a:rPr>
              <a:t>维</a:t>
            </a:r>
            <a:r>
              <a:rPr lang="en-US" altLang="zh-CN" sz="1600" b="0" i="0" dirty="0">
                <a:solidFill>
                  <a:srgbClr val="1A1C1E"/>
                </a:solidFill>
                <a:effectLst/>
                <a:latin typeface="宋体" panose="02010600030101010101" pitchFamily="2" charset="-122"/>
                <a:ea typeface="宋体" panose="02010600030101010101" pitchFamily="2" charset="-122"/>
              </a:rPr>
              <a:t>) </a:t>
            </a:r>
            <a:r>
              <a:rPr lang="zh-CN" altLang="en-US" sz="1600" b="0" i="0" dirty="0">
                <a:solidFill>
                  <a:srgbClr val="1A1C1E"/>
                </a:solidFill>
                <a:effectLst/>
                <a:latin typeface="宋体" panose="02010600030101010101" pitchFamily="2" charset="-122"/>
                <a:ea typeface="宋体" panose="02010600030101010101" pitchFamily="2" charset="-122"/>
              </a:rPr>
              <a:t>升级到 </a:t>
            </a:r>
            <a:r>
              <a:rPr lang="en-US" altLang="zh-CN" sz="1600" b="0" i="0" dirty="0">
                <a:solidFill>
                  <a:srgbClr val="1A1C1E"/>
                </a:solidFill>
                <a:effectLst/>
                <a:latin typeface="宋体" panose="02010600030101010101" pitchFamily="2" charset="-122"/>
                <a:ea typeface="宋体" panose="02010600030101010101" pitchFamily="2" charset="-122"/>
              </a:rPr>
              <a:t>esm2_t33_650M_UR50D</a:t>
            </a:r>
            <a:r>
              <a:rPr lang="zh-CN" altLang="en-US" sz="1600" b="0" i="0" dirty="0">
                <a:solidFill>
                  <a:srgbClr val="1A1C1E"/>
                </a:solidFill>
                <a:effectLst/>
                <a:latin typeface="宋体" panose="02010600030101010101" pitchFamily="2" charset="-122"/>
                <a:ea typeface="宋体" panose="02010600030101010101" pitchFamily="2" charset="-122"/>
              </a:rPr>
              <a:t> </a:t>
            </a:r>
            <a:r>
              <a:rPr lang="en-US" altLang="zh-CN" sz="1600" b="0" i="0" dirty="0">
                <a:solidFill>
                  <a:srgbClr val="1A1C1E"/>
                </a:solidFill>
                <a:effectLst/>
                <a:latin typeface="宋体" panose="02010600030101010101" pitchFamily="2" charset="-122"/>
                <a:ea typeface="宋体" panose="02010600030101010101" pitchFamily="2" charset="-122"/>
              </a:rPr>
              <a:t>(650M</a:t>
            </a:r>
            <a:r>
              <a:rPr lang="zh-CN" altLang="en-US" sz="1600" b="0" i="0" dirty="0">
                <a:solidFill>
                  <a:srgbClr val="1A1C1E"/>
                </a:solidFill>
                <a:effectLst/>
                <a:latin typeface="宋体" panose="02010600030101010101" pitchFamily="2" charset="-122"/>
                <a:ea typeface="宋体" panose="02010600030101010101" pitchFamily="2" charset="-122"/>
              </a:rPr>
              <a:t>参数</a:t>
            </a:r>
            <a:r>
              <a:rPr lang="en-US" altLang="zh-CN" sz="1600" b="0" i="0" dirty="0">
                <a:solidFill>
                  <a:srgbClr val="1A1C1E"/>
                </a:solidFill>
                <a:effectLst/>
                <a:latin typeface="宋体" panose="02010600030101010101" pitchFamily="2" charset="-122"/>
                <a:ea typeface="宋体" panose="02010600030101010101" pitchFamily="2" charset="-122"/>
              </a:rPr>
              <a:t>, 1280</a:t>
            </a:r>
            <a:r>
              <a:rPr lang="zh-CN" altLang="en-US" sz="1600" b="0" i="0" dirty="0">
                <a:solidFill>
                  <a:srgbClr val="1A1C1E"/>
                </a:solidFill>
                <a:effectLst/>
                <a:latin typeface="宋体" panose="02010600030101010101" pitchFamily="2" charset="-122"/>
                <a:ea typeface="宋体" panose="02010600030101010101" pitchFamily="2" charset="-122"/>
              </a:rPr>
              <a:t>维</a:t>
            </a:r>
            <a:r>
              <a:rPr lang="en-US" altLang="zh-CN" sz="1600" b="0" i="0" dirty="0">
                <a:solidFill>
                  <a:srgbClr val="1A1C1E"/>
                </a:solidFill>
                <a:effectLst/>
                <a:latin typeface="宋体" panose="02010600030101010101" pitchFamily="2" charset="-122"/>
                <a:ea typeface="宋体" panose="02010600030101010101" pitchFamily="2" charset="-122"/>
              </a:rPr>
              <a:t>)</a:t>
            </a:r>
            <a:r>
              <a:rPr lang="zh-CN" altLang="en-US" sz="1600" b="0" i="0" dirty="0">
                <a:solidFill>
                  <a:srgbClr val="1A1C1E"/>
                </a:solidFill>
                <a:effectLst/>
                <a:latin typeface="宋体" panose="02010600030101010101" pitchFamily="2" charset="-122"/>
                <a:ea typeface="宋体" panose="02010600030101010101" pitchFamily="2" charset="-122"/>
              </a:rPr>
              <a:t>。</a:t>
            </a:r>
          </a:p>
          <a:p>
            <a:pPr algn="l">
              <a:lnSpc>
                <a:spcPct val="150000"/>
              </a:lnSpc>
              <a:spcAft>
                <a:spcPts val="225"/>
              </a:spcAft>
            </a:pPr>
            <a:r>
              <a:rPr lang="zh-CN" altLang="en-US" sz="1600" b="0" i="0" dirty="0">
                <a:solidFill>
                  <a:srgbClr val="1A1C1E"/>
                </a:solidFill>
                <a:effectLst/>
                <a:latin typeface="宋体" panose="02010600030101010101" pitchFamily="2" charset="-122"/>
                <a:ea typeface="宋体" panose="02010600030101010101" pitchFamily="2" charset="-122"/>
              </a:rPr>
              <a:t>更大的预训练模型通常在海量数据上学习到更丰富、更细致的蛋白质序列语义和结构规律</a:t>
            </a:r>
          </a:p>
        </p:txBody>
      </p:sp>
      <p:grpSp>
        <p:nvGrpSpPr>
          <p:cNvPr id="45" name="组合 44"/>
          <p:cNvGrpSpPr/>
          <p:nvPr/>
        </p:nvGrpSpPr>
        <p:grpSpPr>
          <a:xfrm>
            <a:off x="3315459" y="1490103"/>
            <a:ext cx="2414839" cy="572070"/>
            <a:chOff x="3315459" y="1490103"/>
            <a:chExt cx="2414839" cy="572070"/>
          </a:xfrm>
        </p:grpSpPr>
        <p:sp>
          <p:nvSpPr>
            <p:cNvPr id="14" name="矩形: 圆角 13"/>
            <p:cNvSpPr/>
            <p:nvPr/>
          </p:nvSpPr>
          <p:spPr>
            <a:xfrm>
              <a:off x="3447335" y="1490103"/>
              <a:ext cx="2181501" cy="572070"/>
            </a:xfrm>
            <a:prstGeom prst="roundRect">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7" name="文本框 26"/>
            <p:cNvSpPr txBox="1"/>
            <p:nvPr/>
          </p:nvSpPr>
          <p:spPr>
            <a:xfrm>
              <a:off x="3315459" y="1589788"/>
              <a:ext cx="2414839" cy="400110"/>
            </a:xfrm>
            <a:prstGeom prst="rect">
              <a:avLst/>
            </a:prstGeom>
            <a:noFill/>
          </p:spPr>
          <p:txBody>
            <a:bodyPr wrap="square" rtlCol="0">
              <a:spAutoFit/>
            </a:bodyPr>
            <a:lstStyle/>
            <a:p>
              <a:pPr algn="ctr"/>
              <a:r>
                <a:rPr lang="zh-CN" altLang="en-US" sz="2000" b="1" dirty="0">
                  <a:solidFill>
                    <a:schemeClr val="bg1"/>
                  </a:solidFill>
                  <a:cs typeface="+mn-ea"/>
                  <a:sym typeface="+mn-lt"/>
                </a:rPr>
                <a:t>增强模型正则化</a:t>
              </a:r>
            </a:p>
          </p:txBody>
        </p:sp>
      </p:grpSp>
      <p:sp>
        <p:nvSpPr>
          <p:cNvPr id="31" name="文本框 30"/>
          <p:cNvSpPr txBox="1"/>
          <p:nvPr/>
        </p:nvSpPr>
        <p:spPr>
          <a:xfrm>
            <a:off x="3598200" y="2796859"/>
            <a:ext cx="2089110" cy="3384260"/>
          </a:xfrm>
          <a:prstGeom prst="rect">
            <a:avLst/>
          </a:prstGeom>
          <a:noFill/>
        </p:spPr>
        <p:txBody>
          <a:bodyPr wrap="square" rtlCol="0">
            <a:spAutoFit/>
          </a:bodyPr>
          <a:lstStyle/>
          <a:p>
            <a:pPr algn="l">
              <a:lnSpc>
                <a:spcPct val="150000"/>
              </a:lnSpc>
              <a:spcAft>
                <a:spcPts val="225"/>
              </a:spcAft>
            </a:pPr>
            <a:r>
              <a:rPr lang="zh-CN" altLang="en-US" sz="1600" b="0" i="0" dirty="0">
                <a:solidFill>
                  <a:srgbClr val="1A1C1E"/>
                </a:solidFill>
                <a:effectLst/>
                <a:latin typeface="宋体" panose="02010600030101010101" pitchFamily="2" charset="-122"/>
                <a:ea typeface="宋体" panose="02010600030101010101" pitchFamily="2" charset="-122"/>
              </a:rPr>
              <a:t>在残差密集块的线性层之后，或注意力模块的输出之后</a:t>
            </a:r>
            <a:r>
              <a:rPr lang="zh-CN" altLang="en-US" sz="1600" b="1" i="0" dirty="0">
                <a:solidFill>
                  <a:srgbClr val="1A1C1E"/>
                </a:solidFill>
                <a:effectLst/>
                <a:latin typeface="宋体" panose="02010600030101010101" pitchFamily="2" charset="-122"/>
                <a:ea typeface="宋体" panose="02010600030101010101" pitchFamily="2" charset="-122"/>
              </a:rPr>
              <a:t>加入</a:t>
            </a:r>
            <a:r>
              <a:rPr lang="en-US" altLang="zh-CN" sz="1600" b="1" i="0" dirty="0">
                <a:solidFill>
                  <a:srgbClr val="1A1C1E"/>
                </a:solidFill>
                <a:effectLst/>
                <a:latin typeface="宋体" panose="02010600030101010101" pitchFamily="2" charset="-122"/>
                <a:ea typeface="宋体" panose="02010600030101010101" pitchFamily="2" charset="-122"/>
              </a:rPr>
              <a:t>Dropout</a:t>
            </a:r>
            <a:r>
              <a:rPr lang="zh-CN" altLang="en-US" sz="1600" b="1" i="0" dirty="0">
                <a:solidFill>
                  <a:srgbClr val="1A1C1E"/>
                </a:solidFill>
                <a:effectLst/>
                <a:latin typeface="宋体" panose="02010600030101010101" pitchFamily="2" charset="-122"/>
                <a:ea typeface="宋体" panose="02010600030101010101" pitchFamily="2" charset="-122"/>
              </a:rPr>
              <a:t>层</a:t>
            </a:r>
            <a:r>
              <a:rPr lang="zh-CN" altLang="en-US" sz="1600" b="0" i="0" dirty="0">
                <a:solidFill>
                  <a:srgbClr val="1A1C1E"/>
                </a:solidFill>
                <a:effectLst/>
                <a:latin typeface="宋体" panose="02010600030101010101" pitchFamily="2" charset="-122"/>
                <a:ea typeface="宋体" panose="02010600030101010101" pitchFamily="2" charset="-122"/>
              </a:rPr>
              <a:t>。</a:t>
            </a:r>
          </a:p>
          <a:p>
            <a:pPr algn="l">
              <a:lnSpc>
                <a:spcPct val="150000"/>
              </a:lnSpc>
              <a:spcAft>
                <a:spcPts val="225"/>
              </a:spcAft>
            </a:pPr>
            <a:r>
              <a:rPr lang="zh-CN" altLang="en-US" sz="1600" b="0" i="0" dirty="0">
                <a:solidFill>
                  <a:srgbClr val="1A1C1E"/>
                </a:solidFill>
                <a:effectLst/>
                <a:latin typeface="宋体" panose="02010600030101010101" pitchFamily="2" charset="-122"/>
                <a:ea typeface="宋体" panose="02010600030101010101" pitchFamily="2" charset="-122"/>
              </a:rPr>
              <a:t>随机失活部分神经元，减少神经元间的复杂共适应关系，增强模型的泛化能力，防止过拟合。</a:t>
            </a:r>
          </a:p>
        </p:txBody>
      </p:sp>
      <p:grpSp>
        <p:nvGrpSpPr>
          <p:cNvPr id="46" name="组合 45"/>
          <p:cNvGrpSpPr/>
          <p:nvPr/>
        </p:nvGrpSpPr>
        <p:grpSpPr>
          <a:xfrm>
            <a:off x="6657814" y="1503809"/>
            <a:ext cx="1797831" cy="572070"/>
            <a:chOff x="6657814" y="1503809"/>
            <a:chExt cx="1797831" cy="572070"/>
          </a:xfrm>
        </p:grpSpPr>
        <p:sp>
          <p:nvSpPr>
            <p:cNvPr id="15" name="矩形: 圆角 14"/>
            <p:cNvSpPr/>
            <p:nvPr/>
          </p:nvSpPr>
          <p:spPr>
            <a:xfrm>
              <a:off x="6657814" y="1503809"/>
              <a:ext cx="1797831" cy="572070"/>
            </a:xfrm>
            <a:prstGeom prst="roundRect">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文本框 27"/>
            <p:cNvSpPr txBox="1"/>
            <p:nvPr/>
          </p:nvSpPr>
          <p:spPr>
            <a:xfrm>
              <a:off x="6744978" y="1589788"/>
              <a:ext cx="1621084" cy="400110"/>
            </a:xfrm>
            <a:prstGeom prst="rect">
              <a:avLst/>
            </a:prstGeom>
            <a:noFill/>
          </p:spPr>
          <p:txBody>
            <a:bodyPr wrap="square" rtlCol="0">
              <a:spAutoFit/>
            </a:bodyPr>
            <a:lstStyle/>
            <a:p>
              <a:pPr algn="ctr"/>
              <a:r>
                <a:rPr lang="zh-CN" altLang="en-US" sz="2000" b="1" dirty="0">
                  <a:solidFill>
                    <a:schemeClr val="bg1"/>
                  </a:solidFill>
                  <a:cs typeface="+mn-ea"/>
                  <a:sym typeface="+mn-lt"/>
                </a:rPr>
                <a:t>调整优化器</a:t>
              </a:r>
            </a:p>
          </p:txBody>
        </p:sp>
      </p:grpSp>
      <p:sp>
        <p:nvSpPr>
          <p:cNvPr id="32" name="文本框 31"/>
          <p:cNvSpPr txBox="1"/>
          <p:nvPr/>
        </p:nvSpPr>
        <p:spPr>
          <a:xfrm>
            <a:off x="6512175" y="2796859"/>
            <a:ext cx="2089110" cy="3409908"/>
          </a:xfrm>
          <a:prstGeom prst="rect">
            <a:avLst/>
          </a:prstGeom>
          <a:noFill/>
        </p:spPr>
        <p:txBody>
          <a:bodyPr wrap="square" rtlCol="0">
            <a:spAutoFit/>
          </a:bodyPr>
          <a:lstStyle/>
          <a:p>
            <a:pPr algn="l">
              <a:lnSpc>
                <a:spcPct val="150000"/>
              </a:lnSpc>
              <a:spcAft>
                <a:spcPts val="225"/>
              </a:spcAft>
            </a:pPr>
            <a:r>
              <a:rPr lang="zh-CN" altLang="en-US" sz="1600" i="0" dirty="0">
                <a:solidFill>
                  <a:srgbClr val="1A1C1E"/>
                </a:solidFill>
                <a:effectLst/>
                <a:latin typeface="宋体" panose="02010600030101010101" pitchFamily="2" charset="-122"/>
                <a:ea typeface="宋体" panose="02010600030101010101" pitchFamily="2" charset="-122"/>
              </a:rPr>
              <a:t>优化器：调整权重衰减系数。</a:t>
            </a:r>
          </a:p>
          <a:p>
            <a:pPr algn="l">
              <a:lnSpc>
                <a:spcPct val="150000"/>
              </a:lnSpc>
              <a:spcAft>
                <a:spcPts val="225"/>
              </a:spcAft>
            </a:pPr>
            <a:r>
              <a:rPr lang="zh-CN" altLang="en-US" sz="1600" i="0" dirty="0">
                <a:solidFill>
                  <a:srgbClr val="1A1C1E"/>
                </a:solidFill>
                <a:effectLst/>
                <a:latin typeface="宋体" panose="02010600030101010101" pitchFamily="2" charset="-122"/>
                <a:ea typeface="宋体" panose="02010600030101010101" pitchFamily="2" charset="-122"/>
              </a:rPr>
              <a:t>损失函数：将损失函数从 </a:t>
            </a:r>
            <a:r>
              <a:rPr lang="en-US" altLang="zh-CN" sz="1600" i="0" dirty="0">
                <a:solidFill>
                  <a:srgbClr val="1A1C1E"/>
                </a:solidFill>
                <a:effectLst/>
                <a:latin typeface="宋体" panose="02010600030101010101" pitchFamily="2" charset="-122"/>
                <a:ea typeface="宋体" panose="02010600030101010101" pitchFamily="2" charset="-122"/>
              </a:rPr>
              <a:t>MSE </a:t>
            </a:r>
            <a:r>
              <a:rPr lang="zh-CN" altLang="en-US" sz="1600" i="0" dirty="0">
                <a:solidFill>
                  <a:srgbClr val="1A1C1E"/>
                </a:solidFill>
                <a:effectLst/>
                <a:latin typeface="宋体" panose="02010600030101010101" pitchFamily="2" charset="-122"/>
                <a:ea typeface="宋体" panose="02010600030101010101" pitchFamily="2" charset="-122"/>
              </a:rPr>
              <a:t>更改为 </a:t>
            </a:r>
            <a:r>
              <a:rPr lang="en-US" altLang="zh-CN" sz="1600" i="0" dirty="0">
                <a:solidFill>
                  <a:srgbClr val="1A1C1E"/>
                </a:solidFill>
                <a:effectLst/>
                <a:latin typeface="宋体" panose="02010600030101010101" pitchFamily="2" charset="-122"/>
                <a:ea typeface="宋体" panose="02010600030101010101" pitchFamily="2" charset="-122"/>
              </a:rPr>
              <a:t>MAE (Mean Absolute Error / L1 Loss)</a:t>
            </a:r>
            <a:r>
              <a:rPr lang="zh-CN" altLang="en-US" sz="1600" i="0" dirty="0">
                <a:solidFill>
                  <a:srgbClr val="1A1C1E"/>
                </a:solidFill>
                <a:effectLst/>
                <a:latin typeface="宋体" panose="02010600030101010101" pitchFamily="2" charset="-122"/>
                <a:ea typeface="宋体" panose="02010600030101010101" pitchFamily="2" charset="-122"/>
              </a:rPr>
              <a:t>。</a:t>
            </a:r>
          </a:p>
          <a:p>
            <a:pPr algn="l">
              <a:lnSpc>
                <a:spcPct val="150000"/>
              </a:lnSpc>
              <a:spcAft>
                <a:spcPts val="225"/>
              </a:spcAft>
            </a:pPr>
            <a:r>
              <a:rPr lang="en-US" altLang="zh-CN" sz="1600" i="0" dirty="0">
                <a:solidFill>
                  <a:srgbClr val="1A1C1E"/>
                </a:solidFill>
                <a:effectLst/>
                <a:latin typeface="宋体" panose="02010600030101010101" pitchFamily="2" charset="-122"/>
                <a:ea typeface="宋体" panose="02010600030101010101" pitchFamily="2" charset="-122"/>
              </a:rPr>
              <a:t> MAE </a:t>
            </a:r>
            <a:r>
              <a:rPr lang="zh-CN" altLang="en-US" sz="1600" i="0" dirty="0">
                <a:solidFill>
                  <a:srgbClr val="1A1C1E"/>
                </a:solidFill>
                <a:effectLst/>
                <a:latin typeface="宋体" panose="02010600030101010101" pitchFamily="2" charset="-122"/>
                <a:ea typeface="宋体" panose="02010600030101010101" pitchFamily="2" charset="-122"/>
              </a:rPr>
              <a:t>可能提供更鲁棒的梯度和更稳定的训练。</a:t>
            </a:r>
          </a:p>
        </p:txBody>
      </p:sp>
      <p:grpSp>
        <p:nvGrpSpPr>
          <p:cNvPr id="47" name="组合 46"/>
          <p:cNvGrpSpPr/>
          <p:nvPr/>
        </p:nvGrpSpPr>
        <p:grpSpPr>
          <a:xfrm>
            <a:off x="9571787" y="1503809"/>
            <a:ext cx="1845365" cy="572070"/>
            <a:chOff x="9571787" y="1503809"/>
            <a:chExt cx="1845365" cy="572070"/>
          </a:xfrm>
        </p:grpSpPr>
        <p:sp>
          <p:nvSpPr>
            <p:cNvPr id="16" name="矩形: 圆角 15"/>
            <p:cNvSpPr/>
            <p:nvPr/>
          </p:nvSpPr>
          <p:spPr>
            <a:xfrm>
              <a:off x="9571787" y="1503809"/>
              <a:ext cx="1797831" cy="572070"/>
            </a:xfrm>
            <a:prstGeom prst="roundRect">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p:cNvSpPr txBox="1"/>
            <p:nvPr/>
          </p:nvSpPr>
          <p:spPr>
            <a:xfrm>
              <a:off x="9619322" y="1589788"/>
              <a:ext cx="1797830" cy="400110"/>
            </a:xfrm>
            <a:prstGeom prst="rect">
              <a:avLst/>
            </a:prstGeom>
            <a:noFill/>
          </p:spPr>
          <p:txBody>
            <a:bodyPr wrap="square" rtlCol="0">
              <a:spAutoFit/>
            </a:bodyPr>
            <a:lstStyle/>
            <a:p>
              <a:pPr algn="ctr"/>
              <a:r>
                <a:rPr lang="zh-CN" altLang="en-US" sz="2000" b="1" dirty="0">
                  <a:solidFill>
                    <a:schemeClr val="bg1"/>
                  </a:solidFill>
                  <a:cs typeface="+mn-ea"/>
                  <a:sym typeface="+mn-lt"/>
                </a:rPr>
                <a:t>细化窗口大小</a:t>
              </a:r>
            </a:p>
          </p:txBody>
        </p:sp>
      </p:grpSp>
      <p:sp>
        <p:nvSpPr>
          <p:cNvPr id="33" name="文本框 32"/>
          <p:cNvSpPr txBox="1"/>
          <p:nvPr/>
        </p:nvSpPr>
        <p:spPr>
          <a:xfrm>
            <a:off x="9426148" y="2796859"/>
            <a:ext cx="2089110" cy="3666004"/>
          </a:xfrm>
          <a:prstGeom prst="rect">
            <a:avLst/>
          </a:prstGeom>
          <a:noFill/>
        </p:spPr>
        <p:txBody>
          <a:bodyPr wrap="square" rtlCol="0">
            <a:spAutoFit/>
          </a:bodyPr>
          <a:lstStyle/>
          <a:p>
            <a:pPr algn="l">
              <a:lnSpc>
                <a:spcPct val="150000"/>
              </a:lnSpc>
              <a:spcAft>
                <a:spcPts val="225"/>
              </a:spcAft>
            </a:pPr>
            <a:r>
              <a:rPr lang="en-US" altLang="zh-CN" sz="1600" b="0" i="0" dirty="0">
                <a:solidFill>
                  <a:srgbClr val="1A1C1E"/>
                </a:solidFill>
                <a:effectLst/>
                <a:latin typeface="宋体" panose="02010600030101010101" pitchFamily="2" charset="-122"/>
                <a:ea typeface="宋体" panose="02010600030101010101" pitchFamily="2" charset="-122"/>
              </a:rPr>
              <a:t>CNN</a:t>
            </a:r>
            <a:r>
              <a:rPr lang="zh-CN" altLang="en-US" sz="1600" b="0" i="0" dirty="0">
                <a:solidFill>
                  <a:srgbClr val="1A1C1E"/>
                </a:solidFill>
                <a:effectLst/>
                <a:latin typeface="宋体" panose="02010600030101010101" pitchFamily="2" charset="-122"/>
                <a:ea typeface="宋体" panose="02010600030101010101" pitchFamily="2" charset="-122"/>
              </a:rPr>
              <a:t>窗口大调整</a:t>
            </a:r>
            <a:r>
              <a:rPr lang="en-US" altLang="zh-CN" sz="1600" b="0" i="0" dirty="0">
                <a:solidFill>
                  <a:srgbClr val="1A1C1E"/>
                </a:solidFill>
                <a:effectLst/>
                <a:latin typeface="宋体" panose="02010600030101010101" pitchFamily="2" charset="-122"/>
                <a:ea typeface="宋体" panose="02010600030101010101" pitchFamily="2" charset="-122"/>
              </a:rPr>
              <a:t>win=3</a:t>
            </a:r>
            <a:r>
              <a:rPr lang="zh-CN" altLang="en-US" sz="1600" b="0" i="0" dirty="0">
                <a:solidFill>
                  <a:srgbClr val="1A1C1E"/>
                </a:solidFill>
                <a:effectLst/>
                <a:latin typeface="宋体" panose="02010600030101010101" pitchFamily="2" charset="-122"/>
                <a:ea typeface="宋体" panose="02010600030101010101" pitchFamily="2" charset="-122"/>
              </a:rPr>
              <a:t>、</a:t>
            </a:r>
            <a:r>
              <a:rPr lang="en-US" altLang="zh-CN" sz="1600" b="0" i="0" dirty="0">
                <a:solidFill>
                  <a:srgbClr val="1A1C1E"/>
                </a:solidFill>
                <a:effectLst/>
                <a:latin typeface="宋体" panose="02010600030101010101" pitchFamily="2" charset="-122"/>
                <a:ea typeface="宋体" panose="02010600030101010101" pitchFamily="2" charset="-122"/>
              </a:rPr>
              <a:t>win=5</a:t>
            </a:r>
            <a:r>
              <a:rPr lang="zh-CN" altLang="en-US" sz="1600" b="0" i="0" dirty="0">
                <a:solidFill>
                  <a:srgbClr val="1A1C1E"/>
                </a:solidFill>
                <a:effectLst/>
                <a:latin typeface="宋体" panose="02010600030101010101" pitchFamily="2" charset="-122"/>
                <a:ea typeface="宋体" panose="02010600030101010101" pitchFamily="2" charset="-122"/>
              </a:rPr>
              <a:t>、</a:t>
            </a:r>
            <a:r>
              <a:rPr lang="en-US" altLang="zh-CN" sz="1600" b="0" i="0" dirty="0">
                <a:solidFill>
                  <a:srgbClr val="1A1C1E"/>
                </a:solidFill>
                <a:effectLst/>
                <a:latin typeface="宋体" panose="02010600030101010101" pitchFamily="2" charset="-122"/>
                <a:ea typeface="宋体" panose="02010600030101010101" pitchFamily="2" charset="-122"/>
              </a:rPr>
              <a:t>win=7</a:t>
            </a:r>
            <a:r>
              <a:rPr lang="zh-CN" altLang="en-US" sz="1600" b="0" i="0" dirty="0">
                <a:solidFill>
                  <a:srgbClr val="1A1C1E"/>
                </a:solidFill>
                <a:effectLst/>
                <a:latin typeface="宋体" panose="02010600030101010101" pitchFamily="2" charset="-122"/>
                <a:ea typeface="宋体" panose="02010600030101010101" pitchFamily="2" charset="-122"/>
              </a:rPr>
              <a:t>的三个模型配置。</a:t>
            </a:r>
          </a:p>
          <a:p>
            <a:pPr algn="l">
              <a:lnSpc>
                <a:spcPct val="150000"/>
              </a:lnSpc>
              <a:spcAft>
                <a:spcPts val="225"/>
              </a:spcAft>
            </a:pPr>
            <a:r>
              <a:rPr lang="zh-CN" altLang="en-US" sz="1600" b="0" i="0" dirty="0">
                <a:solidFill>
                  <a:srgbClr val="1A1C1E"/>
                </a:solidFill>
                <a:effectLst/>
                <a:latin typeface="宋体" panose="02010600030101010101" pitchFamily="2" charset="-122"/>
                <a:ea typeface="宋体" panose="02010600030101010101" pitchFamily="2" charset="-122"/>
              </a:rPr>
              <a:t>不同的窗口大小捕捉不同尺度的局部序列模式。旨在找到最优单窗口配置，为后续集成提供多样化的基础模型。</a:t>
            </a:r>
          </a:p>
          <a:p>
            <a:pPr algn="l">
              <a:lnSpc>
                <a:spcPts val="1500"/>
              </a:lnSpc>
              <a:spcAft>
                <a:spcPts val="225"/>
              </a:spcAft>
            </a:pPr>
            <a:endParaRPr lang="zh-CN" altLang="en-US" sz="1600" b="0" i="0" dirty="0">
              <a:solidFill>
                <a:srgbClr val="1A1C1E"/>
              </a:solidFill>
              <a:effectLst/>
              <a:latin typeface="Google Sans Text"/>
            </a:endParaRPr>
          </a:p>
        </p:txBody>
      </p:sp>
      <p:grpSp>
        <p:nvGrpSpPr>
          <p:cNvPr id="51" name="组合 50"/>
          <p:cNvGrpSpPr/>
          <p:nvPr/>
        </p:nvGrpSpPr>
        <p:grpSpPr>
          <a:xfrm rot="10800000">
            <a:off x="0" y="0"/>
            <a:ext cx="1413169" cy="1257302"/>
            <a:chOff x="4729271" y="2720371"/>
            <a:chExt cx="7462734" cy="4137630"/>
          </a:xfrm>
        </p:grpSpPr>
        <p:sp>
          <p:nvSpPr>
            <p:cNvPr id="52"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3"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4"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55" name="组合 54"/>
          <p:cNvGrpSpPr/>
          <p:nvPr/>
        </p:nvGrpSpPr>
        <p:grpSpPr>
          <a:xfrm rot="10800000" flipH="1" flipV="1">
            <a:off x="10778838" y="5600698"/>
            <a:ext cx="1413169" cy="1257302"/>
            <a:chOff x="4729271" y="2720371"/>
            <a:chExt cx="7462734" cy="4137630"/>
          </a:xfrm>
        </p:grpSpPr>
        <p:sp>
          <p:nvSpPr>
            <p:cNvPr id="56"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7"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8"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模型改进</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Deep learning model improvements</a:t>
              </a:r>
              <a:endParaRPr lang="zh-CN" altLang="en-US" sz="1100" dirty="0">
                <a:solidFill>
                  <a:srgbClr val="A6C1CC"/>
                </a:solidFill>
                <a:cs typeface="+mn-ea"/>
                <a:sym typeface="+mn-lt"/>
              </a:endParaRPr>
            </a:p>
          </p:txBody>
        </p:sp>
      </p:gr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495D2-32E0-75FC-29A0-BA2B21C503DF}"/>
            </a:ext>
          </a:extLst>
        </p:cNvPr>
        <p:cNvGrpSpPr/>
        <p:nvPr/>
      </p:nvGrpSpPr>
      <p:grpSpPr>
        <a:xfrm>
          <a:off x="0" y="0"/>
          <a:ext cx="0" cy="0"/>
          <a:chOff x="0" y="0"/>
          <a:chExt cx="0" cy="0"/>
        </a:xfrm>
      </p:grpSpPr>
      <p:sp>
        <p:nvSpPr>
          <p:cNvPr id="94" name="流程图: 接点 93">
            <a:extLst>
              <a:ext uri="{FF2B5EF4-FFF2-40B4-BE49-F238E27FC236}">
                <a16:creationId xmlns:a16="http://schemas.microsoft.com/office/drawing/2014/main" id="{9C3E8EC4-4BD6-022D-CFC3-00EE32324F18}"/>
              </a:ext>
            </a:extLst>
          </p:cNvPr>
          <p:cNvSpPr/>
          <p:nvPr/>
        </p:nvSpPr>
        <p:spPr>
          <a:xfrm>
            <a:off x="5935487" y="3206093"/>
            <a:ext cx="342900" cy="342900"/>
          </a:xfrm>
          <a:prstGeom prst="flowChartConnector">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5" name="文本框 94">
            <a:extLst>
              <a:ext uri="{FF2B5EF4-FFF2-40B4-BE49-F238E27FC236}">
                <a16:creationId xmlns:a16="http://schemas.microsoft.com/office/drawing/2014/main" id="{15D463B0-8345-ECC5-595A-6F27490E4B45}"/>
              </a:ext>
            </a:extLst>
          </p:cNvPr>
          <p:cNvSpPr txBox="1"/>
          <p:nvPr/>
        </p:nvSpPr>
        <p:spPr>
          <a:xfrm>
            <a:off x="6350443" y="3113600"/>
            <a:ext cx="1444336" cy="400110"/>
          </a:xfrm>
          <a:prstGeom prst="rect">
            <a:avLst/>
          </a:prstGeom>
          <a:noFill/>
        </p:spPr>
        <p:txBody>
          <a:bodyPr wrap="square" rtlCol="0">
            <a:spAutoFit/>
          </a:bodyPr>
          <a:lstStyle/>
          <a:p>
            <a:r>
              <a:rPr lang="zh-CN" altLang="en-US" sz="2000" b="1" dirty="0">
                <a:solidFill>
                  <a:srgbClr val="4E5976"/>
                </a:solidFill>
                <a:cs typeface="+mn-ea"/>
                <a:sym typeface="+mn-lt"/>
              </a:rPr>
              <a:t>输入标题</a:t>
            </a:r>
          </a:p>
        </p:txBody>
      </p:sp>
      <p:grpSp>
        <p:nvGrpSpPr>
          <p:cNvPr id="39" name="组合 38">
            <a:extLst>
              <a:ext uri="{FF2B5EF4-FFF2-40B4-BE49-F238E27FC236}">
                <a16:creationId xmlns:a16="http://schemas.microsoft.com/office/drawing/2014/main" id="{4AE26589-17EB-71A0-282F-8E804A89223C}"/>
              </a:ext>
            </a:extLst>
          </p:cNvPr>
          <p:cNvGrpSpPr/>
          <p:nvPr/>
        </p:nvGrpSpPr>
        <p:grpSpPr>
          <a:xfrm rot="10800000">
            <a:off x="0" y="0"/>
            <a:ext cx="1413169" cy="1257302"/>
            <a:chOff x="4729271" y="2720371"/>
            <a:chExt cx="7462734" cy="4137630"/>
          </a:xfrm>
        </p:grpSpPr>
        <p:sp>
          <p:nvSpPr>
            <p:cNvPr id="40" name="矩形 21">
              <a:extLst>
                <a:ext uri="{FF2B5EF4-FFF2-40B4-BE49-F238E27FC236}">
                  <a16:creationId xmlns:a16="http://schemas.microsoft.com/office/drawing/2014/main" id="{EA7E3CAF-41E6-BDC4-3735-6013B0177166}"/>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1" name="矩形 21">
              <a:extLst>
                <a:ext uri="{FF2B5EF4-FFF2-40B4-BE49-F238E27FC236}">
                  <a16:creationId xmlns:a16="http://schemas.microsoft.com/office/drawing/2014/main" id="{CE8C8924-107A-1510-7816-A6A27B7D262E}"/>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矩形 21">
              <a:extLst>
                <a:ext uri="{FF2B5EF4-FFF2-40B4-BE49-F238E27FC236}">
                  <a16:creationId xmlns:a16="http://schemas.microsoft.com/office/drawing/2014/main" id="{9BC9F3D7-DDA6-AC1D-FAC8-21673F4F2304}"/>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43" name="组合 42">
            <a:extLst>
              <a:ext uri="{FF2B5EF4-FFF2-40B4-BE49-F238E27FC236}">
                <a16:creationId xmlns:a16="http://schemas.microsoft.com/office/drawing/2014/main" id="{0B6DA748-4FF3-0DFD-1296-A4BECFAA0637}"/>
              </a:ext>
            </a:extLst>
          </p:cNvPr>
          <p:cNvGrpSpPr/>
          <p:nvPr/>
        </p:nvGrpSpPr>
        <p:grpSpPr>
          <a:xfrm rot="10800000" flipH="1" flipV="1">
            <a:off x="10778838" y="5600698"/>
            <a:ext cx="1413169" cy="1257302"/>
            <a:chOff x="4729271" y="2720371"/>
            <a:chExt cx="7462734" cy="4137630"/>
          </a:xfrm>
        </p:grpSpPr>
        <p:sp>
          <p:nvSpPr>
            <p:cNvPr id="44" name="矩形 21">
              <a:extLst>
                <a:ext uri="{FF2B5EF4-FFF2-40B4-BE49-F238E27FC236}">
                  <a16:creationId xmlns:a16="http://schemas.microsoft.com/office/drawing/2014/main" id="{A608248A-2D44-EFA4-CE8E-23D49C36B999}"/>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5" name="矩形 21">
              <a:extLst>
                <a:ext uri="{FF2B5EF4-FFF2-40B4-BE49-F238E27FC236}">
                  <a16:creationId xmlns:a16="http://schemas.microsoft.com/office/drawing/2014/main" id="{0F9DCEA8-A803-339A-C816-40A2CF697E27}"/>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6" name="矩形 21">
              <a:extLst>
                <a:ext uri="{FF2B5EF4-FFF2-40B4-BE49-F238E27FC236}">
                  <a16:creationId xmlns:a16="http://schemas.microsoft.com/office/drawing/2014/main" id="{BB91D757-97CE-2F04-4768-910DC2D7916C}"/>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a:extLst>
              <a:ext uri="{FF2B5EF4-FFF2-40B4-BE49-F238E27FC236}">
                <a16:creationId xmlns:a16="http://schemas.microsoft.com/office/drawing/2014/main" id="{EFD0A4C7-59CC-2822-188C-71B2BD33E9A7}"/>
              </a:ext>
            </a:extLst>
          </p:cNvPr>
          <p:cNvGrpSpPr/>
          <p:nvPr/>
        </p:nvGrpSpPr>
        <p:grpSpPr>
          <a:xfrm>
            <a:off x="1087365" y="373208"/>
            <a:ext cx="4803219" cy="525516"/>
            <a:chOff x="672787" y="101730"/>
            <a:chExt cx="4803219" cy="525516"/>
          </a:xfrm>
        </p:grpSpPr>
        <p:sp>
          <p:nvSpPr>
            <p:cNvPr id="3" name="文本框 2">
              <a:extLst>
                <a:ext uri="{FF2B5EF4-FFF2-40B4-BE49-F238E27FC236}">
                  <a16:creationId xmlns:a16="http://schemas.microsoft.com/office/drawing/2014/main" id="{EDDC34B8-3350-6171-B8B8-312D1C20B4CE}"/>
                </a:ext>
              </a:extLst>
            </p:cNvPr>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模型表现与分析</a:t>
              </a:r>
            </a:p>
          </p:txBody>
        </p:sp>
        <p:sp>
          <p:nvSpPr>
            <p:cNvPr id="4" name="文本框 3">
              <a:extLst>
                <a:ext uri="{FF2B5EF4-FFF2-40B4-BE49-F238E27FC236}">
                  <a16:creationId xmlns:a16="http://schemas.microsoft.com/office/drawing/2014/main" id="{D8441F01-7BD1-6CA8-DBB3-B5D23FCC0436}"/>
                </a:ext>
              </a:extLst>
            </p:cNvPr>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Model representation and analysis.</a:t>
              </a:r>
              <a:endParaRPr lang="zh-CN" altLang="en-US" sz="1100" dirty="0">
                <a:solidFill>
                  <a:srgbClr val="A6C1CC"/>
                </a:solidFill>
                <a:cs typeface="+mn-ea"/>
                <a:sym typeface="+mn-lt"/>
              </a:endParaRPr>
            </a:p>
          </p:txBody>
        </p:sp>
      </p:grpSp>
      <p:pic>
        <p:nvPicPr>
          <p:cNvPr id="8" name="图片 7">
            <a:extLst>
              <a:ext uri="{FF2B5EF4-FFF2-40B4-BE49-F238E27FC236}">
                <a16:creationId xmlns:a16="http://schemas.microsoft.com/office/drawing/2014/main" id="{17713773-BEEE-7AFA-28E0-756EEBA43ECE}"/>
              </a:ext>
            </a:extLst>
          </p:cNvPr>
          <p:cNvPicPr>
            <a:picLocks noChangeAspect="1"/>
          </p:cNvPicPr>
          <p:nvPr/>
        </p:nvPicPr>
        <p:blipFill>
          <a:blip r:embed="rId2"/>
          <a:stretch>
            <a:fillRect/>
          </a:stretch>
        </p:blipFill>
        <p:spPr>
          <a:xfrm>
            <a:off x="752066" y="898724"/>
            <a:ext cx="3350408" cy="3695809"/>
          </a:xfrm>
          <a:prstGeom prst="rect">
            <a:avLst/>
          </a:prstGeom>
        </p:spPr>
      </p:pic>
      <p:pic>
        <p:nvPicPr>
          <p:cNvPr id="10" name="图片 9">
            <a:extLst>
              <a:ext uri="{FF2B5EF4-FFF2-40B4-BE49-F238E27FC236}">
                <a16:creationId xmlns:a16="http://schemas.microsoft.com/office/drawing/2014/main" id="{C5171538-2152-781E-7E44-B75C8A53A34F}"/>
              </a:ext>
            </a:extLst>
          </p:cNvPr>
          <p:cNvPicPr>
            <a:picLocks noChangeAspect="1"/>
          </p:cNvPicPr>
          <p:nvPr/>
        </p:nvPicPr>
        <p:blipFill>
          <a:blip r:embed="rId3"/>
          <a:stretch>
            <a:fillRect/>
          </a:stretch>
        </p:blipFill>
        <p:spPr>
          <a:xfrm>
            <a:off x="4443300" y="938236"/>
            <a:ext cx="3118282" cy="3594095"/>
          </a:xfrm>
          <a:prstGeom prst="rect">
            <a:avLst/>
          </a:prstGeom>
        </p:spPr>
      </p:pic>
      <p:pic>
        <p:nvPicPr>
          <p:cNvPr id="12" name="图片 11">
            <a:extLst>
              <a:ext uri="{FF2B5EF4-FFF2-40B4-BE49-F238E27FC236}">
                <a16:creationId xmlns:a16="http://schemas.microsoft.com/office/drawing/2014/main" id="{2547AF8B-3EA1-F95E-E189-B4EEAE93F641}"/>
              </a:ext>
            </a:extLst>
          </p:cNvPr>
          <p:cNvPicPr>
            <a:picLocks noChangeAspect="1"/>
          </p:cNvPicPr>
          <p:nvPr/>
        </p:nvPicPr>
        <p:blipFill>
          <a:blip r:embed="rId4"/>
          <a:stretch>
            <a:fillRect/>
          </a:stretch>
        </p:blipFill>
        <p:spPr>
          <a:xfrm>
            <a:off x="7902408" y="711762"/>
            <a:ext cx="3202226" cy="3790742"/>
          </a:xfrm>
          <a:prstGeom prst="rect">
            <a:avLst/>
          </a:prstGeom>
        </p:spPr>
      </p:pic>
      <p:sp>
        <p:nvSpPr>
          <p:cNvPr id="7" name="文本框 6">
            <a:extLst>
              <a:ext uri="{FF2B5EF4-FFF2-40B4-BE49-F238E27FC236}">
                <a16:creationId xmlns:a16="http://schemas.microsoft.com/office/drawing/2014/main" id="{61AD3AB7-283B-D69D-BE30-67B3814A0308}"/>
              </a:ext>
            </a:extLst>
          </p:cNvPr>
          <p:cNvSpPr txBox="1"/>
          <p:nvPr/>
        </p:nvSpPr>
        <p:spPr>
          <a:xfrm>
            <a:off x="5635056" y="4748984"/>
            <a:ext cx="3853052" cy="1477328"/>
          </a:xfrm>
          <a:prstGeom prst="rect">
            <a:avLst/>
          </a:prstGeom>
          <a:noFill/>
        </p:spPr>
        <p:txBody>
          <a:bodyPr wrap="square">
            <a:spAutoFit/>
          </a:bodyPr>
          <a:lstStyle/>
          <a:p>
            <a:pPr indent="457200"/>
            <a:r>
              <a:rPr lang="zh-CN" altLang="en-US" b="0" i="0" dirty="0">
                <a:solidFill>
                  <a:srgbClr val="000000"/>
                </a:solidFill>
                <a:effectLst/>
                <a:latin typeface="宋体" panose="02010600030101010101" pitchFamily="2" charset="-122"/>
                <a:ea typeface="宋体" panose="02010600030101010101" pitchFamily="2" charset="-122"/>
              </a:rPr>
              <a:t>本模型中的 </a:t>
            </a:r>
            <a:r>
              <a:rPr lang="en-US" altLang="zh-CN" b="0" i="0" dirty="0">
                <a:solidFill>
                  <a:srgbClr val="000000"/>
                </a:solidFill>
                <a:effectLst/>
                <a:latin typeface="宋体" panose="02010600030101010101" pitchFamily="2" charset="-122"/>
                <a:ea typeface="宋体" panose="02010600030101010101" pitchFamily="2" charset="-122"/>
              </a:rPr>
              <a:t>CNN</a:t>
            </a:r>
            <a:r>
              <a:rPr lang="zh-CN" altLang="en-US" b="0" i="0" dirty="0">
                <a:solidFill>
                  <a:srgbClr val="000000"/>
                </a:solidFill>
                <a:effectLst/>
                <a:latin typeface="宋体" panose="02010600030101010101" pitchFamily="2" charset="-122"/>
                <a:ea typeface="宋体" panose="02010600030101010101" pitchFamily="2" charset="-122"/>
              </a:rPr>
              <a:t>，实验了 </a:t>
            </a:r>
            <a:r>
              <a:rPr lang="en-US" altLang="zh-CN" b="0" i="0" dirty="0">
                <a:solidFill>
                  <a:srgbClr val="000000"/>
                </a:solidFill>
                <a:effectLst/>
                <a:latin typeface="宋体" panose="02010600030101010101" pitchFamily="2" charset="-122"/>
                <a:ea typeface="宋体" panose="02010600030101010101" pitchFamily="2" charset="-122"/>
              </a:rPr>
              <a:t>3 </a:t>
            </a:r>
            <a:r>
              <a:rPr lang="zh-CN" altLang="en-US" b="0" i="0" dirty="0">
                <a:solidFill>
                  <a:srgbClr val="000000"/>
                </a:solidFill>
                <a:effectLst/>
                <a:latin typeface="宋体" panose="02010600030101010101" pitchFamily="2" charset="-122"/>
                <a:ea typeface="宋体" panose="02010600030101010101" pitchFamily="2" charset="-122"/>
              </a:rPr>
              <a:t>种不同的滑动窗口大小（</a:t>
            </a:r>
            <a:r>
              <a:rPr lang="en-US" altLang="zh-CN" b="0" i="0" dirty="0">
                <a:solidFill>
                  <a:srgbClr val="000000"/>
                </a:solidFill>
                <a:effectLst/>
                <a:latin typeface="宋体" panose="02010600030101010101" pitchFamily="2" charset="-122"/>
                <a:ea typeface="宋体" panose="02010600030101010101" pitchFamily="2" charset="-122"/>
              </a:rPr>
              <a:t>3</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5</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7</a:t>
            </a:r>
            <a:r>
              <a:rPr lang="zh-CN" altLang="en-US" b="0" i="0" dirty="0">
                <a:solidFill>
                  <a:srgbClr val="000000"/>
                </a:solidFill>
                <a:effectLst/>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最终的 </a:t>
            </a:r>
            <a:r>
              <a:rPr lang="en-US" altLang="zh-CN" dirty="0">
                <a:latin typeface="宋体" panose="02010600030101010101" pitchFamily="2" charset="-122"/>
                <a:ea typeface="宋体" panose="02010600030101010101" pitchFamily="2" charset="-122"/>
              </a:rPr>
              <a:t>RMSE </a:t>
            </a:r>
            <a:r>
              <a:rPr lang="zh-CN" altLang="en-US" dirty="0">
                <a:latin typeface="宋体" panose="02010600030101010101" pitchFamily="2" charset="-122"/>
                <a:ea typeface="宋体" panose="02010600030101010101" pitchFamily="2" charset="-122"/>
              </a:rPr>
              <a:t>在不同设置下差距不大，但预测结果在小数点后多位确实存在差异。</a:t>
            </a:r>
          </a:p>
        </p:txBody>
      </p:sp>
      <p:pic>
        <p:nvPicPr>
          <p:cNvPr id="6" name="图片 5">
            <a:extLst>
              <a:ext uri="{FF2B5EF4-FFF2-40B4-BE49-F238E27FC236}">
                <a16:creationId xmlns:a16="http://schemas.microsoft.com/office/drawing/2014/main" id="{C90CAEEF-612E-7B5D-6F78-F653C8B2C1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5180" y="4640516"/>
            <a:ext cx="2216679" cy="1920362"/>
          </a:xfrm>
          <a:prstGeom prst="rect">
            <a:avLst/>
          </a:prstGeom>
        </p:spPr>
      </p:pic>
    </p:spTree>
    <p:extLst>
      <p:ext uri="{BB962C8B-B14F-4D97-AF65-F5344CB8AC3E}">
        <p14:creationId xmlns:p14="http://schemas.microsoft.com/office/powerpoint/2010/main" val="1607415517"/>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4468897" y="1269223"/>
            <a:ext cx="3267679" cy="1775637"/>
          </a:xfrm>
          <a:prstGeom prst="rect">
            <a:avLst/>
          </a:prstGeom>
          <a:solidFill>
            <a:schemeClr val="bg1"/>
          </a:solidFill>
          <a:ln>
            <a:noFill/>
          </a:ln>
          <a:effectLst>
            <a:outerShdw blurRad="63500" sx="102000" sy="102000" algn="ctr"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文本框 42"/>
          <p:cNvSpPr txBox="1"/>
          <p:nvPr/>
        </p:nvSpPr>
        <p:spPr>
          <a:xfrm>
            <a:off x="1510922" y="4536802"/>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sp>
        <p:nvSpPr>
          <p:cNvPr id="44" name="文本框 43"/>
          <p:cNvSpPr txBox="1"/>
          <p:nvPr/>
        </p:nvSpPr>
        <p:spPr>
          <a:xfrm>
            <a:off x="1034022" y="5485520"/>
            <a:ext cx="10039287" cy="1286891"/>
          </a:xfrm>
          <a:prstGeom prst="rect">
            <a:avLst/>
          </a:prstGeom>
          <a:noFill/>
        </p:spPr>
        <p:txBody>
          <a:bodyPr wrap="square" rtlCol="0">
            <a:spAutoFit/>
          </a:bodyPr>
          <a:lstStyle/>
          <a:p>
            <a:pPr indent="304800">
              <a:lnSpc>
                <a:spcPct val="150000"/>
              </a:lnSpc>
              <a:buNone/>
            </a:pPr>
            <a:r>
              <a:rPr lang="zh-CN" altLang="en-US" dirty="0">
                <a:latin typeface="宋体" panose="02010600030101010101" pitchFamily="2" charset="-122"/>
                <a:ea typeface="宋体" panose="02010600030101010101" pitchFamily="2" charset="-122"/>
              </a:rPr>
              <a:t>在进一步的实验中，我们引入了如</a:t>
            </a:r>
            <a:r>
              <a:rPr lang="en-US" altLang="zh-CN" dirty="0">
                <a:latin typeface="宋体" panose="02010600030101010101" pitchFamily="2" charset="-122"/>
                <a:ea typeface="宋体" panose="02010600030101010101" pitchFamily="2" charset="-122"/>
              </a:rPr>
              <a:t>Dropout</a:t>
            </a:r>
            <a:r>
              <a:rPr lang="zh-CN" altLang="en-US" dirty="0">
                <a:latin typeface="宋体" panose="02010600030101010101" pitchFamily="2" charset="-122"/>
                <a:ea typeface="宋体" panose="02010600030101010101" pitchFamily="2" charset="-122"/>
              </a:rPr>
              <a:t>层、更换损失函数、采用更大规模的预训练模型等参数调整。为提升结果的鲁棒性与可信度，对多轮实验结果进行排名统计，剔除其中的最大值与最小值，以减小偶然性误差，对剩余结果进行平均排名，从而得到更具代表性和稳定性的模型评估结果</a:t>
            </a:r>
            <a:r>
              <a:rPr lang="zh-CN" altLang="en-US" dirty="0"/>
              <a:t>。</a:t>
            </a:r>
            <a:endParaRPr lang="zh-CN" altLang="zh-CN" sz="1800" kern="100" dirty="0">
              <a:effectLst/>
              <a:latin typeface="Times New Roman" panose="02020603050405020304" pitchFamily="18" charset="0"/>
              <a:ea typeface="宋体" panose="02010600030101010101" pitchFamily="2" charset="-122"/>
            </a:endParaRPr>
          </a:p>
        </p:txBody>
      </p:sp>
      <p:sp>
        <p:nvSpPr>
          <p:cNvPr id="45" name="文本框 44"/>
          <p:cNvSpPr txBox="1"/>
          <p:nvPr/>
        </p:nvSpPr>
        <p:spPr>
          <a:xfrm>
            <a:off x="5380577" y="1372480"/>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sp>
        <p:nvSpPr>
          <p:cNvPr id="46" name="文本框 45"/>
          <p:cNvSpPr txBox="1"/>
          <p:nvPr/>
        </p:nvSpPr>
        <p:spPr>
          <a:xfrm>
            <a:off x="4645834" y="1779033"/>
            <a:ext cx="2913824" cy="1200329"/>
          </a:xfrm>
          <a:prstGeom prst="rect">
            <a:avLst/>
          </a:prstGeom>
          <a:noFill/>
        </p:spPr>
        <p:txBody>
          <a:bodyPr wrap="square" rtlCol="0">
            <a:spAutoFit/>
          </a:bodyPr>
          <a:lstStyle/>
          <a:p>
            <a:pPr algn="ctr">
              <a:lnSpc>
                <a:spcPct val="150000"/>
              </a:lnSpc>
            </a:pPr>
            <a:r>
              <a:rPr lang="zh-CN" altLang="en-US" sz="1600" dirty="0">
                <a:solidFill>
                  <a:schemeClr val="tx2">
                    <a:lumMod val="50000"/>
                  </a:schemeClr>
                </a:solidFill>
                <a:cs typeface="+mn-ea"/>
                <a:sym typeface="+mn-lt"/>
              </a:rPr>
              <a:t>点击此处输入您的文本内容，根据您的实际情况可以调整文字大小。</a:t>
            </a:r>
            <a:endParaRPr lang="zh-CN" altLang="en-US" sz="1600" dirty="0">
              <a:solidFill>
                <a:schemeClr val="tx2">
                  <a:lumMod val="75000"/>
                </a:schemeClr>
              </a:solidFill>
              <a:cs typeface="+mn-ea"/>
              <a:sym typeface="+mn-lt"/>
            </a:endParaRPr>
          </a:p>
        </p:txBody>
      </p:sp>
      <p:sp>
        <p:nvSpPr>
          <p:cNvPr id="47" name="文本框 46"/>
          <p:cNvSpPr txBox="1"/>
          <p:nvPr/>
        </p:nvSpPr>
        <p:spPr>
          <a:xfrm>
            <a:off x="9271498" y="4523916"/>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grpSp>
        <p:nvGrpSpPr>
          <p:cNvPr id="16" name="组合 15"/>
          <p:cNvGrpSpPr/>
          <p:nvPr/>
        </p:nvGrpSpPr>
        <p:grpSpPr>
          <a:xfrm rot="10800000">
            <a:off x="0" y="0"/>
            <a:ext cx="1413169" cy="1257302"/>
            <a:chOff x="4729271" y="2720371"/>
            <a:chExt cx="7462734" cy="4137630"/>
          </a:xfrm>
        </p:grpSpPr>
        <p:sp>
          <p:nvSpPr>
            <p:cNvPr id="17"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0" name="组合 19"/>
          <p:cNvGrpSpPr/>
          <p:nvPr/>
        </p:nvGrpSpPr>
        <p:grpSpPr>
          <a:xfrm rot="10800000" flipH="1" flipV="1">
            <a:off x="10778838" y="5600698"/>
            <a:ext cx="1413169" cy="1257302"/>
            <a:chOff x="4729271" y="2720371"/>
            <a:chExt cx="7462734" cy="4137630"/>
          </a:xfrm>
        </p:grpSpPr>
        <p:sp>
          <p:nvSpPr>
            <p:cNvPr id="21" name="矩形 21"/>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1"/>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nvGrpSpPr>
        <p:grpSpPr>
          <a:xfrm>
            <a:off x="1122122" y="329760"/>
            <a:ext cx="4803219" cy="525516"/>
            <a:chOff x="672787" y="101730"/>
            <a:chExt cx="4803219" cy="525516"/>
          </a:xfrm>
        </p:grpSpPr>
        <p:sp>
          <p:nvSpPr>
            <p:cNvPr id="3" name="文本框 2"/>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模型表现与分析</a:t>
              </a:r>
            </a:p>
          </p:txBody>
        </p:sp>
        <p:sp>
          <p:nvSpPr>
            <p:cNvPr id="4" name="文本框 3"/>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Model representation and analysis.</a:t>
              </a:r>
              <a:endParaRPr lang="zh-CN" altLang="en-US" sz="1100" dirty="0">
                <a:solidFill>
                  <a:srgbClr val="A6C1CC"/>
                </a:solidFill>
                <a:cs typeface="+mn-ea"/>
                <a:sym typeface="+mn-lt"/>
              </a:endParaRPr>
            </a:p>
          </p:txBody>
        </p:sp>
      </p:grpSp>
      <p:pic>
        <p:nvPicPr>
          <p:cNvPr id="9" name="图片 8">
            <a:extLst>
              <a:ext uri="{FF2B5EF4-FFF2-40B4-BE49-F238E27FC236}">
                <a16:creationId xmlns:a16="http://schemas.microsoft.com/office/drawing/2014/main" id="{5714A038-7EE7-DDE4-3E70-1DBC57F9579D}"/>
              </a:ext>
            </a:extLst>
          </p:cNvPr>
          <p:cNvPicPr>
            <a:picLocks noChangeAspect="1"/>
          </p:cNvPicPr>
          <p:nvPr/>
        </p:nvPicPr>
        <p:blipFill>
          <a:blip r:embed="rId3"/>
          <a:stretch>
            <a:fillRect/>
          </a:stretch>
        </p:blipFill>
        <p:spPr>
          <a:xfrm>
            <a:off x="826265" y="808981"/>
            <a:ext cx="9854813" cy="4646924"/>
          </a:xfrm>
          <a:prstGeom prst="rect">
            <a:avLst/>
          </a:prstGeom>
        </p:spPr>
      </p:pic>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8FB63-40AA-BCE6-0C69-341510897BE8}"/>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B8F84849-016D-DAA0-656E-767E7599EE76}"/>
              </a:ext>
            </a:extLst>
          </p:cNvPr>
          <p:cNvPicPr>
            <a:picLocks noChangeAspect="1"/>
          </p:cNvPicPr>
          <p:nvPr/>
        </p:nvPicPr>
        <p:blipFill>
          <a:blip r:embed="rId3" cstate="print">
            <a:extLst>
              <a:ext uri="{28A0092B-C50C-407E-A947-70E740481C1C}">
                <a14:useLocalDpi xmlns:a14="http://schemas.microsoft.com/office/drawing/2010/main" val="0"/>
              </a:ext>
            </a:extLst>
          </a:blip>
          <a:srcRect l="11168" r="11168"/>
          <a:stretch>
            <a:fillRect/>
          </a:stretch>
        </p:blipFill>
        <p:spPr>
          <a:xfrm>
            <a:off x="563524" y="1261842"/>
            <a:ext cx="3236234" cy="2778006"/>
          </a:xfrm>
          <a:prstGeom prst="rect">
            <a:avLst/>
          </a:prstGeom>
          <a:effectLst>
            <a:outerShdw blurRad="63500" sx="102000" sy="102000" algn="ctr" rotWithShape="0">
              <a:prstClr val="black">
                <a:alpha val="40000"/>
              </a:prstClr>
            </a:outerShdw>
          </a:effectLst>
        </p:spPr>
      </p:pic>
      <p:sp>
        <p:nvSpPr>
          <p:cNvPr id="31" name="矩形 30">
            <a:extLst>
              <a:ext uri="{FF2B5EF4-FFF2-40B4-BE49-F238E27FC236}">
                <a16:creationId xmlns:a16="http://schemas.microsoft.com/office/drawing/2014/main" id="{360D9D66-54D4-D163-6C8A-D16476DBC778}"/>
              </a:ext>
            </a:extLst>
          </p:cNvPr>
          <p:cNvSpPr/>
          <p:nvPr/>
        </p:nvSpPr>
        <p:spPr>
          <a:xfrm>
            <a:off x="674678" y="1375500"/>
            <a:ext cx="3236234" cy="2778006"/>
          </a:xfrm>
          <a:prstGeom prst="rect">
            <a:avLst/>
          </a:prstGeom>
          <a:noFill/>
          <a:ln w="31750">
            <a:solidFill>
              <a:srgbClr val="4E59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a:extLst>
              <a:ext uri="{FF2B5EF4-FFF2-40B4-BE49-F238E27FC236}">
                <a16:creationId xmlns:a16="http://schemas.microsoft.com/office/drawing/2014/main" id="{71C96B9B-5861-39DE-6CB0-062C0D106B91}"/>
              </a:ext>
            </a:extLst>
          </p:cNvPr>
          <p:cNvSpPr/>
          <p:nvPr/>
        </p:nvSpPr>
        <p:spPr>
          <a:xfrm>
            <a:off x="4468897" y="1269223"/>
            <a:ext cx="3267679" cy="1775637"/>
          </a:xfrm>
          <a:prstGeom prst="rect">
            <a:avLst/>
          </a:prstGeom>
          <a:solidFill>
            <a:schemeClr val="bg1"/>
          </a:solidFill>
          <a:ln>
            <a:noFill/>
          </a:ln>
          <a:effectLst>
            <a:outerShdw blurRad="63500" sx="102000" sy="102000" algn="ctr"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0" name="图片 29">
            <a:extLst>
              <a:ext uri="{FF2B5EF4-FFF2-40B4-BE49-F238E27FC236}">
                <a16:creationId xmlns:a16="http://schemas.microsoft.com/office/drawing/2014/main" id="{544C4C96-31CE-35A6-E69F-69A678EAABBC}"/>
              </a:ext>
            </a:extLst>
          </p:cNvPr>
          <p:cNvPicPr>
            <a:picLocks noChangeAspect="1"/>
          </p:cNvPicPr>
          <p:nvPr/>
        </p:nvPicPr>
        <p:blipFill>
          <a:blip r:embed="rId4" cstate="print">
            <a:extLst>
              <a:ext uri="{28A0092B-C50C-407E-A947-70E740481C1C}">
                <a14:useLocalDpi xmlns:a14="http://schemas.microsoft.com/office/drawing/2010/main" val="0"/>
              </a:ext>
            </a:extLst>
          </a:blip>
          <a:srcRect l="8545" r="8545"/>
          <a:stretch>
            <a:fillRect/>
          </a:stretch>
        </p:blipFill>
        <p:spPr>
          <a:xfrm>
            <a:off x="8294559" y="1253926"/>
            <a:ext cx="3236234" cy="2778006"/>
          </a:xfrm>
          <a:prstGeom prst="rect">
            <a:avLst/>
          </a:prstGeom>
          <a:effectLst>
            <a:outerShdw blurRad="63500" sx="102000" sy="102000" algn="ctr" rotWithShape="0">
              <a:prstClr val="black">
                <a:alpha val="40000"/>
              </a:prstClr>
            </a:outerShdw>
          </a:effectLst>
        </p:spPr>
      </p:pic>
      <p:sp>
        <p:nvSpPr>
          <p:cNvPr id="33" name="矩形 32">
            <a:extLst>
              <a:ext uri="{FF2B5EF4-FFF2-40B4-BE49-F238E27FC236}">
                <a16:creationId xmlns:a16="http://schemas.microsoft.com/office/drawing/2014/main" id="{35DFDD77-BCB0-D394-1BBF-6E6D67465CF2}"/>
              </a:ext>
            </a:extLst>
          </p:cNvPr>
          <p:cNvSpPr/>
          <p:nvPr/>
        </p:nvSpPr>
        <p:spPr>
          <a:xfrm>
            <a:off x="8405713" y="1367584"/>
            <a:ext cx="3236234" cy="2778006"/>
          </a:xfrm>
          <a:prstGeom prst="rect">
            <a:avLst/>
          </a:prstGeom>
          <a:noFill/>
          <a:ln w="31750">
            <a:solidFill>
              <a:srgbClr val="4E59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文本框 42">
            <a:extLst>
              <a:ext uri="{FF2B5EF4-FFF2-40B4-BE49-F238E27FC236}">
                <a16:creationId xmlns:a16="http://schemas.microsoft.com/office/drawing/2014/main" id="{4EEFE098-3EE4-4988-E079-24A39DBF1B02}"/>
              </a:ext>
            </a:extLst>
          </p:cNvPr>
          <p:cNvSpPr txBox="1"/>
          <p:nvPr/>
        </p:nvSpPr>
        <p:spPr>
          <a:xfrm>
            <a:off x="1510922" y="4536802"/>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sp>
        <p:nvSpPr>
          <p:cNvPr id="44" name="文本框 43">
            <a:extLst>
              <a:ext uri="{FF2B5EF4-FFF2-40B4-BE49-F238E27FC236}">
                <a16:creationId xmlns:a16="http://schemas.microsoft.com/office/drawing/2014/main" id="{BDFD2B9B-B0B2-CDD3-E316-26869D326074}"/>
              </a:ext>
            </a:extLst>
          </p:cNvPr>
          <p:cNvSpPr txBox="1"/>
          <p:nvPr/>
        </p:nvSpPr>
        <p:spPr>
          <a:xfrm>
            <a:off x="930034" y="5384739"/>
            <a:ext cx="10134000" cy="1289456"/>
          </a:xfrm>
          <a:prstGeom prst="rect">
            <a:avLst/>
          </a:prstGeom>
          <a:noFill/>
        </p:spPr>
        <p:txBody>
          <a:bodyPr wrap="square" rtlCol="0">
            <a:spAutoFit/>
          </a:bodyPr>
          <a:lstStyle/>
          <a:p>
            <a:pPr indent="304800">
              <a:lnSpc>
                <a:spcPct val="150000"/>
              </a:lnSpc>
              <a:buNone/>
            </a:pPr>
            <a:r>
              <a:rPr lang="zh-CN" altLang="en-US" b="0" i="0" dirty="0">
                <a:solidFill>
                  <a:srgbClr val="1B1B1B"/>
                </a:solidFill>
                <a:effectLst/>
                <a:latin typeface="宋体" panose="02010600030101010101" pitchFamily="2" charset="-122"/>
                <a:ea typeface="宋体" panose="02010600030101010101" pitchFamily="2" charset="-122"/>
              </a:rPr>
              <a:t>分析比较了不同残基上的注意力权重分布。残基注意力权重在 </a:t>
            </a:r>
            <a:r>
              <a:rPr lang="en-US" altLang="zh-CN" b="0" i="0" dirty="0">
                <a:solidFill>
                  <a:srgbClr val="1B1B1B"/>
                </a:solidFill>
                <a:effectLst/>
                <a:latin typeface="宋体" panose="02010600030101010101" pitchFamily="2" charset="-122"/>
                <a:ea typeface="宋体" panose="02010600030101010101" pitchFamily="2" charset="-122"/>
              </a:rPr>
              <a:t>20 </a:t>
            </a:r>
            <a:r>
              <a:rPr lang="zh-CN" altLang="en-US" b="0" i="0" dirty="0">
                <a:solidFill>
                  <a:srgbClr val="1B1B1B"/>
                </a:solidFill>
                <a:effectLst/>
                <a:latin typeface="宋体" panose="02010600030101010101" pitchFamily="2" charset="-122"/>
                <a:ea typeface="宋体" panose="02010600030101010101" pitchFamily="2" charset="-122"/>
              </a:rPr>
              <a:t>种必需氨基酸上的分布表明，蛋氨酸 （</a:t>
            </a:r>
            <a:r>
              <a:rPr lang="en-US" altLang="zh-CN" b="0" i="0" dirty="0">
                <a:solidFill>
                  <a:srgbClr val="1B1B1B"/>
                </a:solidFill>
                <a:effectLst/>
                <a:latin typeface="宋体" panose="02010600030101010101" pitchFamily="2" charset="-122"/>
                <a:ea typeface="宋体" panose="02010600030101010101" pitchFamily="2" charset="-122"/>
              </a:rPr>
              <a:t>M</a:t>
            </a:r>
            <a:r>
              <a:rPr lang="zh-CN" altLang="en-US" b="0" i="0" dirty="0">
                <a:solidFill>
                  <a:srgbClr val="1B1B1B"/>
                </a:solidFill>
                <a:effectLst/>
                <a:latin typeface="宋体" panose="02010600030101010101" pitchFamily="2" charset="-122"/>
                <a:ea typeface="宋体" panose="02010600030101010101" pitchFamily="2" charset="-122"/>
              </a:rPr>
              <a:t>）、丝氨酸（</a:t>
            </a:r>
            <a:r>
              <a:rPr lang="en-US" altLang="zh-CN" b="0" i="0" dirty="0">
                <a:solidFill>
                  <a:srgbClr val="1B1B1B"/>
                </a:solidFill>
                <a:effectLst/>
                <a:latin typeface="宋体" panose="02010600030101010101" pitchFamily="2" charset="-122"/>
                <a:ea typeface="宋体" panose="02010600030101010101" pitchFamily="2" charset="-122"/>
              </a:rPr>
              <a:t>S</a:t>
            </a:r>
            <a:r>
              <a:rPr lang="zh-CN" altLang="en-US" b="0" i="0" dirty="0">
                <a:solidFill>
                  <a:srgbClr val="1B1B1B"/>
                </a:solidFill>
                <a:effectLst/>
                <a:latin typeface="宋体" panose="02010600030101010101" pitchFamily="2" charset="-122"/>
                <a:ea typeface="宋体" panose="02010600030101010101" pitchFamily="2" charset="-122"/>
              </a:rPr>
              <a:t>）、丙氨酸 （</a:t>
            </a:r>
            <a:r>
              <a:rPr lang="en-US" altLang="zh-CN" b="0" i="0" dirty="0">
                <a:solidFill>
                  <a:srgbClr val="1B1B1B"/>
                </a:solidFill>
                <a:effectLst/>
                <a:latin typeface="宋体" panose="02010600030101010101" pitchFamily="2" charset="-122"/>
                <a:ea typeface="宋体" panose="02010600030101010101" pitchFamily="2" charset="-122"/>
              </a:rPr>
              <a:t>A</a:t>
            </a:r>
            <a:r>
              <a:rPr lang="zh-CN" altLang="en-US" b="0" i="0" dirty="0">
                <a:solidFill>
                  <a:srgbClr val="1B1B1B"/>
                </a:solidFill>
                <a:effectLst/>
                <a:latin typeface="宋体" panose="02010600030101010101" pitchFamily="2" charset="-122"/>
                <a:ea typeface="宋体" panose="02010600030101010101" pitchFamily="2" charset="-122"/>
              </a:rPr>
              <a:t>）、甘氨酸 （</a:t>
            </a:r>
            <a:r>
              <a:rPr lang="en-US" altLang="zh-CN" dirty="0">
                <a:solidFill>
                  <a:srgbClr val="1B1B1B"/>
                </a:solidFill>
                <a:latin typeface="宋体" panose="02010600030101010101" pitchFamily="2" charset="-122"/>
                <a:ea typeface="宋体" panose="02010600030101010101" pitchFamily="2" charset="-122"/>
              </a:rPr>
              <a:t>G</a:t>
            </a:r>
            <a:r>
              <a:rPr lang="zh-CN" altLang="en-US" b="0" i="0" dirty="0">
                <a:solidFill>
                  <a:srgbClr val="1B1B1B"/>
                </a:solidFill>
                <a:effectLst/>
                <a:latin typeface="宋体" panose="02010600030101010101" pitchFamily="2" charset="-122"/>
                <a:ea typeface="宋体" panose="02010600030101010101" pitchFamily="2" charset="-122"/>
              </a:rPr>
              <a:t>）、</a:t>
            </a:r>
            <a:r>
              <a:rPr lang="zh-CN" altLang="en-US" dirty="0">
                <a:solidFill>
                  <a:srgbClr val="1B1B1B"/>
                </a:solidFill>
                <a:latin typeface="宋体" panose="02010600030101010101" pitchFamily="2" charset="-122"/>
                <a:ea typeface="宋体" panose="02010600030101010101" pitchFamily="2" charset="-122"/>
              </a:rPr>
              <a:t>亮氨酸</a:t>
            </a:r>
            <a:r>
              <a:rPr lang="zh-CN" altLang="en-US" b="0" i="0" dirty="0">
                <a:solidFill>
                  <a:srgbClr val="1B1B1B"/>
                </a:solidFill>
                <a:effectLst/>
                <a:latin typeface="宋体" panose="02010600030101010101" pitchFamily="2" charset="-122"/>
                <a:ea typeface="宋体" panose="02010600030101010101" pitchFamily="2" charset="-122"/>
              </a:rPr>
              <a:t>（</a:t>
            </a:r>
            <a:r>
              <a:rPr lang="en-US" altLang="zh-CN" dirty="0">
                <a:solidFill>
                  <a:srgbClr val="1B1B1B"/>
                </a:solidFill>
                <a:latin typeface="宋体" panose="02010600030101010101" pitchFamily="2" charset="-122"/>
                <a:ea typeface="宋体" panose="02010600030101010101" pitchFamily="2" charset="-122"/>
              </a:rPr>
              <a:t>k</a:t>
            </a:r>
            <a:r>
              <a:rPr lang="zh-CN" altLang="en-US" b="0" i="0" dirty="0">
                <a:solidFill>
                  <a:srgbClr val="1B1B1B"/>
                </a:solidFill>
                <a:effectLst/>
                <a:latin typeface="宋体" panose="02010600030101010101" pitchFamily="2" charset="-122"/>
                <a:ea typeface="宋体" panose="02010600030101010101" pitchFamily="2" charset="-122"/>
              </a:rPr>
              <a:t>）、酪氨酸（</a:t>
            </a:r>
            <a:r>
              <a:rPr lang="en-US" altLang="zh-CN" dirty="0">
                <a:solidFill>
                  <a:srgbClr val="1B1B1B"/>
                </a:solidFill>
                <a:latin typeface="宋体" panose="02010600030101010101" pitchFamily="2" charset="-122"/>
                <a:ea typeface="宋体" panose="02010600030101010101" pitchFamily="2" charset="-122"/>
              </a:rPr>
              <a:t>Y</a:t>
            </a:r>
            <a:r>
              <a:rPr lang="zh-CN" altLang="en-US" b="0" i="0" dirty="0">
                <a:solidFill>
                  <a:srgbClr val="1B1B1B"/>
                </a:solidFill>
                <a:effectLst/>
                <a:latin typeface="宋体" panose="02010600030101010101" pitchFamily="2" charset="-122"/>
                <a:ea typeface="宋体" panose="02010600030101010101" pitchFamily="2" charset="-122"/>
              </a:rPr>
              <a:t>） 的权重显著高于其他氨基酸。在这 </a:t>
            </a:r>
            <a:r>
              <a:rPr lang="en-US" altLang="zh-CN" b="0" i="0" dirty="0">
                <a:solidFill>
                  <a:srgbClr val="1B1B1B"/>
                </a:solidFill>
                <a:effectLst/>
                <a:latin typeface="宋体" panose="02010600030101010101" pitchFamily="2" charset="-122"/>
                <a:ea typeface="宋体" panose="02010600030101010101" pitchFamily="2" charset="-122"/>
              </a:rPr>
              <a:t>6 </a:t>
            </a:r>
            <a:r>
              <a:rPr lang="zh-CN" altLang="en-US" b="0" i="0" dirty="0">
                <a:solidFill>
                  <a:srgbClr val="1B1B1B"/>
                </a:solidFill>
                <a:effectLst/>
                <a:latin typeface="宋体" panose="02010600030101010101" pitchFamily="2" charset="-122"/>
                <a:ea typeface="宋体" panose="02010600030101010101" pitchFamily="2" charset="-122"/>
              </a:rPr>
              <a:t>个氨基酸中，</a:t>
            </a:r>
            <a:r>
              <a:rPr lang="en-US" altLang="zh-CN" dirty="0">
                <a:solidFill>
                  <a:srgbClr val="1B1B1B"/>
                </a:solidFill>
                <a:latin typeface="宋体" panose="02010600030101010101" pitchFamily="2" charset="-122"/>
                <a:ea typeface="宋体" panose="02010600030101010101" pitchFamily="2" charset="-122"/>
              </a:rPr>
              <a:t>S</a:t>
            </a:r>
            <a:r>
              <a:rPr lang="zh-CN" altLang="en-US" dirty="0">
                <a:solidFill>
                  <a:srgbClr val="1B1B1B"/>
                </a:solidFill>
                <a:latin typeface="宋体" panose="02010600030101010101" pitchFamily="2" charset="-122"/>
                <a:ea typeface="宋体" panose="02010600030101010101" pitchFamily="2" charset="-122"/>
              </a:rPr>
              <a:t>、</a:t>
            </a:r>
            <a:r>
              <a:rPr lang="en-US" altLang="zh-CN" dirty="0">
                <a:solidFill>
                  <a:srgbClr val="1B1B1B"/>
                </a:solidFill>
                <a:latin typeface="宋体" panose="02010600030101010101" pitchFamily="2" charset="-122"/>
                <a:ea typeface="宋体" panose="02010600030101010101" pitchFamily="2" charset="-122"/>
              </a:rPr>
              <a:t>G</a:t>
            </a:r>
            <a:r>
              <a:rPr lang="zh-CN" altLang="en-US" dirty="0">
                <a:solidFill>
                  <a:srgbClr val="1B1B1B"/>
                </a:solidFill>
                <a:latin typeface="宋体" panose="02010600030101010101" pitchFamily="2" charset="-122"/>
                <a:ea typeface="宋体" panose="02010600030101010101" pitchFamily="2" charset="-122"/>
              </a:rPr>
              <a:t>、</a:t>
            </a:r>
            <a:r>
              <a:rPr lang="en-US" altLang="zh-CN" dirty="0">
                <a:solidFill>
                  <a:srgbClr val="1B1B1B"/>
                </a:solidFill>
                <a:latin typeface="宋体" panose="02010600030101010101" pitchFamily="2" charset="-122"/>
                <a:ea typeface="宋体" panose="02010600030101010101" pitchFamily="2" charset="-122"/>
              </a:rPr>
              <a:t>Y</a:t>
            </a:r>
            <a:r>
              <a:rPr lang="zh-CN" altLang="en-US" dirty="0">
                <a:solidFill>
                  <a:srgbClr val="1B1B1B"/>
                </a:solidFill>
                <a:latin typeface="宋体" panose="02010600030101010101" pitchFamily="2" charset="-122"/>
                <a:ea typeface="宋体" panose="02010600030101010101" pitchFamily="2" charset="-122"/>
              </a:rPr>
              <a:t>这</a:t>
            </a:r>
            <a:r>
              <a:rPr lang="en-US" altLang="zh-CN" b="0" i="0" dirty="0">
                <a:solidFill>
                  <a:srgbClr val="1B1B1B"/>
                </a:solidFill>
                <a:effectLst/>
                <a:latin typeface="宋体" panose="02010600030101010101" pitchFamily="2" charset="-122"/>
                <a:ea typeface="宋体" panose="02010600030101010101" pitchFamily="2" charset="-122"/>
              </a:rPr>
              <a:t>3</a:t>
            </a:r>
            <a:r>
              <a:rPr lang="zh-CN" altLang="en-US" b="0" i="0" dirty="0">
                <a:solidFill>
                  <a:srgbClr val="1B1B1B"/>
                </a:solidFill>
                <a:effectLst/>
                <a:latin typeface="宋体" panose="02010600030101010101" pitchFamily="2" charset="-122"/>
                <a:ea typeface="宋体" panose="02010600030101010101" pitchFamily="2" charset="-122"/>
              </a:rPr>
              <a:t>个支链氨基酸与</a:t>
            </a:r>
            <a:r>
              <a:rPr lang="en-US" altLang="zh-CN" b="0" i="0" dirty="0">
                <a:solidFill>
                  <a:srgbClr val="1B1B1B"/>
                </a:solidFill>
                <a:effectLst/>
                <a:latin typeface="宋体" panose="02010600030101010101" pitchFamily="2" charset="-122"/>
                <a:ea typeface="宋体" panose="02010600030101010101" pitchFamily="2" charset="-122"/>
              </a:rPr>
              <a:t>GFP</a:t>
            </a:r>
            <a:r>
              <a:rPr lang="zh-CN" altLang="en-US" b="0" i="0" dirty="0">
                <a:solidFill>
                  <a:srgbClr val="1B1B1B"/>
                </a:solidFill>
                <a:effectLst/>
                <a:latin typeface="宋体" panose="02010600030101010101" pitchFamily="2" charset="-122"/>
                <a:ea typeface="宋体" panose="02010600030101010101" pitchFamily="2" charset="-122"/>
              </a:rPr>
              <a:t>的亮度有关。</a:t>
            </a:r>
            <a:endParaRPr lang="zh-CN" altLang="zh-CN" sz="1800" kern="100" dirty="0">
              <a:effectLst/>
              <a:latin typeface="宋体" panose="02010600030101010101" pitchFamily="2" charset="-122"/>
              <a:ea typeface="宋体" panose="02010600030101010101" pitchFamily="2" charset="-122"/>
            </a:endParaRPr>
          </a:p>
        </p:txBody>
      </p:sp>
      <p:sp>
        <p:nvSpPr>
          <p:cNvPr id="45" name="文本框 44">
            <a:extLst>
              <a:ext uri="{FF2B5EF4-FFF2-40B4-BE49-F238E27FC236}">
                <a16:creationId xmlns:a16="http://schemas.microsoft.com/office/drawing/2014/main" id="{37768630-E303-EF47-4AFE-3AA950693886}"/>
              </a:ext>
            </a:extLst>
          </p:cNvPr>
          <p:cNvSpPr txBox="1"/>
          <p:nvPr/>
        </p:nvSpPr>
        <p:spPr>
          <a:xfrm>
            <a:off x="5380577" y="1372480"/>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sp>
        <p:nvSpPr>
          <p:cNvPr id="47" name="文本框 46">
            <a:extLst>
              <a:ext uri="{FF2B5EF4-FFF2-40B4-BE49-F238E27FC236}">
                <a16:creationId xmlns:a16="http://schemas.microsoft.com/office/drawing/2014/main" id="{180F0392-B3A3-DFE9-BCDE-2C4BFA16E8CD}"/>
              </a:ext>
            </a:extLst>
          </p:cNvPr>
          <p:cNvSpPr txBox="1"/>
          <p:nvPr/>
        </p:nvSpPr>
        <p:spPr>
          <a:xfrm>
            <a:off x="9271498" y="4523916"/>
            <a:ext cx="1444336" cy="400110"/>
          </a:xfrm>
          <a:prstGeom prst="rect">
            <a:avLst/>
          </a:prstGeom>
          <a:noFill/>
        </p:spPr>
        <p:txBody>
          <a:bodyPr wrap="square" rtlCol="0">
            <a:spAutoFit/>
          </a:bodyPr>
          <a:lstStyle/>
          <a:p>
            <a:pPr algn="ctr"/>
            <a:r>
              <a:rPr lang="zh-CN" altLang="en-US" sz="2000" b="1" dirty="0">
                <a:solidFill>
                  <a:schemeClr val="tx2">
                    <a:lumMod val="75000"/>
                  </a:schemeClr>
                </a:solidFill>
                <a:cs typeface="+mn-ea"/>
                <a:sym typeface="+mn-lt"/>
              </a:rPr>
              <a:t>输入标题</a:t>
            </a:r>
          </a:p>
        </p:txBody>
      </p:sp>
      <p:grpSp>
        <p:nvGrpSpPr>
          <p:cNvPr id="16" name="组合 15">
            <a:extLst>
              <a:ext uri="{FF2B5EF4-FFF2-40B4-BE49-F238E27FC236}">
                <a16:creationId xmlns:a16="http://schemas.microsoft.com/office/drawing/2014/main" id="{A085267D-AC70-0DF1-0527-E3C07F097A53}"/>
              </a:ext>
            </a:extLst>
          </p:cNvPr>
          <p:cNvGrpSpPr/>
          <p:nvPr/>
        </p:nvGrpSpPr>
        <p:grpSpPr>
          <a:xfrm rot="10800000">
            <a:off x="0" y="0"/>
            <a:ext cx="1413169" cy="1257302"/>
            <a:chOff x="4729271" y="2720371"/>
            <a:chExt cx="7462734" cy="4137630"/>
          </a:xfrm>
        </p:grpSpPr>
        <p:sp>
          <p:nvSpPr>
            <p:cNvPr id="17" name="矩形 21">
              <a:extLst>
                <a:ext uri="{FF2B5EF4-FFF2-40B4-BE49-F238E27FC236}">
                  <a16:creationId xmlns:a16="http://schemas.microsoft.com/office/drawing/2014/main" id="{C9F1AFEF-5CB2-44FE-0450-12DAE68F0438}"/>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矩形 21">
              <a:extLst>
                <a:ext uri="{FF2B5EF4-FFF2-40B4-BE49-F238E27FC236}">
                  <a16:creationId xmlns:a16="http://schemas.microsoft.com/office/drawing/2014/main" id="{C7AAF975-D3F7-70B0-F721-0959CF5325D9}"/>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a:extLst>
                <a:ext uri="{FF2B5EF4-FFF2-40B4-BE49-F238E27FC236}">
                  <a16:creationId xmlns:a16="http://schemas.microsoft.com/office/drawing/2014/main" id="{C42893EB-BBD8-7B4E-C441-9BA1D089E5AA}"/>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0" name="组合 19">
            <a:extLst>
              <a:ext uri="{FF2B5EF4-FFF2-40B4-BE49-F238E27FC236}">
                <a16:creationId xmlns:a16="http://schemas.microsoft.com/office/drawing/2014/main" id="{C5544DA7-FBCA-42D7-C722-F0D899B64E28}"/>
              </a:ext>
            </a:extLst>
          </p:cNvPr>
          <p:cNvGrpSpPr/>
          <p:nvPr/>
        </p:nvGrpSpPr>
        <p:grpSpPr>
          <a:xfrm rot="10800000" flipH="1" flipV="1">
            <a:off x="10778838" y="5600698"/>
            <a:ext cx="1413169" cy="1257302"/>
            <a:chOff x="4729271" y="2720371"/>
            <a:chExt cx="7462734" cy="4137630"/>
          </a:xfrm>
        </p:grpSpPr>
        <p:sp>
          <p:nvSpPr>
            <p:cNvPr id="21" name="矩形 21">
              <a:extLst>
                <a:ext uri="{FF2B5EF4-FFF2-40B4-BE49-F238E27FC236}">
                  <a16:creationId xmlns:a16="http://schemas.microsoft.com/office/drawing/2014/main" id="{043E2297-7BFE-C2D3-AC3F-2C36810A6DFB}"/>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a:extLst>
                <a:ext uri="{FF2B5EF4-FFF2-40B4-BE49-F238E27FC236}">
                  <a16:creationId xmlns:a16="http://schemas.microsoft.com/office/drawing/2014/main" id="{A436A84D-5A4C-6AAA-8AF9-D57B84421B67}"/>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1">
              <a:extLst>
                <a:ext uri="{FF2B5EF4-FFF2-40B4-BE49-F238E27FC236}">
                  <a16:creationId xmlns:a16="http://schemas.microsoft.com/office/drawing/2014/main" id="{20B93832-6763-5C86-65E5-911AA33ACD39}"/>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a:extLst>
              <a:ext uri="{FF2B5EF4-FFF2-40B4-BE49-F238E27FC236}">
                <a16:creationId xmlns:a16="http://schemas.microsoft.com/office/drawing/2014/main" id="{0EC74132-5ACB-E1FB-45E7-56EAC28F4646}"/>
              </a:ext>
            </a:extLst>
          </p:cNvPr>
          <p:cNvGrpSpPr/>
          <p:nvPr/>
        </p:nvGrpSpPr>
        <p:grpSpPr>
          <a:xfrm>
            <a:off x="1122122" y="329760"/>
            <a:ext cx="4803219" cy="525516"/>
            <a:chOff x="672787" y="101730"/>
            <a:chExt cx="4803219" cy="525516"/>
          </a:xfrm>
        </p:grpSpPr>
        <p:sp>
          <p:nvSpPr>
            <p:cNvPr id="3" name="文本框 2">
              <a:extLst>
                <a:ext uri="{FF2B5EF4-FFF2-40B4-BE49-F238E27FC236}">
                  <a16:creationId xmlns:a16="http://schemas.microsoft.com/office/drawing/2014/main" id="{FC388C51-0386-1244-E3C3-BBDE9BACF449}"/>
                </a:ext>
              </a:extLst>
            </p:cNvPr>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模型表现与分析</a:t>
              </a:r>
            </a:p>
          </p:txBody>
        </p:sp>
        <p:sp>
          <p:nvSpPr>
            <p:cNvPr id="4" name="文本框 3">
              <a:extLst>
                <a:ext uri="{FF2B5EF4-FFF2-40B4-BE49-F238E27FC236}">
                  <a16:creationId xmlns:a16="http://schemas.microsoft.com/office/drawing/2014/main" id="{F0787398-D9ED-C92D-7E40-724A4E23ADAE}"/>
                </a:ext>
              </a:extLst>
            </p:cNvPr>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Model representation and analysis</a:t>
              </a:r>
              <a:endParaRPr lang="zh-CN" altLang="en-US" sz="1100" dirty="0">
                <a:solidFill>
                  <a:srgbClr val="A6C1CC"/>
                </a:solidFill>
                <a:cs typeface="+mn-ea"/>
                <a:sym typeface="+mn-lt"/>
              </a:endParaRPr>
            </a:p>
          </p:txBody>
        </p:sp>
      </p:grpSp>
      <p:pic>
        <p:nvPicPr>
          <p:cNvPr id="12" name="图片 11">
            <a:extLst>
              <a:ext uri="{FF2B5EF4-FFF2-40B4-BE49-F238E27FC236}">
                <a16:creationId xmlns:a16="http://schemas.microsoft.com/office/drawing/2014/main" id="{384A0247-656A-C8B9-A5A1-C0B9BF9F7D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439" y="908687"/>
            <a:ext cx="7508828" cy="4356555"/>
          </a:xfrm>
          <a:prstGeom prst="rect">
            <a:avLst/>
          </a:prstGeom>
        </p:spPr>
      </p:pic>
      <p:pic>
        <p:nvPicPr>
          <p:cNvPr id="6" name="图片 5">
            <a:extLst>
              <a:ext uri="{FF2B5EF4-FFF2-40B4-BE49-F238E27FC236}">
                <a16:creationId xmlns:a16="http://schemas.microsoft.com/office/drawing/2014/main" id="{673D8084-4AB2-0F5B-34FF-6137D6FA94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46267" y="901457"/>
            <a:ext cx="4570840" cy="4189936"/>
          </a:xfrm>
          <a:prstGeom prst="rect">
            <a:avLst/>
          </a:prstGeom>
        </p:spPr>
      </p:pic>
    </p:spTree>
    <p:extLst>
      <p:ext uri="{BB962C8B-B14F-4D97-AF65-F5344CB8AC3E}">
        <p14:creationId xmlns:p14="http://schemas.microsoft.com/office/powerpoint/2010/main" val="191602998"/>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
          <p:cNvSpPr/>
          <p:nvPr/>
        </p:nvSpPr>
        <p:spPr>
          <a:xfrm flipH="1">
            <a:off x="5953638" y="0"/>
            <a:ext cx="6238362" cy="5961618"/>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4311849" y="5757029"/>
            <a:ext cx="409180" cy="409180"/>
          </a:xfrm>
          <a:prstGeom prst="ellipse">
            <a:avLst/>
          </a:prstGeom>
          <a:noFill/>
          <a:ln w="31750">
            <a:solidFill>
              <a:srgbClr val="9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8512638" y="1209922"/>
            <a:ext cx="2956560" cy="295656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21"/>
          <p:cNvSpPr/>
          <p:nvPr/>
        </p:nvSpPr>
        <p:spPr>
          <a:xfrm flipV="1">
            <a:off x="5557520" y="-121920"/>
            <a:ext cx="6736080" cy="561515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p:cNvSpPr txBox="1"/>
          <p:nvPr/>
        </p:nvSpPr>
        <p:spPr>
          <a:xfrm>
            <a:off x="8688594" y="1364763"/>
            <a:ext cx="2604648" cy="2646878"/>
          </a:xfrm>
          <a:prstGeom prst="rect">
            <a:avLst/>
          </a:prstGeom>
          <a:noFill/>
        </p:spPr>
        <p:txBody>
          <a:bodyPr wrap="square" rtlCol="0">
            <a:spAutoFit/>
          </a:bodyPr>
          <a:lstStyle/>
          <a:p>
            <a:pPr algn="ctr"/>
            <a:r>
              <a:rPr lang="en-US" altLang="zh-CN" sz="16600" b="1" spc="600" dirty="0">
                <a:solidFill>
                  <a:schemeClr val="bg1"/>
                </a:solidFill>
                <a:cs typeface="+mn-ea"/>
                <a:sym typeface="+mn-lt"/>
              </a:rPr>
              <a:t>4</a:t>
            </a:r>
            <a:endParaRPr lang="zh-CN" altLang="en-US" sz="16600" b="1" spc="600" dirty="0">
              <a:solidFill>
                <a:schemeClr val="bg1"/>
              </a:solidFill>
              <a:cs typeface="+mn-ea"/>
              <a:sym typeface="+mn-lt"/>
            </a:endParaRPr>
          </a:p>
        </p:txBody>
      </p:sp>
      <p:sp>
        <p:nvSpPr>
          <p:cNvPr id="8" name="文本框 7"/>
          <p:cNvSpPr txBox="1"/>
          <p:nvPr/>
        </p:nvSpPr>
        <p:spPr>
          <a:xfrm>
            <a:off x="1060581" y="2766564"/>
            <a:ext cx="6736080" cy="1200329"/>
          </a:xfrm>
          <a:prstGeom prst="rect">
            <a:avLst/>
          </a:prstGeom>
          <a:noFill/>
        </p:spPr>
        <p:txBody>
          <a:bodyPr wrap="square" rtlCol="0">
            <a:spAutoFit/>
          </a:bodyPr>
          <a:lstStyle>
            <a:defPPr>
              <a:defRPr lang="zh-CN"/>
            </a:defPPr>
            <a:lvl1pPr algn="r">
              <a:defRPr sz="7200" b="1" spc="600">
                <a:solidFill>
                  <a:srgbClr val="4E5976"/>
                </a:solidFill>
                <a:latin typeface="Arial"/>
                <a:ea typeface="微软雅黑"/>
              </a:defRPr>
            </a:lvl1pPr>
          </a:lstStyle>
          <a:p>
            <a:r>
              <a:rPr lang="zh-CN" altLang="en-US" dirty="0">
                <a:latin typeface="+mn-lt"/>
                <a:ea typeface="+mn-ea"/>
                <a:cs typeface="+mn-ea"/>
                <a:sym typeface="+mn-lt"/>
              </a:rPr>
              <a:t>总结</a:t>
            </a:r>
          </a:p>
        </p:txBody>
      </p:sp>
      <p:sp>
        <p:nvSpPr>
          <p:cNvPr id="9" name="文本框 8"/>
          <p:cNvSpPr txBox="1"/>
          <p:nvPr/>
        </p:nvSpPr>
        <p:spPr>
          <a:xfrm>
            <a:off x="671929" y="4156120"/>
            <a:ext cx="7134564" cy="338554"/>
          </a:xfrm>
          <a:prstGeom prst="rect">
            <a:avLst/>
          </a:prstGeom>
          <a:noFill/>
        </p:spPr>
        <p:txBody>
          <a:bodyPr wrap="square" rtlCol="0">
            <a:spAutoFit/>
          </a:bodyPr>
          <a:lstStyle/>
          <a:p>
            <a:pPr algn="r"/>
            <a:r>
              <a:rPr lang="en-US" altLang="zh-CN" sz="1600" dirty="0">
                <a:solidFill>
                  <a:srgbClr val="A6C1CC"/>
                </a:solidFill>
                <a:cs typeface="+mn-ea"/>
                <a:sym typeface="+mn-lt"/>
              </a:rPr>
              <a:t>summary</a:t>
            </a:r>
            <a:endParaRPr lang="zh-CN" altLang="en-US" sz="1600" dirty="0">
              <a:solidFill>
                <a:srgbClr val="A6C1CC"/>
              </a:solidFill>
              <a:cs typeface="+mn-ea"/>
              <a:sym typeface="+mn-lt"/>
            </a:endParaRPr>
          </a:p>
        </p:txBody>
      </p:sp>
      <p:sp>
        <p:nvSpPr>
          <p:cNvPr id="10" name="文本框 9"/>
          <p:cNvSpPr txBox="1"/>
          <p:nvPr/>
        </p:nvSpPr>
        <p:spPr>
          <a:xfrm>
            <a:off x="4311850" y="1940692"/>
            <a:ext cx="3382884" cy="707886"/>
          </a:xfrm>
          <a:prstGeom prst="rect">
            <a:avLst/>
          </a:prstGeom>
          <a:noFill/>
          <a:ln>
            <a:noFill/>
          </a:ln>
        </p:spPr>
        <p:txBody>
          <a:bodyPr wrap="square" rtlCol="0">
            <a:spAutoFit/>
          </a:bodyPr>
          <a:lstStyle/>
          <a:p>
            <a:pPr algn="r"/>
            <a:r>
              <a:rPr lang="en-US" altLang="zh-CN" sz="4000" dirty="0">
                <a:solidFill>
                  <a:srgbClr val="A6C1CC"/>
                </a:solidFill>
                <a:cs typeface="+mn-ea"/>
                <a:sym typeface="+mn-lt"/>
              </a:rPr>
              <a:t>PART FOUR</a:t>
            </a:r>
            <a:endParaRPr lang="zh-CN" altLang="en-US" sz="4000" dirty="0">
              <a:solidFill>
                <a:srgbClr val="A6C1CC"/>
              </a:solidFill>
              <a:cs typeface="+mn-ea"/>
              <a:sym typeface="+mn-lt"/>
            </a:endParaRPr>
          </a:p>
        </p:txBody>
      </p:sp>
      <p:sp>
        <p:nvSpPr>
          <p:cNvPr id="14" name="椭圆 13"/>
          <p:cNvSpPr/>
          <p:nvPr/>
        </p:nvSpPr>
        <p:spPr>
          <a:xfrm>
            <a:off x="7997714" y="5961619"/>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10716627" y="648351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4330818" y="838680"/>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1625600" y="350894"/>
            <a:ext cx="686280" cy="6862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237318" y="985323"/>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1665304" y="715448"/>
            <a:ext cx="411078" cy="411078"/>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9921927" y="4403649"/>
            <a:ext cx="371242" cy="371242"/>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6" name="直接连接符 25"/>
          <p:cNvCxnSpPr/>
          <p:nvPr/>
        </p:nvCxnSpPr>
        <p:spPr>
          <a:xfrm>
            <a:off x="1625600" y="4003922"/>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6" name="矩形 21"/>
          <p:cNvSpPr/>
          <p:nvPr/>
        </p:nvSpPr>
        <p:spPr>
          <a:xfrm flipH="1">
            <a:off x="-69411" y="5152103"/>
            <a:ext cx="9006244" cy="170589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21"/>
          <p:cNvSpPr/>
          <p:nvPr/>
        </p:nvSpPr>
        <p:spPr>
          <a:xfrm flipH="1">
            <a:off x="-91440" y="4589270"/>
            <a:ext cx="6688885" cy="2407647"/>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13B43-8518-CEF9-703C-C2C41A0487D7}"/>
            </a:ext>
          </a:extLst>
        </p:cNvPr>
        <p:cNvGrpSpPr/>
        <p:nvPr/>
      </p:nvGrpSpPr>
      <p:grpSpPr>
        <a:xfrm>
          <a:off x="0" y="0"/>
          <a:ext cx="0" cy="0"/>
          <a:chOff x="0" y="0"/>
          <a:chExt cx="0" cy="0"/>
        </a:xfrm>
      </p:grpSpPr>
      <p:sp>
        <p:nvSpPr>
          <p:cNvPr id="30" name="箭头: 上 29">
            <a:extLst>
              <a:ext uri="{FF2B5EF4-FFF2-40B4-BE49-F238E27FC236}">
                <a16:creationId xmlns:a16="http://schemas.microsoft.com/office/drawing/2014/main" id="{8BA9BC17-9C9F-C873-CD1B-BC2194C627A5}"/>
              </a:ext>
            </a:extLst>
          </p:cNvPr>
          <p:cNvSpPr/>
          <p:nvPr/>
        </p:nvSpPr>
        <p:spPr>
          <a:xfrm>
            <a:off x="159427" y="906606"/>
            <a:ext cx="1003198" cy="5951386"/>
          </a:xfrm>
          <a:prstGeom prst="upArrow">
            <a:avLst>
              <a:gd name="adj1" fmla="val 50000"/>
              <a:gd name="adj2" fmla="val 153115"/>
            </a:avLst>
          </a:prstGeom>
          <a:solidFill>
            <a:srgbClr val="4E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箭头: 上 30">
            <a:extLst>
              <a:ext uri="{FF2B5EF4-FFF2-40B4-BE49-F238E27FC236}">
                <a16:creationId xmlns:a16="http://schemas.microsoft.com/office/drawing/2014/main" id="{29094386-FC54-EDAD-6716-914D730440C5}"/>
              </a:ext>
            </a:extLst>
          </p:cNvPr>
          <p:cNvSpPr/>
          <p:nvPr/>
        </p:nvSpPr>
        <p:spPr>
          <a:xfrm>
            <a:off x="660642" y="2814614"/>
            <a:ext cx="1003198" cy="4043386"/>
          </a:xfrm>
          <a:prstGeom prst="upArrow">
            <a:avLst>
              <a:gd name="adj1" fmla="val 50000"/>
              <a:gd name="adj2" fmla="val 153115"/>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箭头: 上 31">
            <a:extLst>
              <a:ext uri="{FF2B5EF4-FFF2-40B4-BE49-F238E27FC236}">
                <a16:creationId xmlns:a16="http://schemas.microsoft.com/office/drawing/2014/main" id="{A1925B9B-D867-A8B5-5779-8590D3523A4B}"/>
              </a:ext>
            </a:extLst>
          </p:cNvPr>
          <p:cNvSpPr/>
          <p:nvPr/>
        </p:nvSpPr>
        <p:spPr>
          <a:xfrm>
            <a:off x="1153297" y="4722614"/>
            <a:ext cx="1003198" cy="2135378"/>
          </a:xfrm>
          <a:prstGeom prst="upArrow">
            <a:avLst>
              <a:gd name="adj1" fmla="val 50000"/>
              <a:gd name="adj2" fmla="val 153115"/>
            </a:avLst>
          </a:pr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33">
            <a:extLst>
              <a:ext uri="{FF2B5EF4-FFF2-40B4-BE49-F238E27FC236}">
                <a16:creationId xmlns:a16="http://schemas.microsoft.com/office/drawing/2014/main" id="{296E77D0-2E97-2826-A09F-C83D838D1EDD}"/>
              </a:ext>
            </a:extLst>
          </p:cNvPr>
          <p:cNvSpPr txBox="1"/>
          <p:nvPr/>
        </p:nvSpPr>
        <p:spPr>
          <a:xfrm>
            <a:off x="2566465" y="4336768"/>
            <a:ext cx="9306108" cy="2148024"/>
          </a:xfrm>
          <a:prstGeom prst="rect">
            <a:avLst/>
          </a:prstGeom>
          <a:noFill/>
        </p:spPr>
        <p:txBody>
          <a:bodyPr wrap="square" rtlCol="0">
            <a:spAutoFit/>
          </a:bodyPr>
          <a:lstStyle/>
          <a:p>
            <a:pPr indent="457200" algn="l">
              <a:lnSpc>
                <a:spcPct val="150000"/>
              </a:lnSpc>
              <a:spcAft>
                <a:spcPts val="225"/>
              </a:spcAft>
              <a:buNone/>
            </a:pP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挑战</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457200" algn="l">
              <a:lnSpc>
                <a:spcPct val="150000"/>
              </a:lnSpc>
              <a:spcAft>
                <a:spcPts val="225"/>
              </a:spcAft>
              <a:buNone/>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模型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仍然存在一些局限性，阻碍了预测准确性的提高。首先，它在高</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亮度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范围内的</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准确度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相对较低，主要原因</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在于数据集的不平衡。一种可能的解决方案是通过</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分层划分学习，</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尤其是对于高</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亮度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范围</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GFP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。另一个缺点是</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模型的精度较低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训练中采用的是</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32</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位的浮点数</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采用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64</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位的浮点数和增加模型的层数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可能会解决这一缺点</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b="0" i="0" dirty="0">
              <a:effectLst/>
              <a:latin typeface="Google Sans Text"/>
            </a:endParaRPr>
          </a:p>
        </p:txBody>
      </p:sp>
      <p:sp>
        <p:nvSpPr>
          <p:cNvPr id="36" name="文本框 35">
            <a:extLst>
              <a:ext uri="{FF2B5EF4-FFF2-40B4-BE49-F238E27FC236}">
                <a16:creationId xmlns:a16="http://schemas.microsoft.com/office/drawing/2014/main" id="{842952B5-7E9C-3ACB-0F45-E88A938FA638}"/>
              </a:ext>
            </a:extLst>
          </p:cNvPr>
          <p:cNvSpPr txBox="1"/>
          <p:nvPr/>
        </p:nvSpPr>
        <p:spPr>
          <a:xfrm>
            <a:off x="2566465" y="1094764"/>
            <a:ext cx="8827407" cy="3363741"/>
          </a:xfrm>
          <a:prstGeom prst="rect">
            <a:avLst/>
          </a:prstGeom>
          <a:noFill/>
        </p:spPr>
        <p:txBody>
          <a:bodyPr wrap="square" rtlCol="0">
            <a:spAutoFit/>
          </a:bodyPr>
          <a:lstStyle/>
          <a:p>
            <a:pPr indent="304800">
              <a:lnSpc>
                <a:spcPct val="150000"/>
              </a:lnSpc>
            </a:pPr>
            <a:r>
              <a:rPr lang="zh-CN" altLang="en-US" sz="1800" b="1" kern="100" dirty="0">
                <a:effectLst/>
                <a:latin typeface="Times New Roman" panose="02020603050405020304" pitchFamily="18" charset="0"/>
                <a:ea typeface="宋体" panose="02010600030101010101" pitchFamily="2" charset="-122"/>
              </a:rPr>
              <a:t>总结：</a:t>
            </a:r>
            <a:endParaRPr lang="en-US" altLang="zh-CN" sz="1800" b="1" kern="100" dirty="0">
              <a:effectLst/>
              <a:latin typeface="Times New Roman" panose="02020603050405020304" pitchFamily="18" charset="0"/>
              <a:ea typeface="宋体" panose="02010600030101010101" pitchFamily="2" charset="-122"/>
            </a:endParaRPr>
          </a:p>
          <a:p>
            <a:pPr indent="304800">
              <a:lnSpc>
                <a:spcPct val="150000"/>
              </a:lnSpc>
            </a:pPr>
            <a:r>
              <a:rPr lang="zh-CN" altLang="en-US" sz="1800" kern="100" dirty="0">
                <a:effectLst/>
                <a:latin typeface="Times New Roman" panose="02020603050405020304" pitchFamily="18" charset="0"/>
                <a:ea typeface="宋体" panose="02010600030101010101" pitchFamily="2" charset="-122"/>
              </a:rPr>
              <a:t>模型</a:t>
            </a:r>
            <a:r>
              <a:rPr lang="zh-CN" altLang="zh-CN" sz="1800" kern="100" dirty="0">
                <a:effectLst/>
                <a:latin typeface="Times New Roman" panose="02020603050405020304" pitchFamily="18" charset="0"/>
                <a:ea typeface="宋体" panose="02010600030101010101" pitchFamily="2" charset="-122"/>
              </a:rPr>
              <a:t>的三个主要</a:t>
            </a:r>
            <a:r>
              <a:rPr lang="zh-CN" altLang="en-US" sz="1800" kern="100" dirty="0">
                <a:effectLst/>
                <a:latin typeface="Times New Roman" panose="02020603050405020304" pitchFamily="18" charset="0"/>
                <a:ea typeface="宋体" panose="02010600030101010101" pitchFamily="2" charset="-122"/>
              </a:rPr>
              <a:t>板块</a:t>
            </a:r>
            <a:r>
              <a:rPr lang="zh-CN" altLang="zh-CN" sz="1800" kern="100" dirty="0">
                <a:effectLst/>
                <a:latin typeface="Times New Roman" panose="02020603050405020304" pitchFamily="18" charset="0"/>
                <a:ea typeface="宋体" panose="02010600030101010101" pitchFamily="2" charset="-122"/>
              </a:rPr>
              <a:t>是蛋白质序列的</a:t>
            </a:r>
            <a:r>
              <a:rPr lang="en-US" altLang="zh-CN" sz="1800" kern="100" dirty="0">
                <a:effectLst/>
                <a:latin typeface="Times New Roman" panose="02020603050405020304" pitchFamily="18" charset="0"/>
                <a:ea typeface="宋体" panose="02010600030101010101" pitchFamily="2" charset="-122"/>
              </a:rPr>
              <a:t> PLM </a:t>
            </a:r>
            <a:r>
              <a:rPr lang="zh-CN" altLang="zh-CN" sz="1800" kern="100" dirty="0">
                <a:effectLst/>
                <a:latin typeface="Times New Roman" panose="02020603050405020304" pitchFamily="18" charset="0"/>
                <a:ea typeface="宋体" panose="02010600030101010101" pitchFamily="2" charset="-122"/>
              </a:rPr>
              <a:t>嵌入、多头注意力和残差密集神经网络。与传统的蛋白质序列特征提取方法相比，如独热编码或基于</a:t>
            </a:r>
            <a:r>
              <a:rPr lang="en-US" altLang="zh-CN" sz="1800" kern="100" dirty="0">
                <a:effectLst/>
                <a:latin typeface="Times New Roman" panose="02020603050405020304" pitchFamily="18" charset="0"/>
                <a:ea typeface="宋体" panose="02010600030101010101" pitchFamily="2" charset="-122"/>
              </a:rPr>
              <a:t> k-</a:t>
            </a:r>
            <a:r>
              <a:rPr lang="en-US" altLang="zh-CN" sz="1800" kern="100" dirty="0" err="1">
                <a:effectLst/>
                <a:latin typeface="Times New Roman" panose="02020603050405020304" pitchFamily="18" charset="0"/>
                <a:ea typeface="宋体" panose="02010600030101010101" pitchFamily="2" charset="-122"/>
              </a:rPr>
              <a:t>mer</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的字典嵌入，蛋白质序列的</a:t>
            </a:r>
            <a:r>
              <a:rPr lang="en-US" altLang="zh-CN" sz="1800" kern="100" dirty="0">
                <a:effectLst/>
                <a:latin typeface="Times New Roman" panose="02020603050405020304" pitchFamily="18" charset="0"/>
                <a:ea typeface="宋体" panose="02010600030101010101" pitchFamily="2" charset="-122"/>
              </a:rPr>
              <a:t> PLM </a:t>
            </a:r>
            <a:r>
              <a:rPr lang="zh-CN" altLang="zh-CN" sz="1800" kern="100" dirty="0">
                <a:effectLst/>
                <a:latin typeface="Times New Roman" panose="02020603050405020304" pitchFamily="18" charset="0"/>
                <a:ea typeface="宋体" panose="02010600030101010101" pitchFamily="2" charset="-122"/>
              </a:rPr>
              <a:t>嵌入具有能够学习隐藏在序列中的结构和功能信息的优势。与单头注意力相比，多头注意力可以通过同时关注蛋白质序列的不同部分来提高预测准确性，此外，</a:t>
            </a:r>
            <a:r>
              <a:rPr lang="zh-CN" altLang="en-US" sz="1800" kern="100" dirty="0">
                <a:effectLst/>
                <a:latin typeface="Times New Roman" panose="02020603050405020304" pitchFamily="18" charset="0"/>
                <a:ea typeface="宋体" panose="02010600030101010101" pitchFamily="2" charset="-122"/>
              </a:rPr>
              <a:t>模型</a:t>
            </a:r>
            <a:r>
              <a:rPr lang="zh-CN" altLang="zh-CN" sz="1800" kern="100" dirty="0">
                <a:effectLst/>
                <a:latin typeface="Times New Roman" panose="02020603050405020304" pitchFamily="18" charset="0"/>
                <a:ea typeface="宋体" panose="02010600030101010101" pitchFamily="2" charset="-122"/>
              </a:rPr>
              <a:t>的注意力权重有效地捕获了重要的序列信息，对</a:t>
            </a:r>
            <a:r>
              <a:rPr lang="zh-CN" altLang="en-US" sz="1800" kern="100" dirty="0">
                <a:effectLst/>
                <a:latin typeface="Times New Roman" panose="02020603050405020304" pitchFamily="18" charset="0"/>
                <a:ea typeface="宋体" panose="02010600030101010101" pitchFamily="2" charset="-122"/>
              </a:rPr>
              <a:t>蛋白荧光强度</a:t>
            </a:r>
            <a:r>
              <a:rPr lang="zh-CN" altLang="zh-CN" sz="1800" kern="100" dirty="0">
                <a:effectLst/>
                <a:latin typeface="Times New Roman" panose="02020603050405020304" pitchFamily="18" charset="0"/>
                <a:ea typeface="宋体" panose="02010600030101010101" pitchFamily="2" charset="-122"/>
              </a:rPr>
              <a:t>具有高特征重要性的支链氨基酸。此外，使用残基密集神经网络而不是多个线性层</a:t>
            </a:r>
            <a:r>
              <a:rPr lang="zh-CN" altLang="en-US" kern="100" dirty="0">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有效减少</a:t>
            </a:r>
            <a:r>
              <a:rPr lang="zh-CN" altLang="en-US" sz="1800" kern="100" dirty="0">
                <a:effectLst/>
                <a:latin typeface="Times New Roman" panose="02020603050405020304" pitchFamily="18" charset="0"/>
                <a:ea typeface="宋体" panose="02010600030101010101" pitchFamily="2" charset="-122"/>
              </a:rPr>
              <a:t>了</a:t>
            </a:r>
            <a:r>
              <a:rPr lang="zh-CN" altLang="zh-CN" sz="1800" kern="100" dirty="0">
                <a:effectLst/>
                <a:latin typeface="Times New Roman" panose="02020603050405020304" pitchFamily="18" charset="0"/>
                <a:ea typeface="宋体" panose="02010600030101010101" pitchFamily="2" charset="-122"/>
              </a:rPr>
              <a:t>梯度消失和爆炸问题。</a:t>
            </a:r>
          </a:p>
        </p:txBody>
      </p:sp>
      <p:grpSp>
        <p:nvGrpSpPr>
          <p:cNvPr id="16" name="组合 15">
            <a:extLst>
              <a:ext uri="{FF2B5EF4-FFF2-40B4-BE49-F238E27FC236}">
                <a16:creationId xmlns:a16="http://schemas.microsoft.com/office/drawing/2014/main" id="{AC045330-627C-2061-D553-CFE2EE68FA66}"/>
              </a:ext>
            </a:extLst>
          </p:cNvPr>
          <p:cNvGrpSpPr/>
          <p:nvPr/>
        </p:nvGrpSpPr>
        <p:grpSpPr>
          <a:xfrm rot="10800000">
            <a:off x="0" y="0"/>
            <a:ext cx="1413169" cy="1257302"/>
            <a:chOff x="4729271" y="2720371"/>
            <a:chExt cx="7462734" cy="4137630"/>
          </a:xfrm>
        </p:grpSpPr>
        <p:sp>
          <p:nvSpPr>
            <p:cNvPr id="17" name="矩形 21">
              <a:extLst>
                <a:ext uri="{FF2B5EF4-FFF2-40B4-BE49-F238E27FC236}">
                  <a16:creationId xmlns:a16="http://schemas.microsoft.com/office/drawing/2014/main" id="{CCDAC942-2AA7-3B4A-2B0B-8F2008958FA3}"/>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矩形 21">
              <a:extLst>
                <a:ext uri="{FF2B5EF4-FFF2-40B4-BE49-F238E27FC236}">
                  <a16:creationId xmlns:a16="http://schemas.microsoft.com/office/drawing/2014/main" id="{418E4B46-7A09-55C8-ABBD-A2CAD81A3F4B}"/>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a:extLst>
                <a:ext uri="{FF2B5EF4-FFF2-40B4-BE49-F238E27FC236}">
                  <a16:creationId xmlns:a16="http://schemas.microsoft.com/office/drawing/2014/main" id="{79FF2666-EBFF-8D77-A936-EDD99F44BC0B}"/>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0" name="组合 19">
            <a:extLst>
              <a:ext uri="{FF2B5EF4-FFF2-40B4-BE49-F238E27FC236}">
                <a16:creationId xmlns:a16="http://schemas.microsoft.com/office/drawing/2014/main" id="{4B44B304-F1FA-0F39-3E7E-C388D5672ECA}"/>
              </a:ext>
            </a:extLst>
          </p:cNvPr>
          <p:cNvGrpSpPr/>
          <p:nvPr/>
        </p:nvGrpSpPr>
        <p:grpSpPr>
          <a:xfrm rot="10800000" flipH="1" flipV="1">
            <a:off x="10778838" y="5600698"/>
            <a:ext cx="1413169" cy="1257302"/>
            <a:chOff x="4729271" y="2720371"/>
            <a:chExt cx="7462734" cy="4137630"/>
          </a:xfrm>
        </p:grpSpPr>
        <p:sp>
          <p:nvSpPr>
            <p:cNvPr id="21" name="矩形 21">
              <a:extLst>
                <a:ext uri="{FF2B5EF4-FFF2-40B4-BE49-F238E27FC236}">
                  <a16:creationId xmlns:a16="http://schemas.microsoft.com/office/drawing/2014/main" id="{CE84C63E-5132-5CCF-CD62-219CD430C82D}"/>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a:extLst>
                <a:ext uri="{FF2B5EF4-FFF2-40B4-BE49-F238E27FC236}">
                  <a16:creationId xmlns:a16="http://schemas.microsoft.com/office/drawing/2014/main" id="{1C19FC9E-17FB-3BA7-6BDE-6D0E70B1C577}"/>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1">
              <a:extLst>
                <a:ext uri="{FF2B5EF4-FFF2-40B4-BE49-F238E27FC236}">
                  <a16:creationId xmlns:a16="http://schemas.microsoft.com/office/drawing/2014/main" id="{877BC9BF-BA39-51C6-C0E4-9DAAC5CC3B28}"/>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a:extLst>
              <a:ext uri="{FF2B5EF4-FFF2-40B4-BE49-F238E27FC236}">
                <a16:creationId xmlns:a16="http://schemas.microsoft.com/office/drawing/2014/main" id="{B5AAA0FB-9ADB-436C-2DF1-2E3CDBD44723}"/>
              </a:ext>
            </a:extLst>
          </p:cNvPr>
          <p:cNvGrpSpPr/>
          <p:nvPr/>
        </p:nvGrpSpPr>
        <p:grpSpPr>
          <a:xfrm>
            <a:off x="1087365" y="373208"/>
            <a:ext cx="4803219" cy="525516"/>
            <a:chOff x="672787" y="101730"/>
            <a:chExt cx="4803219" cy="525516"/>
          </a:xfrm>
        </p:grpSpPr>
        <p:sp>
          <p:nvSpPr>
            <p:cNvPr id="3" name="文本框 2">
              <a:extLst>
                <a:ext uri="{FF2B5EF4-FFF2-40B4-BE49-F238E27FC236}">
                  <a16:creationId xmlns:a16="http://schemas.microsoft.com/office/drawing/2014/main" id="{9ECA0797-B3AF-349D-B6FD-8CD2587CA1CE}"/>
                </a:ext>
              </a:extLst>
            </p:cNvPr>
            <p:cNvSpPr txBox="1"/>
            <p:nvPr/>
          </p:nvSpPr>
          <p:spPr>
            <a:xfrm>
              <a:off x="672788" y="101730"/>
              <a:ext cx="3304310" cy="338554"/>
            </a:xfrm>
            <a:prstGeom prst="rect">
              <a:avLst/>
            </a:prstGeom>
            <a:noFill/>
          </p:spPr>
          <p:txBody>
            <a:bodyPr wrap="square" rtlCol="0">
              <a:spAutoFit/>
            </a:bodyPr>
            <a:lstStyle/>
            <a:p>
              <a:r>
                <a:rPr lang="zh-CN" altLang="en-US" sz="1600" dirty="0">
                  <a:solidFill>
                    <a:srgbClr val="4E5976"/>
                  </a:solidFill>
                  <a:cs typeface="+mn-ea"/>
                  <a:sym typeface="+mn-lt"/>
                </a:rPr>
                <a:t>总结</a:t>
              </a:r>
            </a:p>
          </p:txBody>
        </p:sp>
        <p:sp>
          <p:nvSpPr>
            <p:cNvPr id="4" name="文本框 3">
              <a:extLst>
                <a:ext uri="{FF2B5EF4-FFF2-40B4-BE49-F238E27FC236}">
                  <a16:creationId xmlns:a16="http://schemas.microsoft.com/office/drawing/2014/main" id="{8EC59586-F585-3656-E440-EBDF54F860E0}"/>
                </a:ext>
              </a:extLst>
            </p:cNvPr>
            <p:cNvSpPr txBox="1"/>
            <p:nvPr/>
          </p:nvSpPr>
          <p:spPr>
            <a:xfrm>
              <a:off x="672787" y="365636"/>
              <a:ext cx="4803219" cy="261610"/>
            </a:xfrm>
            <a:prstGeom prst="rect">
              <a:avLst/>
            </a:prstGeom>
            <a:noFill/>
          </p:spPr>
          <p:txBody>
            <a:bodyPr wrap="square" rtlCol="0">
              <a:spAutoFit/>
            </a:bodyPr>
            <a:lstStyle/>
            <a:p>
              <a:r>
                <a:rPr lang="en-US" altLang="zh-CN" sz="1100" dirty="0">
                  <a:solidFill>
                    <a:srgbClr val="A6C1CC"/>
                  </a:solidFill>
                  <a:cs typeface="+mn-ea"/>
                  <a:sym typeface="+mn-lt"/>
                </a:rPr>
                <a:t>summary.</a:t>
              </a:r>
              <a:endParaRPr lang="zh-CN" altLang="en-US" sz="1100" dirty="0">
                <a:solidFill>
                  <a:srgbClr val="A6C1CC"/>
                </a:solidFill>
                <a:cs typeface="+mn-ea"/>
                <a:sym typeface="+mn-lt"/>
              </a:endParaRPr>
            </a:p>
          </p:txBody>
        </p:sp>
      </p:grpSp>
    </p:spTree>
    <p:extLst>
      <p:ext uri="{BB962C8B-B14F-4D97-AF65-F5344CB8AC3E}">
        <p14:creationId xmlns:p14="http://schemas.microsoft.com/office/powerpoint/2010/main" val="3496053399"/>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91D50-9E6B-BC06-F5E3-1FED3E8D09EC}"/>
            </a:ext>
          </a:extLst>
        </p:cNvPr>
        <p:cNvGrpSpPr/>
        <p:nvPr/>
      </p:nvGrpSpPr>
      <p:grpSpPr>
        <a:xfrm>
          <a:off x="0" y="0"/>
          <a:ext cx="0" cy="0"/>
          <a:chOff x="0" y="0"/>
          <a:chExt cx="0" cy="0"/>
        </a:xfrm>
      </p:grpSpPr>
      <p:sp>
        <p:nvSpPr>
          <p:cNvPr id="34" name="文本框 33">
            <a:extLst>
              <a:ext uri="{FF2B5EF4-FFF2-40B4-BE49-F238E27FC236}">
                <a16:creationId xmlns:a16="http://schemas.microsoft.com/office/drawing/2014/main" id="{861F72F7-5C2E-0A90-D0D7-0D4B4602C408}"/>
              </a:ext>
            </a:extLst>
          </p:cNvPr>
          <p:cNvSpPr txBox="1"/>
          <p:nvPr/>
        </p:nvSpPr>
        <p:spPr>
          <a:xfrm>
            <a:off x="1252744" y="454343"/>
            <a:ext cx="9306108" cy="6247864"/>
          </a:xfrm>
          <a:prstGeom prst="rect">
            <a:avLst/>
          </a:prstGeom>
          <a:noFill/>
        </p:spPr>
        <p:txBody>
          <a:bodyPr wrap="square" rtlCol="0">
            <a:spAutoFit/>
          </a:bodyPr>
          <a:lstStyle/>
          <a:p>
            <a:pPr algn="l">
              <a:lnSpc>
                <a:spcPts val="1700"/>
              </a:lnSpc>
              <a:spcAft>
                <a:spcPts val="225"/>
              </a:spcAft>
              <a:buNone/>
            </a:pPr>
            <a:r>
              <a:rPr lang="zh-CN" altLang="en-US" b="1" i="0" dirty="0">
                <a:solidFill>
                  <a:srgbClr val="1A1C1E"/>
                </a:solidFill>
                <a:effectLst/>
                <a:latin typeface="Google Sans Text"/>
              </a:rPr>
              <a:t>参考文献：</a:t>
            </a:r>
            <a:endParaRPr lang="en-US" altLang="zh-CN" b="1" i="0" dirty="0">
              <a:solidFill>
                <a:srgbClr val="1A1C1E"/>
              </a:solidFill>
              <a:effectLst/>
              <a:latin typeface="Google Sans Text"/>
            </a:endParaRP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1. Arroyo JI, Díez B, </a:t>
            </a:r>
            <a:r>
              <a:rPr lang="en-US" altLang="zh-CN" b="0" i="0" dirty="0" err="1">
                <a:solidFill>
                  <a:srgbClr val="1A1C1E"/>
                </a:solidFill>
                <a:effectLst/>
                <a:latin typeface="Times New Roman" panose="02020603050405020304" pitchFamily="18" charset="0"/>
                <a:cs typeface="Times New Roman" panose="02020603050405020304" pitchFamily="18" charset="0"/>
              </a:rPr>
              <a:t>Kempes</a:t>
            </a:r>
            <a:r>
              <a:rPr lang="en-US" altLang="zh-CN" b="0" i="0" dirty="0">
                <a:solidFill>
                  <a:srgbClr val="1A1C1E"/>
                </a:solidFill>
                <a:effectLst/>
                <a:latin typeface="Times New Roman" panose="02020603050405020304" pitchFamily="18" charset="0"/>
                <a:cs typeface="Times New Roman" panose="02020603050405020304" pitchFamily="18" charset="0"/>
              </a:rPr>
              <a:t> CP. et al. A general theory for temperature dependence in biology. Proc Natl </a:t>
            </a:r>
            <a:r>
              <a:rPr lang="en-US" altLang="zh-CN" b="0" i="0" dirty="0" err="1">
                <a:solidFill>
                  <a:srgbClr val="1A1C1E"/>
                </a:solidFill>
                <a:effectLst/>
                <a:latin typeface="Times New Roman" panose="02020603050405020304" pitchFamily="18" charset="0"/>
                <a:cs typeface="Times New Roman" panose="02020603050405020304" pitchFamily="18" charset="0"/>
              </a:rPr>
              <a:t>Acad</a:t>
            </a:r>
            <a:r>
              <a:rPr lang="en-US" altLang="zh-CN" b="0" i="0" dirty="0">
                <a:solidFill>
                  <a:srgbClr val="1A1C1E"/>
                </a:solidFill>
                <a:effectLst/>
                <a:latin typeface="Times New Roman" panose="02020603050405020304" pitchFamily="18" charset="0"/>
                <a:cs typeface="Times New Roman" panose="02020603050405020304" pitchFamily="18" charset="0"/>
              </a:rPr>
              <a:t> Sci USA 2022;119: e2119872119. https://doi.org/10.1073/pnas.2119872119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2. Schomburg I, Jeske L, Ulbrich M. et al. The BRENDA enzyme information system—from a database to an expert system. J </a:t>
            </a:r>
            <a:r>
              <a:rPr lang="en-US" altLang="zh-CN" b="0" i="0" dirty="0" err="1">
                <a:solidFill>
                  <a:srgbClr val="1A1C1E"/>
                </a:solidFill>
                <a:effectLst/>
                <a:latin typeface="Times New Roman" panose="02020603050405020304" pitchFamily="18" charset="0"/>
                <a:cs typeface="Times New Roman" panose="02020603050405020304" pitchFamily="18" charset="0"/>
              </a:rPr>
              <a:t>Biotechnol</a:t>
            </a:r>
            <a:r>
              <a:rPr lang="en-US" altLang="zh-CN" b="0" i="0" dirty="0">
                <a:solidFill>
                  <a:srgbClr val="1A1C1E"/>
                </a:solidFill>
                <a:effectLst/>
                <a:latin typeface="Times New Roman" panose="02020603050405020304" pitchFamily="18" charset="0"/>
                <a:cs typeface="Times New Roman" panose="02020603050405020304" pitchFamily="18" charset="0"/>
              </a:rPr>
              <a:t> 2017;261:194–206. https://doi.org/10.1016/j. jbiotec.2017.04.020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3. Li G, Rabe KS, Nielsen J. et al. Machine learning applied to predicting microorganism growth temperatures and enzyme catalytic optima. ACS Synth Biol 2019;8:1411–20. https://doi.org/10.1021/ acssynbio.9b00099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4. Nilsson A, Nielsen J, Palsson BO. Metabolic models of protein allocation call for the </a:t>
            </a:r>
            <a:r>
              <a:rPr lang="en-US" altLang="zh-CN" b="0" i="0" dirty="0" err="1">
                <a:solidFill>
                  <a:srgbClr val="1A1C1E"/>
                </a:solidFill>
                <a:effectLst/>
                <a:latin typeface="Times New Roman" panose="02020603050405020304" pitchFamily="18" charset="0"/>
                <a:cs typeface="Times New Roman" panose="02020603050405020304" pitchFamily="18" charset="0"/>
              </a:rPr>
              <a:t>kinetome</a:t>
            </a:r>
            <a:r>
              <a:rPr lang="en-US" altLang="zh-CN" b="0" i="0" dirty="0">
                <a:solidFill>
                  <a:srgbClr val="1A1C1E"/>
                </a:solidFill>
                <a:effectLst/>
                <a:latin typeface="Times New Roman" panose="02020603050405020304" pitchFamily="18" charset="0"/>
                <a:cs typeface="Times New Roman" panose="02020603050405020304" pitchFamily="18" charset="0"/>
              </a:rPr>
              <a:t>. Cell Syst 2017;5:538–41. https:// doi.org/10.1016/j.cels.2017.11.013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5. Zhang G, Ge H. Prediction of xylanase optimal temperature by support vector regression. Electron J </a:t>
            </a:r>
            <a:r>
              <a:rPr lang="en-US" altLang="zh-CN" b="0" i="0" dirty="0" err="1">
                <a:solidFill>
                  <a:srgbClr val="1A1C1E"/>
                </a:solidFill>
                <a:effectLst/>
                <a:latin typeface="Times New Roman" panose="02020603050405020304" pitchFamily="18" charset="0"/>
                <a:cs typeface="Times New Roman" panose="02020603050405020304" pitchFamily="18" charset="0"/>
              </a:rPr>
              <a:t>Biotechnol</a:t>
            </a:r>
            <a:r>
              <a:rPr lang="en-US" altLang="zh-CN" b="0" i="0" dirty="0">
                <a:solidFill>
                  <a:srgbClr val="1A1C1E"/>
                </a:solidFill>
                <a:effectLst/>
                <a:latin typeface="Times New Roman" panose="02020603050405020304" pitchFamily="18" charset="0"/>
                <a:cs typeface="Times New Roman" panose="02020603050405020304" pitchFamily="18" charset="0"/>
              </a:rPr>
              <a:t> 2011;15:7–7. https://doi.org/10.2225/vol15-issue1-fulltext-8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6. Yan S-M, Wu G. Prediction of optimal pH and temperature of cellulases using neural network. Protein </a:t>
            </a:r>
            <a:r>
              <a:rPr lang="en-US" altLang="zh-CN" b="0" i="0" dirty="0" err="1">
                <a:solidFill>
                  <a:srgbClr val="1A1C1E"/>
                </a:solidFill>
                <a:effectLst/>
                <a:latin typeface="Times New Roman" panose="02020603050405020304" pitchFamily="18" charset="0"/>
                <a:cs typeface="Times New Roman" panose="02020603050405020304" pitchFamily="18" charset="0"/>
              </a:rPr>
              <a:t>Pept</a:t>
            </a:r>
            <a:r>
              <a:rPr lang="en-US" altLang="zh-CN" b="0" i="0" dirty="0">
                <a:solidFill>
                  <a:srgbClr val="1A1C1E"/>
                </a:solidFill>
                <a:effectLst/>
                <a:latin typeface="Times New Roman" panose="02020603050405020304" pitchFamily="18" charset="0"/>
                <a:cs typeface="Times New Roman" panose="02020603050405020304" pitchFamily="18" charset="0"/>
              </a:rPr>
              <a:t> Lett 2012;19:29–39. https://doi.org/10.2174/092986612798472794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7. Chu Y, Yi Z, Zeng R. et al. Predicting the optimum temperature of </a:t>
            </a:r>
            <a:r>
              <a:rPr lang="el-GR" altLang="zh-CN" b="0" i="0" dirty="0">
                <a:solidFill>
                  <a:srgbClr val="1A1C1E"/>
                </a:solidFill>
                <a:effectLst/>
                <a:latin typeface="Times New Roman" panose="02020603050405020304" pitchFamily="18" charset="0"/>
                <a:cs typeface="Times New Roman" panose="02020603050405020304" pitchFamily="18" charset="0"/>
              </a:rPr>
              <a:t>β-</a:t>
            </a:r>
            <a:r>
              <a:rPr lang="en-US" altLang="zh-CN" b="0" i="0" dirty="0" err="1">
                <a:solidFill>
                  <a:srgbClr val="1A1C1E"/>
                </a:solidFill>
                <a:effectLst/>
                <a:latin typeface="Times New Roman" panose="02020603050405020304" pitchFamily="18" charset="0"/>
                <a:cs typeface="Times New Roman" panose="02020603050405020304" pitchFamily="18" charset="0"/>
              </a:rPr>
              <a:t>agarase</a:t>
            </a:r>
            <a:r>
              <a:rPr lang="en-US" altLang="zh-CN" b="0" i="0" dirty="0">
                <a:solidFill>
                  <a:srgbClr val="1A1C1E"/>
                </a:solidFill>
                <a:effectLst/>
                <a:latin typeface="Times New Roman" panose="02020603050405020304" pitchFamily="18" charset="0"/>
                <a:cs typeface="Times New Roman" panose="02020603050405020304" pitchFamily="18" charset="0"/>
              </a:rPr>
              <a:t> based on the relative solvent accessibility of amino acids. J Mol </a:t>
            </a:r>
            <a:r>
              <a:rPr lang="en-US" altLang="zh-CN" b="0" i="0" dirty="0" err="1">
                <a:solidFill>
                  <a:srgbClr val="1A1C1E"/>
                </a:solidFill>
                <a:effectLst/>
                <a:latin typeface="Times New Roman" panose="02020603050405020304" pitchFamily="18" charset="0"/>
                <a:cs typeface="Times New Roman" panose="02020603050405020304" pitchFamily="18" charset="0"/>
              </a:rPr>
              <a:t>Catal</a:t>
            </a:r>
            <a:r>
              <a:rPr lang="en-US" altLang="zh-CN" b="0" i="0" dirty="0">
                <a:solidFill>
                  <a:srgbClr val="1A1C1E"/>
                </a:solidFill>
                <a:effectLst/>
                <a:latin typeface="Times New Roman" panose="02020603050405020304" pitchFamily="18" charset="0"/>
                <a:cs typeface="Times New Roman" panose="02020603050405020304" pitchFamily="18" charset="0"/>
              </a:rPr>
              <a:t> B: </a:t>
            </a:r>
            <a:r>
              <a:rPr lang="en-US" altLang="zh-CN" b="0" i="0" dirty="0" err="1">
                <a:solidFill>
                  <a:srgbClr val="1A1C1E"/>
                </a:solidFill>
                <a:effectLst/>
                <a:latin typeface="Times New Roman" panose="02020603050405020304" pitchFamily="18" charset="0"/>
                <a:cs typeface="Times New Roman" panose="02020603050405020304" pitchFamily="18" charset="0"/>
              </a:rPr>
              <a:t>Enzym</a:t>
            </a:r>
            <a:r>
              <a:rPr lang="en-US" altLang="zh-CN" b="0" i="0" dirty="0">
                <a:solidFill>
                  <a:srgbClr val="1A1C1E"/>
                </a:solidFill>
                <a:effectLst/>
                <a:latin typeface="Times New Roman" panose="02020603050405020304" pitchFamily="18" charset="0"/>
                <a:cs typeface="Times New Roman" panose="02020603050405020304" pitchFamily="18" charset="0"/>
              </a:rPr>
              <a:t> 2016;129:47–53. https://doi. org/10.1016/j.molcatb.2016.04.005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8. Yan S, Wu G. Predictors for predicting temperature optimum in beta-glucosidases. J Biomed Sci Eng 2019;12:414–26. https://doi. org/10.4236/jbise.2019.128033 </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9. Gado JE, Beckham GT, Payne CM. Improving enzyme optimum temperature prediction with resampling strategies and ensemble learning. J Chem Inf Model 2020;60:4098–107. https://doi. org/10.1021/acs.jcim.0c00489</a:t>
            </a:r>
          </a:p>
          <a:p>
            <a:pPr algn="l">
              <a:lnSpc>
                <a:spcPts val="1700"/>
              </a:lnSpc>
              <a:spcAft>
                <a:spcPts val="225"/>
              </a:spcAft>
              <a:buNone/>
            </a:pPr>
            <a:r>
              <a:rPr lang="en-US" altLang="zh-CN" b="0" i="0" dirty="0">
                <a:solidFill>
                  <a:srgbClr val="1A1C1E"/>
                </a:solidFill>
                <a:effectLst/>
                <a:latin typeface="Times New Roman" panose="02020603050405020304" pitchFamily="18" charset="0"/>
                <a:cs typeface="Times New Roman" panose="02020603050405020304" pitchFamily="18" charset="0"/>
              </a:rPr>
              <a:t>10. Qiu S, Hu B, Zhao J, Xu W, Yang A. Seq2Topt: a sequence-based deep learning predictor of enzyme optimal temperature. Brief </a:t>
            </a:r>
            <a:r>
              <a:rPr lang="en-US" altLang="zh-CN" b="0" i="0" dirty="0" err="1">
                <a:solidFill>
                  <a:srgbClr val="1A1C1E"/>
                </a:solidFill>
                <a:effectLst/>
                <a:latin typeface="Times New Roman" panose="02020603050405020304" pitchFamily="18" charset="0"/>
                <a:cs typeface="Times New Roman" panose="02020603050405020304" pitchFamily="18" charset="0"/>
              </a:rPr>
              <a:t>Bioinform</a:t>
            </a:r>
            <a:r>
              <a:rPr lang="en-US" altLang="zh-CN" b="0" i="0" dirty="0">
                <a:solidFill>
                  <a:srgbClr val="1A1C1E"/>
                </a:solidFill>
                <a:effectLst/>
                <a:latin typeface="Times New Roman" panose="02020603050405020304" pitchFamily="18" charset="0"/>
                <a:cs typeface="Times New Roman" panose="02020603050405020304" pitchFamily="18" charset="0"/>
              </a:rPr>
              <a:t>. 2025 Mar 4;26(2):bbaf114. </a:t>
            </a:r>
            <a:r>
              <a:rPr lang="en-US" altLang="zh-CN" b="0" i="0" dirty="0" err="1">
                <a:solidFill>
                  <a:srgbClr val="1A1C1E"/>
                </a:solidFill>
                <a:effectLst/>
                <a:latin typeface="Times New Roman" panose="02020603050405020304" pitchFamily="18" charset="0"/>
                <a:cs typeface="Times New Roman" panose="02020603050405020304" pitchFamily="18" charset="0"/>
              </a:rPr>
              <a:t>doi</a:t>
            </a:r>
            <a:r>
              <a:rPr lang="en-US" altLang="zh-CN" b="0" i="0" dirty="0">
                <a:solidFill>
                  <a:srgbClr val="1A1C1E"/>
                </a:solidFill>
                <a:effectLst/>
                <a:latin typeface="Times New Roman" panose="02020603050405020304" pitchFamily="18" charset="0"/>
                <a:cs typeface="Times New Roman" panose="02020603050405020304" pitchFamily="18" charset="0"/>
              </a:rPr>
              <a:t>: 10.1093/bib/bbaf114. PMID: 40079266; PMCID: PMC11904407.</a:t>
            </a:r>
          </a:p>
          <a:p>
            <a:pPr algn="l">
              <a:lnSpc>
                <a:spcPts val="1500"/>
              </a:lnSpc>
              <a:spcAft>
                <a:spcPts val="225"/>
              </a:spcAft>
              <a:buNone/>
            </a:pPr>
            <a:endParaRPr lang="zh-CN" altLang="en-US" b="0" i="0" dirty="0">
              <a:solidFill>
                <a:srgbClr val="1A1C1E"/>
              </a:solidFill>
              <a:effectLst/>
              <a:latin typeface="Google Sans Text"/>
            </a:endParaRPr>
          </a:p>
        </p:txBody>
      </p:sp>
      <p:grpSp>
        <p:nvGrpSpPr>
          <p:cNvPr id="16" name="组合 15">
            <a:extLst>
              <a:ext uri="{FF2B5EF4-FFF2-40B4-BE49-F238E27FC236}">
                <a16:creationId xmlns:a16="http://schemas.microsoft.com/office/drawing/2014/main" id="{89FD631A-97B3-4AEA-B962-4CFCA1BC96DE}"/>
              </a:ext>
            </a:extLst>
          </p:cNvPr>
          <p:cNvGrpSpPr/>
          <p:nvPr/>
        </p:nvGrpSpPr>
        <p:grpSpPr>
          <a:xfrm rot="10800000">
            <a:off x="0" y="0"/>
            <a:ext cx="1413169" cy="1257302"/>
            <a:chOff x="4729271" y="2720371"/>
            <a:chExt cx="7462734" cy="4137630"/>
          </a:xfrm>
        </p:grpSpPr>
        <p:sp>
          <p:nvSpPr>
            <p:cNvPr id="17" name="矩形 21">
              <a:extLst>
                <a:ext uri="{FF2B5EF4-FFF2-40B4-BE49-F238E27FC236}">
                  <a16:creationId xmlns:a16="http://schemas.microsoft.com/office/drawing/2014/main" id="{55510071-2D45-9809-79FA-1BD05A5B0B62}"/>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矩形 21">
              <a:extLst>
                <a:ext uri="{FF2B5EF4-FFF2-40B4-BE49-F238E27FC236}">
                  <a16:creationId xmlns:a16="http://schemas.microsoft.com/office/drawing/2014/main" id="{00DE761F-59CA-37BE-D198-B440F3394D35}"/>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a:extLst>
                <a:ext uri="{FF2B5EF4-FFF2-40B4-BE49-F238E27FC236}">
                  <a16:creationId xmlns:a16="http://schemas.microsoft.com/office/drawing/2014/main" id="{D240ED17-B5BA-22D5-83EF-76A4988B4081}"/>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0" name="组合 19">
            <a:extLst>
              <a:ext uri="{FF2B5EF4-FFF2-40B4-BE49-F238E27FC236}">
                <a16:creationId xmlns:a16="http://schemas.microsoft.com/office/drawing/2014/main" id="{1916B9CE-F91D-3FEC-7F06-A47D5D0700AC}"/>
              </a:ext>
            </a:extLst>
          </p:cNvPr>
          <p:cNvGrpSpPr/>
          <p:nvPr/>
        </p:nvGrpSpPr>
        <p:grpSpPr>
          <a:xfrm rot="10800000" flipH="1" flipV="1">
            <a:off x="10778838" y="5600698"/>
            <a:ext cx="1413169" cy="1257302"/>
            <a:chOff x="4729271" y="2720371"/>
            <a:chExt cx="7462734" cy="4137630"/>
          </a:xfrm>
        </p:grpSpPr>
        <p:sp>
          <p:nvSpPr>
            <p:cNvPr id="21" name="矩形 21">
              <a:extLst>
                <a:ext uri="{FF2B5EF4-FFF2-40B4-BE49-F238E27FC236}">
                  <a16:creationId xmlns:a16="http://schemas.microsoft.com/office/drawing/2014/main" id="{1C28FB08-C3B2-B87C-E6A2-A4E3ECBE4C5C}"/>
                </a:ext>
              </a:extLst>
            </p:cNvPr>
            <p:cNvSpPr/>
            <p:nvPr/>
          </p:nvSpPr>
          <p:spPr>
            <a:xfrm>
              <a:off x="4729271" y="3365515"/>
              <a:ext cx="7462734" cy="3492486"/>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a:extLst>
                <a:ext uri="{FF2B5EF4-FFF2-40B4-BE49-F238E27FC236}">
                  <a16:creationId xmlns:a16="http://schemas.microsoft.com/office/drawing/2014/main" id="{2C831EAA-137D-8261-9F78-1159C13E72F0}"/>
                </a:ext>
              </a:extLst>
            </p:cNvPr>
            <p:cNvSpPr/>
            <p:nvPr/>
          </p:nvSpPr>
          <p:spPr>
            <a:xfrm>
              <a:off x="6894261" y="2720371"/>
              <a:ext cx="5297741" cy="4137630"/>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1">
              <a:extLst>
                <a:ext uri="{FF2B5EF4-FFF2-40B4-BE49-F238E27FC236}">
                  <a16:creationId xmlns:a16="http://schemas.microsoft.com/office/drawing/2014/main" id="{99B668C1-BBB8-5234-96D4-9F86337B68CD}"/>
                </a:ext>
              </a:extLst>
            </p:cNvPr>
            <p:cNvSpPr/>
            <p:nvPr/>
          </p:nvSpPr>
          <p:spPr>
            <a:xfrm>
              <a:off x="6235356" y="3867623"/>
              <a:ext cx="5956648" cy="2990378"/>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extLst>
      <p:ext uri="{BB962C8B-B14F-4D97-AF65-F5344CB8AC3E}">
        <p14:creationId xmlns:p14="http://schemas.microsoft.com/office/powerpoint/2010/main" val="423455710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0464800" y="1077368"/>
            <a:ext cx="690880" cy="690880"/>
          </a:xfrm>
          <a:prstGeom prst="ellipse">
            <a:avLst/>
          </a:prstGeom>
          <a:noFill/>
          <a:ln w="31750">
            <a:solidFill>
              <a:srgbClr val="A6C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9323522" y="80428"/>
            <a:ext cx="268536" cy="268536"/>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9456891" y="-132488"/>
            <a:ext cx="447040" cy="44704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0274265" y="943232"/>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圆角 5"/>
          <p:cNvSpPr/>
          <p:nvPr/>
        </p:nvSpPr>
        <p:spPr>
          <a:xfrm>
            <a:off x="1036320" y="1238865"/>
            <a:ext cx="10119360" cy="4644430"/>
          </a:xfrm>
          <a:prstGeom prst="roundRect">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文本框 7"/>
          <p:cNvSpPr txBox="1"/>
          <p:nvPr/>
        </p:nvSpPr>
        <p:spPr>
          <a:xfrm>
            <a:off x="1381760" y="2632632"/>
            <a:ext cx="9428480" cy="1200329"/>
          </a:xfrm>
          <a:prstGeom prst="rect">
            <a:avLst/>
          </a:prstGeom>
          <a:noFill/>
        </p:spPr>
        <p:txBody>
          <a:bodyPr wrap="square" rtlCol="0">
            <a:spAutoFit/>
          </a:bodyPr>
          <a:lstStyle>
            <a:defPPr>
              <a:defRPr lang="zh-CN"/>
            </a:defPPr>
            <a:lvl1pPr algn="ctr">
              <a:defRPr sz="7200" spc="600">
                <a:solidFill>
                  <a:srgbClr val="6B799C"/>
                </a:solidFill>
                <a:latin typeface="汉真广标" pitchFamily="49" charset="-122"/>
                <a:ea typeface="汉真广标" pitchFamily="49" charset="-122"/>
              </a:defRPr>
            </a:lvl1pPr>
          </a:lstStyle>
          <a:p>
            <a:r>
              <a:rPr lang="zh-CN" altLang="en-US" dirty="0">
                <a:latin typeface="+mn-lt"/>
                <a:ea typeface="+mn-ea"/>
                <a:cs typeface="+mn-ea"/>
                <a:sym typeface="+mn-lt"/>
              </a:rPr>
              <a:t>感谢您的观看</a:t>
            </a:r>
          </a:p>
        </p:txBody>
      </p:sp>
      <p:grpSp>
        <p:nvGrpSpPr>
          <p:cNvPr id="13" name="组合 12"/>
          <p:cNvGrpSpPr/>
          <p:nvPr/>
        </p:nvGrpSpPr>
        <p:grpSpPr>
          <a:xfrm>
            <a:off x="4285360" y="4353068"/>
            <a:ext cx="3671565" cy="505060"/>
            <a:chOff x="6290680" y="4460345"/>
            <a:chExt cx="2640344" cy="505060"/>
          </a:xfrm>
        </p:grpSpPr>
        <p:sp>
          <p:nvSpPr>
            <p:cNvPr id="14" name="矩形: 圆角 13"/>
            <p:cNvSpPr/>
            <p:nvPr/>
          </p:nvSpPr>
          <p:spPr>
            <a:xfrm>
              <a:off x="6290680" y="4460345"/>
              <a:ext cx="2640344" cy="505060"/>
            </a:xfrm>
            <a:prstGeom prst="roundRect">
              <a:avLst>
                <a:gd name="adj" fmla="val 50000"/>
              </a:avLst>
            </a:prstGeom>
            <a:solidFill>
              <a:srgbClr val="6B799C"/>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15" name="文本框 14"/>
            <p:cNvSpPr txBox="1"/>
            <p:nvPr/>
          </p:nvSpPr>
          <p:spPr>
            <a:xfrm>
              <a:off x="6410287" y="4512820"/>
              <a:ext cx="2520737" cy="400110"/>
            </a:xfrm>
            <a:prstGeom prst="rect">
              <a:avLst/>
            </a:prstGeom>
            <a:noFill/>
          </p:spPr>
          <p:txBody>
            <a:bodyPr wrap="square" rtlCol="0">
              <a:spAutoFit/>
            </a:bodyPr>
            <a:lstStyle>
              <a:defPPr>
                <a:defRPr lang="zh-CN"/>
              </a:defPPr>
              <a:lvl1pPr algn="ctr">
                <a:defRPr sz="6600" spc="300">
                  <a:solidFill>
                    <a:schemeClr val="tx2">
                      <a:lumMod val="75000"/>
                    </a:schemeClr>
                  </a:solidFill>
                  <a:latin typeface="思源宋体 CN Medium" panose="02020500000000000000" pitchFamily="18" charset="-122"/>
                  <a:ea typeface="思源宋体 CN Medium" panose="02020500000000000000" pitchFamily="18" charset="-122"/>
                </a:defRPr>
              </a:lvl1pPr>
            </a:lstStyle>
            <a:p>
              <a:r>
                <a:rPr lang="zh-CN" altLang="en-US" sz="2000" dirty="0">
                  <a:solidFill>
                    <a:schemeClr val="bg1"/>
                  </a:solidFill>
                  <a:latin typeface="+mn-lt"/>
                  <a:ea typeface="+mn-ea"/>
                  <a:cs typeface="+mn-ea"/>
                  <a:sym typeface="+mn-lt"/>
                </a:rPr>
                <a:t>汇报人：荧光蛋白设计队</a:t>
              </a:r>
            </a:p>
          </p:txBody>
        </p:sp>
      </p:grpSp>
      <p:sp>
        <p:nvSpPr>
          <p:cNvPr id="16" name="矩形 1"/>
          <p:cNvSpPr/>
          <p:nvPr/>
        </p:nvSpPr>
        <p:spPr>
          <a:xfrm>
            <a:off x="0" y="-60959"/>
            <a:ext cx="7826476" cy="5061117"/>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solidFill>
            <a:srgbClr val="A6C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4D973"/>
              </a:solidFill>
              <a:cs typeface="+mn-ea"/>
              <a:sym typeface="+mn-lt"/>
            </a:endParaRPr>
          </a:p>
        </p:txBody>
      </p:sp>
      <p:sp>
        <p:nvSpPr>
          <p:cNvPr id="17" name="矩形 1"/>
          <p:cNvSpPr/>
          <p:nvPr/>
        </p:nvSpPr>
        <p:spPr>
          <a:xfrm>
            <a:off x="-111761" y="-60959"/>
            <a:ext cx="8411553" cy="4124959"/>
          </a:xfrm>
          <a:custGeom>
            <a:avLst/>
            <a:gdLst>
              <a:gd name="connsiteX0" fmla="*/ 0 w 4800600"/>
              <a:gd name="connsiteY0" fmla="*/ 0 h 2712027"/>
              <a:gd name="connsiteX1" fmla="*/ 4800600 w 4800600"/>
              <a:gd name="connsiteY1" fmla="*/ 0 h 2712027"/>
              <a:gd name="connsiteX2" fmla="*/ 4800600 w 4800600"/>
              <a:gd name="connsiteY2" fmla="*/ 2712027 h 2712027"/>
              <a:gd name="connsiteX3" fmla="*/ 0 w 4800600"/>
              <a:gd name="connsiteY3" fmla="*/ 2712027 h 2712027"/>
              <a:gd name="connsiteX4" fmla="*/ 0 w 4800600"/>
              <a:gd name="connsiteY4" fmla="*/ 0 h 2712027"/>
              <a:gd name="connsiteX0-1" fmla="*/ 0 w 4800600"/>
              <a:gd name="connsiteY0-2" fmla="*/ 0 h 2712027"/>
              <a:gd name="connsiteX1-3" fmla="*/ 4800600 w 4800600"/>
              <a:gd name="connsiteY1-4" fmla="*/ 0 h 2712027"/>
              <a:gd name="connsiteX2-5" fmla="*/ 2452254 w 4800600"/>
              <a:gd name="connsiteY2-6" fmla="*/ 696190 h 2712027"/>
              <a:gd name="connsiteX3-7" fmla="*/ 0 w 4800600"/>
              <a:gd name="connsiteY3-8" fmla="*/ 2712027 h 2712027"/>
              <a:gd name="connsiteX4-9" fmla="*/ 0 w 4800600"/>
              <a:gd name="connsiteY4-10" fmla="*/ 0 h 2712027"/>
              <a:gd name="connsiteX0-11" fmla="*/ 0 w 4800600"/>
              <a:gd name="connsiteY0-12" fmla="*/ 0 h 2712027"/>
              <a:gd name="connsiteX1-13" fmla="*/ 4800600 w 4800600"/>
              <a:gd name="connsiteY1-14" fmla="*/ 0 h 2712027"/>
              <a:gd name="connsiteX2-15" fmla="*/ 2452254 w 4800600"/>
              <a:gd name="connsiteY2-16" fmla="*/ 696190 h 2712027"/>
              <a:gd name="connsiteX3-17" fmla="*/ 0 w 4800600"/>
              <a:gd name="connsiteY3-18" fmla="*/ 2712027 h 2712027"/>
              <a:gd name="connsiteX4-19" fmla="*/ 0 w 4800600"/>
              <a:gd name="connsiteY4-20" fmla="*/ 0 h 2712027"/>
              <a:gd name="connsiteX0-21" fmla="*/ 0 w 4800600"/>
              <a:gd name="connsiteY0-22" fmla="*/ 0 h 2712027"/>
              <a:gd name="connsiteX1-23" fmla="*/ 4800600 w 4800600"/>
              <a:gd name="connsiteY1-24" fmla="*/ 0 h 2712027"/>
              <a:gd name="connsiteX2-25" fmla="*/ 2452254 w 4800600"/>
              <a:gd name="connsiteY2-26" fmla="*/ 696190 h 2712027"/>
              <a:gd name="connsiteX3-27" fmla="*/ 0 w 4800600"/>
              <a:gd name="connsiteY3-28" fmla="*/ 2712027 h 2712027"/>
              <a:gd name="connsiteX4-29" fmla="*/ 0 w 4800600"/>
              <a:gd name="connsiteY4-30" fmla="*/ 0 h 2712027"/>
              <a:gd name="connsiteX0-31" fmla="*/ 0 w 4800600"/>
              <a:gd name="connsiteY0-32" fmla="*/ 0 h 2712027"/>
              <a:gd name="connsiteX1-33" fmla="*/ 4800600 w 4800600"/>
              <a:gd name="connsiteY1-34" fmla="*/ 0 h 2712027"/>
              <a:gd name="connsiteX2-35" fmla="*/ 2452254 w 4800600"/>
              <a:gd name="connsiteY2-36" fmla="*/ 696190 h 2712027"/>
              <a:gd name="connsiteX3-37" fmla="*/ 0 w 4800600"/>
              <a:gd name="connsiteY3-38" fmla="*/ 2712027 h 2712027"/>
              <a:gd name="connsiteX4-39" fmla="*/ 0 w 4800600"/>
              <a:gd name="connsiteY4-40" fmla="*/ 0 h 2712027"/>
              <a:gd name="connsiteX0-41" fmla="*/ 0 w 4800600"/>
              <a:gd name="connsiteY0-42" fmla="*/ 0 h 2712027"/>
              <a:gd name="connsiteX1-43" fmla="*/ 4800600 w 4800600"/>
              <a:gd name="connsiteY1-44" fmla="*/ 0 h 2712027"/>
              <a:gd name="connsiteX2-45" fmla="*/ 2452254 w 4800600"/>
              <a:gd name="connsiteY2-46" fmla="*/ 696190 h 2712027"/>
              <a:gd name="connsiteX3-47" fmla="*/ 0 w 4800600"/>
              <a:gd name="connsiteY3-48" fmla="*/ 2712027 h 2712027"/>
              <a:gd name="connsiteX4-49" fmla="*/ 0 w 4800600"/>
              <a:gd name="connsiteY4-50" fmla="*/ 0 h 2712027"/>
              <a:gd name="connsiteX0-51" fmla="*/ 0 w 4800600"/>
              <a:gd name="connsiteY0-52" fmla="*/ 0 h 2712027"/>
              <a:gd name="connsiteX1-53" fmla="*/ 4800600 w 4800600"/>
              <a:gd name="connsiteY1-54" fmla="*/ 0 h 2712027"/>
              <a:gd name="connsiteX2-55" fmla="*/ 2452254 w 4800600"/>
              <a:gd name="connsiteY2-56" fmla="*/ 696190 h 2712027"/>
              <a:gd name="connsiteX3-57" fmla="*/ 0 w 4800600"/>
              <a:gd name="connsiteY3-58" fmla="*/ 2712027 h 2712027"/>
              <a:gd name="connsiteX4-59" fmla="*/ 0 w 4800600"/>
              <a:gd name="connsiteY4-60" fmla="*/ 0 h 2712027"/>
              <a:gd name="connsiteX0-61" fmla="*/ 0 w 4800600"/>
              <a:gd name="connsiteY0-62" fmla="*/ 0 h 2712027"/>
              <a:gd name="connsiteX1-63" fmla="*/ 4800600 w 4800600"/>
              <a:gd name="connsiteY1-64" fmla="*/ 0 h 2712027"/>
              <a:gd name="connsiteX2-65" fmla="*/ 2452254 w 4800600"/>
              <a:gd name="connsiteY2-66" fmla="*/ 696190 h 2712027"/>
              <a:gd name="connsiteX3-67" fmla="*/ 0 w 4800600"/>
              <a:gd name="connsiteY3-68" fmla="*/ 2712027 h 2712027"/>
              <a:gd name="connsiteX4-69" fmla="*/ 0 w 4800600"/>
              <a:gd name="connsiteY4-70" fmla="*/ 0 h 27120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00600" h="2712027">
                <a:moveTo>
                  <a:pt x="0" y="0"/>
                </a:moveTo>
                <a:lnTo>
                  <a:pt x="4800600" y="0"/>
                </a:lnTo>
                <a:cubicBezTo>
                  <a:pt x="3976254" y="595744"/>
                  <a:pt x="3505200" y="942109"/>
                  <a:pt x="2452254" y="696190"/>
                </a:cubicBezTo>
                <a:cubicBezTo>
                  <a:pt x="96981" y="412172"/>
                  <a:pt x="817418" y="2040081"/>
                  <a:pt x="0" y="2712027"/>
                </a:cubicBezTo>
                <a:lnTo>
                  <a:pt x="0" y="0"/>
                </a:lnTo>
                <a:close/>
              </a:path>
            </a:pathLst>
          </a:custGeom>
          <a:noFill/>
          <a:ln w="3810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21"/>
          <p:cNvSpPr/>
          <p:nvPr/>
        </p:nvSpPr>
        <p:spPr>
          <a:xfrm>
            <a:off x="4714867" y="3811696"/>
            <a:ext cx="7477132" cy="3046303"/>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21"/>
          <p:cNvSpPr/>
          <p:nvPr/>
        </p:nvSpPr>
        <p:spPr>
          <a:xfrm>
            <a:off x="7527418" y="2551558"/>
            <a:ext cx="4814550" cy="4445359"/>
          </a:xfrm>
          <a:custGeom>
            <a:avLst/>
            <a:gdLst>
              <a:gd name="connsiteX0" fmla="*/ 0 w 5572991"/>
              <a:gd name="connsiteY0" fmla="*/ 0 h 2888673"/>
              <a:gd name="connsiteX1" fmla="*/ 5572991 w 5572991"/>
              <a:gd name="connsiteY1" fmla="*/ 0 h 2888673"/>
              <a:gd name="connsiteX2" fmla="*/ 5572991 w 5572991"/>
              <a:gd name="connsiteY2" fmla="*/ 2888673 h 2888673"/>
              <a:gd name="connsiteX3" fmla="*/ 0 w 5572991"/>
              <a:gd name="connsiteY3" fmla="*/ 2888673 h 2888673"/>
              <a:gd name="connsiteX4" fmla="*/ 0 w 5572991"/>
              <a:gd name="connsiteY4" fmla="*/ 0 h 2888673"/>
              <a:gd name="connsiteX0-1" fmla="*/ 3262745 w 5572991"/>
              <a:gd name="connsiteY0-2" fmla="*/ 1340428 h 2888673"/>
              <a:gd name="connsiteX1-3" fmla="*/ 5572991 w 5572991"/>
              <a:gd name="connsiteY1-4" fmla="*/ 0 h 2888673"/>
              <a:gd name="connsiteX2-5" fmla="*/ 5572991 w 5572991"/>
              <a:gd name="connsiteY2-6" fmla="*/ 2888673 h 2888673"/>
              <a:gd name="connsiteX3-7" fmla="*/ 0 w 5572991"/>
              <a:gd name="connsiteY3-8" fmla="*/ 2888673 h 2888673"/>
              <a:gd name="connsiteX4-9" fmla="*/ 3262745 w 5572991"/>
              <a:gd name="connsiteY4-10" fmla="*/ 1340428 h 2888673"/>
              <a:gd name="connsiteX0-11" fmla="*/ 3262745 w 5572991"/>
              <a:gd name="connsiteY0-12" fmla="*/ 1340428 h 2888673"/>
              <a:gd name="connsiteX1-13" fmla="*/ 5572991 w 5572991"/>
              <a:gd name="connsiteY1-14" fmla="*/ 0 h 2888673"/>
              <a:gd name="connsiteX2-15" fmla="*/ 5572991 w 5572991"/>
              <a:gd name="connsiteY2-16" fmla="*/ 2888673 h 2888673"/>
              <a:gd name="connsiteX3-17" fmla="*/ 0 w 5572991"/>
              <a:gd name="connsiteY3-18" fmla="*/ 2888673 h 2888673"/>
              <a:gd name="connsiteX4-19" fmla="*/ 3262745 w 5572991"/>
              <a:gd name="connsiteY4-20" fmla="*/ 1340428 h 2888673"/>
              <a:gd name="connsiteX0-21" fmla="*/ 3262745 w 5572991"/>
              <a:gd name="connsiteY0-22" fmla="*/ 1340428 h 2888673"/>
              <a:gd name="connsiteX1-23" fmla="*/ 5572991 w 5572991"/>
              <a:gd name="connsiteY1-24" fmla="*/ 0 h 2888673"/>
              <a:gd name="connsiteX2-25" fmla="*/ 5572991 w 5572991"/>
              <a:gd name="connsiteY2-26" fmla="*/ 2888673 h 2888673"/>
              <a:gd name="connsiteX3-27" fmla="*/ 0 w 5572991"/>
              <a:gd name="connsiteY3-28" fmla="*/ 2888673 h 2888673"/>
              <a:gd name="connsiteX4-29" fmla="*/ 3262745 w 5572991"/>
              <a:gd name="connsiteY4-30" fmla="*/ 1340428 h 2888673"/>
              <a:gd name="connsiteX0-31" fmla="*/ 3262745 w 5572991"/>
              <a:gd name="connsiteY0-32" fmla="*/ 1596594 h 3144839"/>
              <a:gd name="connsiteX1-33" fmla="*/ 5572991 w 5572991"/>
              <a:gd name="connsiteY1-34" fmla="*/ 256166 h 3144839"/>
              <a:gd name="connsiteX2-35" fmla="*/ 5572991 w 5572991"/>
              <a:gd name="connsiteY2-36" fmla="*/ 3144839 h 3144839"/>
              <a:gd name="connsiteX3-37" fmla="*/ 0 w 5572991"/>
              <a:gd name="connsiteY3-38" fmla="*/ 3144839 h 3144839"/>
              <a:gd name="connsiteX4-39" fmla="*/ 3262745 w 5572991"/>
              <a:gd name="connsiteY4-40" fmla="*/ 1596594 h 3144839"/>
              <a:gd name="connsiteX0-41" fmla="*/ 3262745 w 5572991"/>
              <a:gd name="connsiteY0-42" fmla="*/ 1596594 h 3144839"/>
              <a:gd name="connsiteX1-43" fmla="*/ 5572991 w 5572991"/>
              <a:gd name="connsiteY1-44" fmla="*/ 256166 h 3144839"/>
              <a:gd name="connsiteX2-45" fmla="*/ 5572991 w 5572991"/>
              <a:gd name="connsiteY2-46" fmla="*/ 3144839 h 3144839"/>
              <a:gd name="connsiteX3-47" fmla="*/ 0 w 5572991"/>
              <a:gd name="connsiteY3-48" fmla="*/ 3144839 h 3144839"/>
              <a:gd name="connsiteX4-49" fmla="*/ 3262745 w 5572991"/>
              <a:gd name="connsiteY4-50" fmla="*/ 1596594 h 3144839"/>
              <a:gd name="connsiteX0-51" fmla="*/ 3210791 w 5572991"/>
              <a:gd name="connsiteY0-52" fmla="*/ 1571385 h 3150802"/>
              <a:gd name="connsiteX1-53" fmla="*/ 5572991 w 5572991"/>
              <a:gd name="connsiteY1-54" fmla="*/ 262129 h 3150802"/>
              <a:gd name="connsiteX2-55" fmla="*/ 5572991 w 5572991"/>
              <a:gd name="connsiteY2-56" fmla="*/ 3150802 h 3150802"/>
              <a:gd name="connsiteX3-57" fmla="*/ 0 w 5572991"/>
              <a:gd name="connsiteY3-58" fmla="*/ 3150802 h 3150802"/>
              <a:gd name="connsiteX4-59" fmla="*/ 3210791 w 5572991"/>
              <a:gd name="connsiteY4-60" fmla="*/ 1571385 h 3150802"/>
              <a:gd name="connsiteX0-61" fmla="*/ 3210791 w 5572991"/>
              <a:gd name="connsiteY0-62" fmla="*/ 1502194 h 3081611"/>
              <a:gd name="connsiteX1-63" fmla="*/ 5572991 w 5572991"/>
              <a:gd name="connsiteY1-64" fmla="*/ 192938 h 3081611"/>
              <a:gd name="connsiteX2-65" fmla="*/ 5572991 w 5572991"/>
              <a:gd name="connsiteY2-66" fmla="*/ 3081611 h 3081611"/>
              <a:gd name="connsiteX3-67" fmla="*/ 0 w 5572991"/>
              <a:gd name="connsiteY3-68" fmla="*/ 3081611 h 3081611"/>
              <a:gd name="connsiteX4-69" fmla="*/ 3210791 w 5572991"/>
              <a:gd name="connsiteY4-70" fmla="*/ 1502194 h 3081611"/>
              <a:gd name="connsiteX0-71" fmla="*/ 3210791 w 5572991"/>
              <a:gd name="connsiteY0-72" fmla="*/ 1502194 h 3081611"/>
              <a:gd name="connsiteX1-73" fmla="*/ 5572991 w 5572991"/>
              <a:gd name="connsiteY1-74" fmla="*/ 192938 h 3081611"/>
              <a:gd name="connsiteX2-75" fmla="*/ 5572991 w 5572991"/>
              <a:gd name="connsiteY2-76" fmla="*/ 3081611 h 3081611"/>
              <a:gd name="connsiteX3-77" fmla="*/ 0 w 5572991"/>
              <a:gd name="connsiteY3-78" fmla="*/ 3081611 h 3081611"/>
              <a:gd name="connsiteX4-79" fmla="*/ 3210791 w 5572991"/>
              <a:gd name="connsiteY4-80" fmla="*/ 1502194 h 3081611"/>
              <a:gd name="connsiteX0-81" fmla="*/ 3210791 w 5572991"/>
              <a:gd name="connsiteY0-82" fmla="*/ 1502194 h 3081611"/>
              <a:gd name="connsiteX1-83" fmla="*/ 5572991 w 5572991"/>
              <a:gd name="connsiteY1-84" fmla="*/ 192938 h 3081611"/>
              <a:gd name="connsiteX2-85" fmla="*/ 5572991 w 5572991"/>
              <a:gd name="connsiteY2-86" fmla="*/ 3081611 h 3081611"/>
              <a:gd name="connsiteX3-87" fmla="*/ 0 w 5572991"/>
              <a:gd name="connsiteY3-88" fmla="*/ 3081611 h 3081611"/>
              <a:gd name="connsiteX4-89" fmla="*/ 3210791 w 5572991"/>
              <a:gd name="connsiteY4-90" fmla="*/ 1502194 h 3081611"/>
              <a:gd name="connsiteX0-91" fmla="*/ 3210791 w 5572991"/>
              <a:gd name="connsiteY0-92" fmla="*/ 1502194 h 3081611"/>
              <a:gd name="connsiteX1-93" fmla="*/ 5572991 w 5572991"/>
              <a:gd name="connsiteY1-94" fmla="*/ 192938 h 3081611"/>
              <a:gd name="connsiteX2-95" fmla="*/ 5572991 w 5572991"/>
              <a:gd name="connsiteY2-96" fmla="*/ 3081611 h 3081611"/>
              <a:gd name="connsiteX3-97" fmla="*/ 0 w 5572991"/>
              <a:gd name="connsiteY3-98" fmla="*/ 3081611 h 3081611"/>
              <a:gd name="connsiteX4-99" fmla="*/ 3210791 w 5572991"/>
              <a:gd name="connsiteY4-100" fmla="*/ 1502194 h 3081611"/>
              <a:gd name="connsiteX0-101" fmla="*/ 3210791 w 5572991"/>
              <a:gd name="connsiteY0-102" fmla="*/ 1495574 h 3074991"/>
              <a:gd name="connsiteX1-103" fmla="*/ 5572991 w 5572991"/>
              <a:gd name="connsiteY1-104" fmla="*/ 186318 h 3074991"/>
              <a:gd name="connsiteX2-105" fmla="*/ 5572991 w 5572991"/>
              <a:gd name="connsiteY2-106" fmla="*/ 3074991 h 3074991"/>
              <a:gd name="connsiteX3-107" fmla="*/ 0 w 5572991"/>
              <a:gd name="connsiteY3-108" fmla="*/ 3074991 h 3074991"/>
              <a:gd name="connsiteX4-109" fmla="*/ 3210791 w 5572991"/>
              <a:gd name="connsiteY4-110" fmla="*/ 1495574 h 3074991"/>
              <a:gd name="connsiteX0-111" fmla="*/ 3210791 w 5572991"/>
              <a:gd name="connsiteY0-112" fmla="*/ 1495574 h 3074991"/>
              <a:gd name="connsiteX1-113" fmla="*/ 5572991 w 5572991"/>
              <a:gd name="connsiteY1-114" fmla="*/ 186318 h 3074991"/>
              <a:gd name="connsiteX2-115" fmla="*/ 5572991 w 5572991"/>
              <a:gd name="connsiteY2-116" fmla="*/ 3074991 h 3074991"/>
              <a:gd name="connsiteX3-117" fmla="*/ 0 w 5572991"/>
              <a:gd name="connsiteY3-118" fmla="*/ 3074991 h 3074991"/>
              <a:gd name="connsiteX4-119" fmla="*/ 3210791 w 5572991"/>
              <a:gd name="connsiteY4-120" fmla="*/ 1495574 h 3074991"/>
              <a:gd name="connsiteX0-121" fmla="*/ 3246499 w 5608699"/>
              <a:gd name="connsiteY0-122" fmla="*/ 1495574 h 3074991"/>
              <a:gd name="connsiteX1-123" fmla="*/ 5608699 w 5608699"/>
              <a:gd name="connsiteY1-124" fmla="*/ 186318 h 3074991"/>
              <a:gd name="connsiteX2-125" fmla="*/ 5608699 w 5608699"/>
              <a:gd name="connsiteY2-126" fmla="*/ 3074991 h 3074991"/>
              <a:gd name="connsiteX3-127" fmla="*/ 35708 w 5608699"/>
              <a:gd name="connsiteY3-128" fmla="*/ 3074991 h 3074991"/>
              <a:gd name="connsiteX4-129" fmla="*/ 3246499 w 5608699"/>
              <a:gd name="connsiteY4-130" fmla="*/ 1495574 h 3074991"/>
              <a:gd name="connsiteX0-131" fmla="*/ 3010410 w 5611601"/>
              <a:gd name="connsiteY0-132" fmla="*/ 1844639 h 3039593"/>
              <a:gd name="connsiteX1-133" fmla="*/ 5611601 w 5611601"/>
              <a:gd name="connsiteY1-134" fmla="*/ 150920 h 3039593"/>
              <a:gd name="connsiteX2-135" fmla="*/ 5611601 w 5611601"/>
              <a:gd name="connsiteY2-136" fmla="*/ 3039593 h 3039593"/>
              <a:gd name="connsiteX3-137" fmla="*/ 38610 w 5611601"/>
              <a:gd name="connsiteY3-138" fmla="*/ 3039593 h 3039593"/>
              <a:gd name="connsiteX4-139" fmla="*/ 3010410 w 5611601"/>
              <a:gd name="connsiteY4-140" fmla="*/ 1844639 h 3039593"/>
              <a:gd name="connsiteX0-141" fmla="*/ 3010410 w 5611601"/>
              <a:gd name="connsiteY0-142" fmla="*/ 1854729 h 3049683"/>
              <a:gd name="connsiteX1-143" fmla="*/ 5611601 w 5611601"/>
              <a:gd name="connsiteY1-144" fmla="*/ 161010 h 3049683"/>
              <a:gd name="connsiteX2-145" fmla="*/ 5611601 w 5611601"/>
              <a:gd name="connsiteY2-146" fmla="*/ 3049683 h 3049683"/>
              <a:gd name="connsiteX3-147" fmla="*/ 38610 w 5611601"/>
              <a:gd name="connsiteY3-148" fmla="*/ 3049683 h 3049683"/>
              <a:gd name="connsiteX4-149" fmla="*/ 3010410 w 5611601"/>
              <a:gd name="connsiteY4-150" fmla="*/ 1854729 h 3049683"/>
              <a:gd name="connsiteX0-151" fmla="*/ 3010410 w 5611601"/>
              <a:gd name="connsiteY0-152" fmla="*/ 1854729 h 3049683"/>
              <a:gd name="connsiteX1-153" fmla="*/ 5611601 w 5611601"/>
              <a:gd name="connsiteY1-154" fmla="*/ 161010 h 3049683"/>
              <a:gd name="connsiteX2-155" fmla="*/ 5611601 w 5611601"/>
              <a:gd name="connsiteY2-156" fmla="*/ 3049683 h 3049683"/>
              <a:gd name="connsiteX3-157" fmla="*/ 38610 w 5611601"/>
              <a:gd name="connsiteY3-158" fmla="*/ 3049683 h 3049683"/>
              <a:gd name="connsiteX4-159" fmla="*/ 3010410 w 5611601"/>
              <a:gd name="connsiteY4-160" fmla="*/ 1854729 h 3049683"/>
              <a:gd name="connsiteX0-161" fmla="*/ 3010410 w 5611601"/>
              <a:gd name="connsiteY0-162" fmla="*/ 1693719 h 2888673"/>
              <a:gd name="connsiteX1-163" fmla="*/ 5611601 w 5611601"/>
              <a:gd name="connsiteY1-164" fmla="*/ 0 h 2888673"/>
              <a:gd name="connsiteX2-165" fmla="*/ 5611601 w 5611601"/>
              <a:gd name="connsiteY2-166" fmla="*/ 2888673 h 2888673"/>
              <a:gd name="connsiteX3-167" fmla="*/ 38610 w 5611601"/>
              <a:gd name="connsiteY3-168" fmla="*/ 2888673 h 2888673"/>
              <a:gd name="connsiteX4-169" fmla="*/ 3010410 w 5611601"/>
              <a:gd name="connsiteY4-170" fmla="*/ 1693719 h 2888673"/>
              <a:gd name="connsiteX0-171" fmla="*/ 3010410 w 5611601"/>
              <a:gd name="connsiteY0-172" fmla="*/ 1693719 h 2888673"/>
              <a:gd name="connsiteX1-173" fmla="*/ 5611601 w 5611601"/>
              <a:gd name="connsiteY1-174" fmla="*/ 0 h 2888673"/>
              <a:gd name="connsiteX2-175" fmla="*/ 5611601 w 5611601"/>
              <a:gd name="connsiteY2-176" fmla="*/ 2888673 h 2888673"/>
              <a:gd name="connsiteX3-177" fmla="*/ 38610 w 5611601"/>
              <a:gd name="connsiteY3-178" fmla="*/ 2888673 h 2888673"/>
              <a:gd name="connsiteX4-179" fmla="*/ 3010410 w 5611601"/>
              <a:gd name="connsiteY4-180" fmla="*/ 1693719 h 2888673"/>
              <a:gd name="connsiteX0-181" fmla="*/ 2971800 w 5572991"/>
              <a:gd name="connsiteY0-182" fmla="*/ 1693719 h 2888673"/>
              <a:gd name="connsiteX1-183" fmla="*/ 5572991 w 5572991"/>
              <a:gd name="connsiteY1-184" fmla="*/ 0 h 2888673"/>
              <a:gd name="connsiteX2-185" fmla="*/ 5572991 w 5572991"/>
              <a:gd name="connsiteY2-186" fmla="*/ 2888673 h 2888673"/>
              <a:gd name="connsiteX3-187" fmla="*/ 0 w 5572991"/>
              <a:gd name="connsiteY3-188" fmla="*/ 2888673 h 2888673"/>
              <a:gd name="connsiteX4-189" fmla="*/ 2971800 w 5572991"/>
              <a:gd name="connsiteY4-190" fmla="*/ 1693719 h 28886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572991" h="2888673">
                <a:moveTo>
                  <a:pt x="2971800" y="1693719"/>
                </a:moveTo>
                <a:cubicBezTo>
                  <a:pt x="3554845" y="696192"/>
                  <a:pt x="5374409" y="1215736"/>
                  <a:pt x="5572991" y="0"/>
                </a:cubicBezTo>
                <a:lnTo>
                  <a:pt x="5572991" y="2888673"/>
                </a:lnTo>
                <a:lnTo>
                  <a:pt x="0" y="2888673"/>
                </a:lnTo>
                <a:cubicBezTo>
                  <a:pt x="17319" y="2341418"/>
                  <a:pt x="2258293" y="2739738"/>
                  <a:pt x="2971800" y="1693719"/>
                </a:cubicBezTo>
                <a:close/>
              </a:path>
            </a:pathLst>
          </a:cu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椭圆 19"/>
          <p:cNvSpPr/>
          <p:nvPr/>
        </p:nvSpPr>
        <p:spPr>
          <a:xfrm>
            <a:off x="797030" y="1893210"/>
            <a:ext cx="690880" cy="690880"/>
          </a:xfrm>
          <a:prstGeom prst="ellipse">
            <a:avLst/>
          </a:prstGeom>
          <a:solidFill>
            <a:srgbClr val="6B7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8266411" y="6130238"/>
            <a:ext cx="535975" cy="535975"/>
          </a:xfrm>
          <a:prstGeom prst="ellipse">
            <a:avLst/>
          </a:prstGeom>
          <a:solidFill>
            <a:srgbClr val="E9C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nvSpPr>
        <p:spPr>
          <a:xfrm>
            <a:off x="1742755" y="6431280"/>
            <a:ext cx="690880" cy="690880"/>
          </a:xfrm>
          <a:prstGeom prst="ellipse">
            <a:avLst/>
          </a:prstGeom>
          <a:solidFill>
            <a:srgbClr val="9B8E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401892" y="4826000"/>
            <a:ext cx="690880" cy="690880"/>
          </a:xfrm>
          <a:prstGeom prst="ellipse">
            <a:avLst/>
          </a:prstGeom>
          <a:noFill/>
          <a:ln w="31750">
            <a:solidFill>
              <a:srgbClr val="E9C5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7" name="直接连接符 6"/>
          <p:cNvCxnSpPr/>
          <p:nvPr/>
        </p:nvCxnSpPr>
        <p:spPr>
          <a:xfrm>
            <a:off x="3144520" y="3811696"/>
            <a:ext cx="5902960" cy="0"/>
          </a:xfrm>
          <a:prstGeom prst="line">
            <a:avLst/>
          </a:prstGeom>
          <a:ln w="19050">
            <a:solidFill>
              <a:srgbClr val="F4D973"/>
            </a:solidFill>
            <a:prstDash val="sysDash"/>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BCE3A64-A3D3-9AC5-833A-7713F3EDC1B4}"/>
              </a:ext>
            </a:extLst>
          </p:cNvPr>
          <p:cNvSpPr txBox="1"/>
          <p:nvPr/>
        </p:nvSpPr>
        <p:spPr>
          <a:xfrm>
            <a:off x="159040" y="5416997"/>
            <a:ext cx="3780202" cy="1579920"/>
          </a:xfrm>
          <a:prstGeom prst="rect">
            <a:avLst/>
          </a:prstGeom>
          <a:noFill/>
        </p:spPr>
        <p:txBody>
          <a:bodyPr wrap="none" rtlCol="0">
            <a:spAutoFit/>
          </a:bodyPr>
          <a:lstStyle/>
          <a:p>
            <a:pPr algn="l">
              <a:spcAft>
                <a:spcPts val="225"/>
              </a:spcAft>
              <a:buNone/>
            </a:pPr>
            <a:r>
              <a:rPr lang="zh-CN" altLang="en-US" b="1" i="0" dirty="0">
                <a:solidFill>
                  <a:srgbClr val="1A1C1E"/>
                </a:solidFill>
                <a:effectLst/>
                <a:latin typeface="Google Sans Text"/>
              </a:rPr>
              <a:t>致谢</a:t>
            </a:r>
            <a:endParaRPr lang="zh-CN" altLang="en-US" b="0" i="0" dirty="0">
              <a:solidFill>
                <a:srgbClr val="1A1C1E"/>
              </a:solidFill>
              <a:effectLst/>
              <a:latin typeface="Google Sans Text"/>
            </a:endParaRPr>
          </a:p>
          <a:p>
            <a:pPr algn="l">
              <a:spcAft>
                <a:spcPts val="225"/>
              </a:spcAft>
              <a:buFont typeface="Arial" panose="020B0604020202020204" pitchFamily="34" charset="0"/>
              <a:buChar char="•"/>
            </a:pPr>
            <a:r>
              <a:rPr lang="zh-CN" altLang="en-US" b="0" i="0" dirty="0">
                <a:solidFill>
                  <a:srgbClr val="1A1C1E"/>
                </a:solidFill>
                <a:effectLst/>
                <a:latin typeface="Google Sans Text"/>
              </a:rPr>
              <a:t> 感谢比赛主办方提供平台支持。</a:t>
            </a:r>
          </a:p>
          <a:p>
            <a:pPr algn="l">
              <a:spcAft>
                <a:spcPts val="225"/>
              </a:spcAft>
              <a:buFont typeface="Arial" panose="020B0604020202020204" pitchFamily="34" charset="0"/>
              <a:buChar char="•"/>
            </a:pPr>
            <a:r>
              <a:rPr lang="zh-CN" altLang="en-US" b="0" i="0" dirty="0">
                <a:solidFill>
                  <a:srgbClr val="1A1C1E"/>
                </a:solidFill>
                <a:effectLst/>
                <a:latin typeface="Google Sans Text"/>
              </a:rPr>
              <a:t> 感谢指导老师、团队成员。</a:t>
            </a:r>
          </a:p>
          <a:p>
            <a:pPr algn="l">
              <a:spcAft>
                <a:spcPts val="225"/>
              </a:spcAft>
              <a:buFont typeface="Arial" panose="020B0604020202020204" pitchFamily="34" charset="0"/>
              <a:buChar char="•"/>
            </a:pPr>
            <a:r>
              <a:rPr lang="zh-CN" altLang="en-US" b="0" i="0" dirty="0">
                <a:solidFill>
                  <a:srgbClr val="1A1C1E"/>
                </a:solidFill>
                <a:effectLst/>
                <a:latin typeface="Google Sans Text"/>
              </a:rPr>
              <a:t> 感谢所有为本项目提供帮助的人。</a:t>
            </a:r>
          </a:p>
          <a:p>
            <a:endParaRPr lang="zh-CN" altLang="en-US" dirty="0"/>
          </a:p>
        </p:txBody>
      </p:sp>
    </p:spTree>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H" val="20170507080453"/>
  <p:tag name="MH_LIBRARY" val="GRAPHIC"/>
  <p:tag name="MH_TYPE" val="Other"/>
  <p:tag name="MH_ORDER" val="16"/>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qqw4jxzq">
      <a:majorFont>
        <a:latin typeface="字魂58号-创中黑"/>
        <a:ea typeface="字魂58号-创中黑"/>
        <a:cs typeface=""/>
      </a:majorFont>
      <a:minorFont>
        <a:latin typeface="字魂58号-创中黑"/>
        <a:ea typeface="字魂58号-创中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qqw4jxzq">
      <a:majorFont>
        <a:latin typeface="字魂58号-创中黑"/>
        <a:ea typeface="字魂58号-创中黑"/>
        <a:cs typeface=""/>
      </a:majorFont>
      <a:minorFont>
        <a:latin typeface="字魂58号-创中黑"/>
        <a:ea typeface="字魂58号-创中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2400</TotalTime>
  <Words>2513</Words>
  <Application>Microsoft Office PowerPoint</Application>
  <PresentationFormat>宽屏</PresentationFormat>
  <Paragraphs>153</Paragraphs>
  <Slides>21</Slides>
  <Notes>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Google Sans Text</vt:lpstr>
      <vt:lpstr>Helvetica Neue</vt:lpstr>
      <vt:lpstr>宋体</vt:lpstr>
      <vt:lpstr>微软雅黑</vt:lpstr>
      <vt:lpstr>字魂58号-创中黑</vt:lpstr>
      <vt:lpstr>Arial</vt:lpstr>
      <vt:lpstr>Calibri</vt:lpstr>
      <vt:lpstr>Times New Roman</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cp:keywords/>
  <dc:description/>
  <cp:lastModifiedBy>纪宇 赵</cp:lastModifiedBy>
  <cp:revision>44</cp:revision>
  <dcterms:created xsi:type="dcterms:W3CDTF">2022-07-14T01:32:00Z</dcterms:created>
  <dcterms:modified xsi:type="dcterms:W3CDTF">2025-05-23T08:18:39Z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BA800FA83A464F0B99091B4BCC4A35CD_12</vt:lpwstr>
  </property>
  <property fmtid="{D5CDD505-2E9C-101B-9397-08002B2CF9AE}" pid="3" name="KSOProductBuildVer">
    <vt:lpwstr>2052-11.1.0.14309</vt:lpwstr>
  </property>
</Properties>
</file>